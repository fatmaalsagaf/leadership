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9.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1.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2.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3.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4.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5.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7.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8.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9.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 id="2147483732" r:id="rId2"/>
    <p:sldMasterId id="2147483736" r:id="rId3"/>
  </p:sldMasterIdLst>
  <p:notesMasterIdLst>
    <p:notesMasterId r:id="rId33"/>
  </p:notesMasterIdLst>
  <p:handoutMasterIdLst>
    <p:handoutMasterId r:id="rId34"/>
  </p:handoutMasterIdLst>
  <p:sldIdLst>
    <p:sldId id="8707" r:id="rId4"/>
    <p:sldId id="8751" r:id="rId5"/>
    <p:sldId id="8750" r:id="rId6"/>
    <p:sldId id="8704" r:id="rId7"/>
    <p:sldId id="8709" r:id="rId8"/>
    <p:sldId id="8729" r:id="rId9"/>
    <p:sldId id="8697" r:id="rId10"/>
    <p:sldId id="8711" r:id="rId11"/>
    <p:sldId id="8752" r:id="rId12"/>
    <p:sldId id="8700" r:id="rId13"/>
    <p:sldId id="8712" r:id="rId14"/>
    <p:sldId id="8705" r:id="rId15"/>
    <p:sldId id="8706" r:id="rId16"/>
    <p:sldId id="8715" r:id="rId17"/>
    <p:sldId id="8716" r:id="rId18"/>
    <p:sldId id="8717" r:id="rId19"/>
    <p:sldId id="8718" r:id="rId20"/>
    <p:sldId id="8719" r:id="rId21"/>
    <p:sldId id="8696" r:id="rId22"/>
    <p:sldId id="8703" r:id="rId23"/>
    <p:sldId id="8720" r:id="rId24"/>
    <p:sldId id="8721" r:id="rId25"/>
    <p:sldId id="8722" r:id="rId26"/>
    <p:sldId id="8730" r:id="rId27"/>
    <p:sldId id="8723" r:id="rId28"/>
    <p:sldId id="8725" r:id="rId29"/>
    <p:sldId id="8724" r:id="rId30"/>
    <p:sldId id="8727" r:id="rId31"/>
    <p:sldId id="8728" r:id="rId3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6" userDrawn="1">
          <p15:clr>
            <a:srgbClr val="A4A3A4"/>
          </p15:clr>
        </p15:guide>
        <p15:guide id="2" pos="240" userDrawn="1">
          <p15:clr>
            <a:srgbClr val="A4A3A4"/>
          </p15:clr>
        </p15:guide>
        <p15:guide id="3" orient="horz" pos="4176" userDrawn="1">
          <p15:clr>
            <a:srgbClr val="A4A3A4"/>
          </p15:clr>
        </p15:guide>
        <p15:guide id="4" pos="5712" userDrawn="1">
          <p15:clr>
            <a:srgbClr val="A4A3A4"/>
          </p15:clr>
        </p15:guide>
        <p15:guide id="5" orient="horz" pos="2880"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 Cannavan" initials="JC" lastIdx="1" clrIdx="0">
    <p:extLst>
      <p:ext uri="{19B8F6BF-5375-455C-9EA6-DF929625EA0E}">
        <p15:presenceInfo xmlns:p15="http://schemas.microsoft.com/office/powerpoint/2012/main" userId="S::Jane.Cannavan@alfuttaim.com::fc9b95a7-4677-4dde-8b43-644ac41d4eae" providerId="AD"/>
      </p:ext>
    </p:extLst>
  </p:cmAuthor>
  <p:cmAuthor id="2" name="Gabriella Planojevic" initials="GP" lastIdx="14" clrIdx="1">
    <p:extLst>
      <p:ext uri="{19B8F6BF-5375-455C-9EA6-DF929625EA0E}">
        <p15:presenceInfo xmlns:p15="http://schemas.microsoft.com/office/powerpoint/2012/main" userId="S::Gabriella.Planojevic@alfuttaim.com::7798e6ba-5c0e-44fb-a4cd-0f2edfa3949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6D41"/>
    <a:srgbClr val="4472C4"/>
    <a:srgbClr val="1EBBF0"/>
    <a:srgbClr val="F5FAFD"/>
    <a:srgbClr val="F1F8FC"/>
    <a:srgbClr val="3B6DAB"/>
    <a:srgbClr val="00A350"/>
    <a:srgbClr val="F83E3F"/>
    <a:srgbClr val="009AD0"/>
    <a:srgbClr val="FFBC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42" autoAdjust="0"/>
    <p:restoredTop sz="96201" autoAdjust="0"/>
  </p:normalViewPr>
  <p:slideViewPr>
    <p:cSldViewPr>
      <p:cViewPr varScale="1">
        <p:scale>
          <a:sx n="86" d="100"/>
          <a:sy n="86" d="100"/>
        </p:scale>
        <p:origin x="1546" y="48"/>
      </p:cViewPr>
      <p:guideLst>
        <p:guide orient="horz" pos="576"/>
        <p:guide pos="240"/>
        <p:guide orient="horz" pos="4176"/>
        <p:guide pos="5712"/>
        <p:guide orient="horz" pos="2880"/>
      </p:guideLst>
    </p:cSldViewPr>
  </p:slideViewPr>
  <p:notesTextViewPr>
    <p:cViewPr>
      <p:scale>
        <a:sx n="3" d="2"/>
        <a:sy n="3" d="2"/>
      </p:scale>
      <p:origin x="0" y="0"/>
    </p:cViewPr>
  </p:notesTextViewPr>
  <p:sorterViewPr>
    <p:cViewPr varScale="1">
      <p:scale>
        <a:sx n="100" d="100"/>
        <a:sy n="100" d="100"/>
      </p:scale>
      <p:origin x="0" y="-4960"/>
    </p:cViewPr>
  </p:sorterViewPr>
  <p:notesViewPr>
    <p:cSldViewPr showGuides="1">
      <p:cViewPr varScale="1">
        <p:scale>
          <a:sx n="67" d="100"/>
          <a:sy n="67" d="100"/>
        </p:scale>
        <p:origin x="-2784"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commentAuthors" Target="commentAuthors.xml"/><Relationship Id="rId8" Type="http://schemas.openxmlformats.org/officeDocument/2006/relationships/slide" Target="slides/slide5.xml"/><Relationship Id="rId3" Type="http://schemas.openxmlformats.org/officeDocument/2006/relationships/slideMaster" Target="slideMasters/slideMaster3.xml"/></Relationships>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F8EDDA-F563-4A6F-BDDD-1772614B941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92849003-022F-400A-889E-7B4CE092FBFA}">
      <dgm:prSet phldrT="[Text]" custT="1"/>
      <dgm:spPr/>
      <dgm:t>
        <a:bodyPr/>
        <a:lstStyle/>
        <a:p>
          <a:r>
            <a:rPr lang="en-US" sz="1200" dirty="0"/>
            <a:t>Journey 1 </a:t>
          </a:r>
          <a:r>
            <a:rPr lang="en-US" sz="1200" b="1" dirty="0">
              <a:solidFill>
                <a:srgbClr val="FFFF00"/>
              </a:solidFill>
            </a:rPr>
            <a:t>G/H</a:t>
          </a:r>
        </a:p>
      </dgm:t>
    </dgm:pt>
    <dgm:pt modelId="{47C36C84-D5C5-4A71-B604-77A88DDBA594}" type="parTrans" cxnId="{0A1521C1-DA33-4302-B668-504A31CA306E}">
      <dgm:prSet/>
      <dgm:spPr/>
      <dgm:t>
        <a:bodyPr/>
        <a:lstStyle/>
        <a:p>
          <a:endParaRPr lang="en-US" sz="1100"/>
        </a:p>
      </dgm:t>
    </dgm:pt>
    <dgm:pt modelId="{259CC6AE-3667-4412-806D-B543DB0E03E8}" type="sibTrans" cxnId="{0A1521C1-DA33-4302-B668-504A31CA306E}">
      <dgm:prSet/>
      <dgm:spPr/>
      <dgm:t>
        <a:bodyPr/>
        <a:lstStyle/>
        <a:p>
          <a:endParaRPr lang="en-US" sz="1100"/>
        </a:p>
      </dgm:t>
    </dgm:pt>
    <dgm:pt modelId="{302A42FC-5F75-4896-A763-5106B8327A44}">
      <dgm:prSet phldrT="[Text]" custT="1"/>
      <dgm:spPr/>
      <dgm:t>
        <a:bodyPr/>
        <a:lstStyle/>
        <a:p>
          <a:r>
            <a:rPr lang="en-US" sz="1200" dirty="0"/>
            <a:t>Journey 2 </a:t>
          </a:r>
          <a:r>
            <a:rPr lang="en-US" sz="1200" b="1" dirty="0">
              <a:solidFill>
                <a:srgbClr val="FFFF00"/>
              </a:solidFill>
            </a:rPr>
            <a:t>I/J</a:t>
          </a:r>
        </a:p>
      </dgm:t>
    </dgm:pt>
    <dgm:pt modelId="{63D807E1-4398-40AC-9905-F969443C4688}" type="parTrans" cxnId="{E7E0CC22-A43C-4431-BA17-0393608FB0D5}">
      <dgm:prSet/>
      <dgm:spPr/>
      <dgm:t>
        <a:bodyPr/>
        <a:lstStyle/>
        <a:p>
          <a:endParaRPr lang="en-US" sz="1100"/>
        </a:p>
      </dgm:t>
    </dgm:pt>
    <dgm:pt modelId="{0BE67590-F370-4DBD-8755-BA14A08EDE00}" type="sibTrans" cxnId="{E7E0CC22-A43C-4431-BA17-0393608FB0D5}">
      <dgm:prSet/>
      <dgm:spPr/>
      <dgm:t>
        <a:bodyPr/>
        <a:lstStyle/>
        <a:p>
          <a:endParaRPr lang="en-US" sz="1100"/>
        </a:p>
      </dgm:t>
    </dgm:pt>
    <dgm:pt modelId="{FBE23ABB-B93A-4D77-9643-FE96B33C40F5}">
      <dgm:prSet phldrT="[Text]" custT="1"/>
      <dgm:spPr/>
      <dgm:t>
        <a:bodyPr/>
        <a:lstStyle/>
        <a:p>
          <a:r>
            <a:rPr lang="en-US" sz="1200" dirty="0"/>
            <a:t>Journey 3 </a:t>
          </a:r>
          <a:r>
            <a:rPr lang="en-US" sz="1200" b="1" dirty="0">
              <a:solidFill>
                <a:srgbClr val="FFFF00"/>
              </a:solidFill>
            </a:rPr>
            <a:t>K/L</a:t>
          </a:r>
        </a:p>
      </dgm:t>
    </dgm:pt>
    <dgm:pt modelId="{8098A007-1F48-41B3-8905-251B3889435F}" type="parTrans" cxnId="{4B1BB0C8-EB74-4624-94EC-E8E904390E0C}">
      <dgm:prSet/>
      <dgm:spPr/>
      <dgm:t>
        <a:bodyPr/>
        <a:lstStyle/>
        <a:p>
          <a:endParaRPr lang="en-US" sz="1100"/>
        </a:p>
      </dgm:t>
    </dgm:pt>
    <dgm:pt modelId="{70E3F5CE-7558-4E53-83DE-287C5C8021DA}" type="sibTrans" cxnId="{4B1BB0C8-EB74-4624-94EC-E8E904390E0C}">
      <dgm:prSet/>
      <dgm:spPr/>
      <dgm:t>
        <a:bodyPr/>
        <a:lstStyle/>
        <a:p>
          <a:endParaRPr lang="en-US" sz="1100"/>
        </a:p>
      </dgm:t>
    </dgm:pt>
    <dgm:pt modelId="{3E3356D8-1DF6-46F6-8630-2965564AC8C8}" type="pres">
      <dgm:prSet presAssocID="{BAF8EDDA-F563-4A6F-BDDD-1772614B941C}" presName="linear" presStyleCnt="0">
        <dgm:presLayoutVars>
          <dgm:dir/>
          <dgm:animLvl val="lvl"/>
          <dgm:resizeHandles val="exact"/>
        </dgm:presLayoutVars>
      </dgm:prSet>
      <dgm:spPr/>
    </dgm:pt>
    <dgm:pt modelId="{9EECEBA9-A020-4F37-B947-D03F7939708D}" type="pres">
      <dgm:prSet presAssocID="{92849003-022F-400A-889E-7B4CE092FBFA}" presName="parentLin" presStyleCnt="0"/>
      <dgm:spPr/>
    </dgm:pt>
    <dgm:pt modelId="{15B04751-DD59-4C64-872A-FFA913FF4D07}" type="pres">
      <dgm:prSet presAssocID="{92849003-022F-400A-889E-7B4CE092FBFA}" presName="parentLeftMargin" presStyleLbl="node1" presStyleIdx="0" presStyleCnt="3"/>
      <dgm:spPr/>
    </dgm:pt>
    <dgm:pt modelId="{A1A7DAF9-A7EB-4E3D-8BF4-E984EC1CED53}" type="pres">
      <dgm:prSet presAssocID="{92849003-022F-400A-889E-7B4CE092FBFA}" presName="parentText" presStyleLbl="node1" presStyleIdx="0" presStyleCnt="3" custScaleY="59144">
        <dgm:presLayoutVars>
          <dgm:chMax val="0"/>
          <dgm:bulletEnabled val="1"/>
        </dgm:presLayoutVars>
      </dgm:prSet>
      <dgm:spPr/>
    </dgm:pt>
    <dgm:pt modelId="{327B67DE-FB6A-4896-9ED8-98D397B341F1}" type="pres">
      <dgm:prSet presAssocID="{92849003-022F-400A-889E-7B4CE092FBFA}" presName="negativeSpace" presStyleCnt="0"/>
      <dgm:spPr/>
    </dgm:pt>
    <dgm:pt modelId="{BDC80B8B-040E-4270-8743-5C0D213101A5}" type="pres">
      <dgm:prSet presAssocID="{92849003-022F-400A-889E-7B4CE092FBFA}" presName="childText" presStyleLbl="conFgAcc1" presStyleIdx="0" presStyleCnt="3">
        <dgm:presLayoutVars>
          <dgm:bulletEnabled val="1"/>
        </dgm:presLayoutVars>
      </dgm:prSet>
      <dgm:spPr/>
    </dgm:pt>
    <dgm:pt modelId="{7AE1CB82-8587-4215-B63F-59F20AA8E820}" type="pres">
      <dgm:prSet presAssocID="{259CC6AE-3667-4412-806D-B543DB0E03E8}" presName="spaceBetweenRectangles" presStyleCnt="0"/>
      <dgm:spPr/>
    </dgm:pt>
    <dgm:pt modelId="{E88F7B62-403D-4697-9DD1-AE1021A6F7DC}" type="pres">
      <dgm:prSet presAssocID="{302A42FC-5F75-4896-A763-5106B8327A44}" presName="parentLin" presStyleCnt="0"/>
      <dgm:spPr/>
    </dgm:pt>
    <dgm:pt modelId="{9D6F0AA8-6115-40D9-8CB1-BBBEECD66306}" type="pres">
      <dgm:prSet presAssocID="{302A42FC-5F75-4896-A763-5106B8327A44}" presName="parentLeftMargin" presStyleLbl="node1" presStyleIdx="0" presStyleCnt="3"/>
      <dgm:spPr/>
    </dgm:pt>
    <dgm:pt modelId="{0EF25EB0-E25F-4913-8D83-6C9150A3CABF}" type="pres">
      <dgm:prSet presAssocID="{302A42FC-5F75-4896-A763-5106B8327A44}" presName="parentText" presStyleLbl="node1" presStyleIdx="1" presStyleCnt="3" custScaleY="59144">
        <dgm:presLayoutVars>
          <dgm:chMax val="0"/>
          <dgm:bulletEnabled val="1"/>
        </dgm:presLayoutVars>
      </dgm:prSet>
      <dgm:spPr/>
    </dgm:pt>
    <dgm:pt modelId="{CB174D44-C519-4874-BDC5-B7899428CA10}" type="pres">
      <dgm:prSet presAssocID="{302A42FC-5F75-4896-A763-5106B8327A44}" presName="negativeSpace" presStyleCnt="0"/>
      <dgm:spPr/>
    </dgm:pt>
    <dgm:pt modelId="{72A25556-5D6D-4FF4-85C7-8F024DA08196}" type="pres">
      <dgm:prSet presAssocID="{302A42FC-5F75-4896-A763-5106B8327A44}" presName="childText" presStyleLbl="conFgAcc1" presStyleIdx="1" presStyleCnt="3">
        <dgm:presLayoutVars>
          <dgm:bulletEnabled val="1"/>
        </dgm:presLayoutVars>
      </dgm:prSet>
      <dgm:spPr/>
    </dgm:pt>
    <dgm:pt modelId="{F8CDF1A2-502E-4523-AE98-C116ABD3C09D}" type="pres">
      <dgm:prSet presAssocID="{0BE67590-F370-4DBD-8755-BA14A08EDE00}" presName="spaceBetweenRectangles" presStyleCnt="0"/>
      <dgm:spPr/>
    </dgm:pt>
    <dgm:pt modelId="{F4274A08-6EBA-4478-8421-9E1DF02B88C4}" type="pres">
      <dgm:prSet presAssocID="{FBE23ABB-B93A-4D77-9643-FE96B33C40F5}" presName="parentLin" presStyleCnt="0"/>
      <dgm:spPr/>
    </dgm:pt>
    <dgm:pt modelId="{1292439F-6D43-47F7-8DB8-9D25495D610D}" type="pres">
      <dgm:prSet presAssocID="{FBE23ABB-B93A-4D77-9643-FE96B33C40F5}" presName="parentLeftMargin" presStyleLbl="node1" presStyleIdx="1" presStyleCnt="3"/>
      <dgm:spPr/>
    </dgm:pt>
    <dgm:pt modelId="{68E69A04-3EF3-403E-BB4D-9621FCBB8934}" type="pres">
      <dgm:prSet presAssocID="{FBE23ABB-B93A-4D77-9643-FE96B33C40F5}" presName="parentText" presStyleLbl="node1" presStyleIdx="2" presStyleCnt="3" custScaleY="59144">
        <dgm:presLayoutVars>
          <dgm:chMax val="0"/>
          <dgm:bulletEnabled val="1"/>
        </dgm:presLayoutVars>
      </dgm:prSet>
      <dgm:spPr/>
    </dgm:pt>
    <dgm:pt modelId="{1C853D2A-575F-4A43-AA6C-ECD7CF996076}" type="pres">
      <dgm:prSet presAssocID="{FBE23ABB-B93A-4D77-9643-FE96B33C40F5}" presName="negativeSpace" presStyleCnt="0"/>
      <dgm:spPr/>
    </dgm:pt>
    <dgm:pt modelId="{A305C489-B24A-4489-87AD-E79EA4B1066F}" type="pres">
      <dgm:prSet presAssocID="{FBE23ABB-B93A-4D77-9643-FE96B33C40F5}" presName="childText" presStyleLbl="conFgAcc1" presStyleIdx="2" presStyleCnt="3">
        <dgm:presLayoutVars>
          <dgm:bulletEnabled val="1"/>
        </dgm:presLayoutVars>
      </dgm:prSet>
      <dgm:spPr/>
    </dgm:pt>
  </dgm:ptLst>
  <dgm:cxnLst>
    <dgm:cxn modelId="{DF030A03-05D9-48A5-93FA-D6CB8FA4A774}" type="presOf" srcId="{302A42FC-5F75-4896-A763-5106B8327A44}" destId="{0EF25EB0-E25F-4913-8D83-6C9150A3CABF}" srcOrd="1" destOrd="0" presId="urn:microsoft.com/office/officeart/2005/8/layout/list1"/>
    <dgm:cxn modelId="{E7E0CC22-A43C-4431-BA17-0393608FB0D5}" srcId="{BAF8EDDA-F563-4A6F-BDDD-1772614B941C}" destId="{302A42FC-5F75-4896-A763-5106B8327A44}" srcOrd="1" destOrd="0" parTransId="{63D807E1-4398-40AC-9905-F969443C4688}" sibTransId="{0BE67590-F370-4DBD-8755-BA14A08EDE00}"/>
    <dgm:cxn modelId="{C8AEF241-9C2A-4927-B311-49313649279D}" type="presOf" srcId="{FBE23ABB-B93A-4D77-9643-FE96B33C40F5}" destId="{68E69A04-3EF3-403E-BB4D-9621FCBB8934}" srcOrd="1" destOrd="0" presId="urn:microsoft.com/office/officeart/2005/8/layout/list1"/>
    <dgm:cxn modelId="{E00D1451-3124-42B0-8707-243AFE7DF8AF}" type="presOf" srcId="{BAF8EDDA-F563-4A6F-BDDD-1772614B941C}" destId="{3E3356D8-1DF6-46F6-8630-2965564AC8C8}" srcOrd="0" destOrd="0" presId="urn:microsoft.com/office/officeart/2005/8/layout/list1"/>
    <dgm:cxn modelId="{9AB12888-DD4A-4C04-B808-90766CE3C2F2}" type="presOf" srcId="{302A42FC-5F75-4896-A763-5106B8327A44}" destId="{9D6F0AA8-6115-40D9-8CB1-BBBEECD66306}" srcOrd="0" destOrd="0" presId="urn:microsoft.com/office/officeart/2005/8/layout/list1"/>
    <dgm:cxn modelId="{9D5F55A7-39F2-4D61-AAB2-45AA4C168A7F}" type="presOf" srcId="{92849003-022F-400A-889E-7B4CE092FBFA}" destId="{A1A7DAF9-A7EB-4E3D-8BF4-E984EC1CED53}" srcOrd="1" destOrd="0" presId="urn:microsoft.com/office/officeart/2005/8/layout/list1"/>
    <dgm:cxn modelId="{09B97FA9-1A98-46E9-BB6D-6B568CA2CB5D}" type="presOf" srcId="{FBE23ABB-B93A-4D77-9643-FE96B33C40F5}" destId="{1292439F-6D43-47F7-8DB8-9D25495D610D}" srcOrd="0" destOrd="0" presId="urn:microsoft.com/office/officeart/2005/8/layout/list1"/>
    <dgm:cxn modelId="{5FE573BF-6B36-45B9-8DC1-175EAB3F6569}" type="presOf" srcId="{92849003-022F-400A-889E-7B4CE092FBFA}" destId="{15B04751-DD59-4C64-872A-FFA913FF4D07}" srcOrd="0" destOrd="0" presId="urn:microsoft.com/office/officeart/2005/8/layout/list1"/>
    <dgm:cxn modelId="{0A1521C1-DA33-4302-B668-504A31CA306E}" srcId="{BAF8EDDA-F563-4A6F-BDDD-1772614B941C}" destId="{92849003-022F-400A-889E-7B4CE092FBFA}" srcOrd="0" destOrd="0" parTransId="{47C36C84-D5C5-4A71-B604-77A88DDBA594}" sibTransId="{259CC6AE-3667-4412-806D-B543DB0E03E8}"/>
    <dgm:cxn modelId="{4B1BB0C8-EB74-4624-94EC-E8E904390E0C}" srcId="{BAF8EDDA-F563-4A6F-BDDD-1772614B941C}" destId="{FBE23ABB-B93A-4D77-9643-FE96B33C40F5}" srcOrd="2" destOrd="0" parTransId="{8098A007-1F48-41B3-8905-251B3889435F}" sibTransId="{70E3F5CE-7558-4E53-83DE-287C5C8021DA}"/>
    <dgm:cxn modelId="{57D11362-B434-46DA-82A2-B8F94BFFFC54}" type="presParOf" srcId="{3E3356D8-1DF6-46F6-8630-2965564AC8C8}" destId="{9EECEBA9-A020-4F37-B947-D03F7939708D}" srcOrd="0" destOrd="0" presId="urn:microsoft.com/office/officeart/2005/8/layout/list1"/>
    <dgm:cxn modelId="{EE14C03A-AF86-4F52-89AC-46E0ED6D9F80}" type="presParOf" srcId="{9EECEBA9-A020-4F37-B947-D03F7939708D}" destId="{15B04751-DD59-4C64-872A-FFA913FF4D07}" srcOrd="0" destOrd="0" presId="urn:microsoft.com/office/officeart/2005/8/layout/list1"/>
    <dgm:cxn modelId="{B7943CDD-CE2A-4D09-B86D-A1F6CCA1AE93}" type="presParOf" srcId="{9EECEBA9-A020-4F37-B947-D03F7939708D}" destId="{A1A7DAF9-A7EB-4E3D-8BF4-E984EC1CED53}" srcOrd="1" destOrd="0" presId="urn:microsoft.com/office/officeart/2005/8/layout/list1"/>
    <dgm:cxn modelId="{A59D0827-A3D2-4EF4-93FC-164C75D1503D}" type="presParOf" srcId="{3E3356D8-1DF6-46F6-8630-2965564AC8C8}" destId="{327B67DE-FB6A-4896-9ED8-98D397B341F1}" srcOrd="1" destOrd="0" presId="urn:microsoft.com/office/officeart/2005/8/layout/list1"/>
    <dgm:cxn modelId="{3762E32F-D4F9-4679-A824-F9085FD09BA2}" type="presParOf" srcId="{3E3356D8-1DF6-46F6-8630-2965564AC8C8}" destId="{BDC80B8B-040E-4270-8743-5C0D213101A5}" srcOrd="2" destOrd="0" presId="urn:microsoft.com/office/officeart/2005/8/layout/list1"/>
    <dgm:cxn modelId="{B6B84177-957A-4708-A82D-A0F10D1290E3}" type="presParOf" srcId="{3E3356D8-1DF6-46F6-8630-2965564AC8C8}" destId="{7AE1CB82-8587-4215-B63F-59F20AA8E820}" srcOrd="3" destOrd="0" presId="urn:microsoft.com/office/officeart/2005/8/layout/list1"/>
    <dgm:cxn modelId="{72645C04-3BB9-4A6C-9479-B8B5FB8D71FC}" type="presParOf" srcId="{3E3356D8-1DF6-46F6-8630-2965564AC8C8}" destId="{E88F7B62-403D-4697-9DD1-AE1021A6F7DC}" srcOrd="4" destOrd="0" presId="urn:microsoft.com/office/officeart/2005/8/layout/list1"/>
    <dgm:cxn modelId="{873EEFF4-9C9F-4E29-AD7D-44571CA20D56}" type="presParOf" srcId="{E88F7B62-403D-4697-9DD1-AE1021A6F7DC}" destId="{9D6F0AA8-6115-40D9-8CB1-BBBEECD66306}" srcOrd="0" destOrd="0" presId="urn:microsoft.com/office/officeart/2005/8/layout/list1"/>
    <dgm:cxn modelId="{9F0E389E-0DDE-478D-AE1C-213C1B08786B}" type="presParOf" srcId="{E88F7B62-403D-4697-9DD1-AE1021A6F7DC}" destId="{0EF25EB0-E25F-4913-8D83-6C9150A3CABF}" srcOrd="1" destOrd="0" presId="urn:microsoft.com/office/officeart/2005/8/layout/list1"/>
    <dgm:cxn modelId="{393F78A7-D293-49F9-8467-D7534A98B431}" type="presParOf" srcId="{3E3356D8-1DF6-46F6-8630-2965564AC8C8}" destId="{CB174D44-C519-4874-BDC5-B7899428CA10}" srcOrd="5" destOrd="0" presId="urn:microsoft.com/office/officeart/2005/8/layout/list1"/>
    <dgm:cxn modelId="{1EB057ED-64D4-43F2-AFC2-C896F3A1122C}" type="presParOf" srcId="{3E3356D8-1DF6-46F6-8630-2965564AC8C8}" destId="{72A25556-5D6D-4FF4-85C7-8F024DA08196}" srcOrd="6" destOrd="0" presId="urn:microsoft.com/office/officeart/2005/8/layout/list1"/>
    <dgm:cxn modelId="{A5F4085F-2143-4675-A58E-A2028CB7C043}" type="presParOf" srcId="{3E3356D8-1DF6-46F6-8630-2965564AC8C8}" destId="{F8CDF1A2-502E-4523-AE98-C116ABD3C09D}" srcOrd="7" destOrd="0" presId="urn:microsoft.com/office/officeart/2005/8/layout/list1"/>
    <dgm:cxn modelId="{3EC6F307-4B3D-4CE3-BF9B-B5B64836C2DB}" type="presParOf" srcId="{3E3356D8-1DF6-46F6-8630-2965564AC8C8}" destId="{F4274A08-6EBA-4478-8421-9E1DF02B88C4}" srcOrd="8" destOrd="0" presId="urn:microsoft.com/office/officeart/2005/8/layout/list1"/>
    <dgm:cxn modelId="{E796E173-B637-4696-B6DE-7C137B58351C}" type="presParOf" srcId="{F4274A08-6EBA-4478-8421-9E1DF02B88C4}" destId="{1292439F-6D43-47F7-8DB8-9D25495D610D}" srcOrd="0" destOrd="0" presId="urn:microsoft.com/office/officeart/2005/8/layout/list1"/>
    <dgm:cxn modelId="{1DA9C4EB-4CA9-4702-9020-39A70F009BB1}" type="presParOf" srcId="{F4274A08-6EBA-4478-8421-9E1DF02B88C4}" destId="{68E69A04-3EF3-403E-BB4D-9621FCBB8934}" srcOrd="1" destOrd="0" presId="urn:microsoft.com/office/officeart/2005/8/layout/list1"/>
    <dgm:cxn modelId="{DADD4881-01AA-402F-9F0E-32B6AB9EDEF2}" type="presParOf" srcId="{3E3356D8-1DF6-46F6-8630-2965564AC8C8}" destId="{1C853D2A-575F-4A43-AA6C-ECD7CF996076}" srcOrd="9" destOrd="0" presId="urn:microsoft.com/office/officeart/2005/8/layout/list1"/>
    <dgm:cxn modelId="{AB5DEF2F-DA66-4814-9B73-05113140F404}" type="presParOf" srcId="{3E3356D8-1DF6-46F6-8630-2965564AC8C8}" destId="{A305C489-B24A-4489-87AD-E79EA4B1066F}"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967B45-5B60-4852-8EAF-8872A8E1707D}"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D82748C-B728-4B10-A193-AC0F2402C96E}">
      <dgm:prSet phldrT="[Text]"/>
      <dgm:spPr/>
      <dgm:t>
        <a:bodyPr/>
        <a:lstStyle/>
        <a:p>
          <a:pPr>
            <a:lnSpc>
              <a:spcPct val="100000"/>
            </a:lnSpc>
            <a:defRPr cap="all"/>
          </a:pPr>
          <a:r>
            <a:rPr lang="en-US" b="0"/>
            <a:t>AT RECRUITMENT</a:t>
          </a:r>
        </a:p>
      </dgm:t>
    </dgm:pt>
    <dgm:pt modelId="{9D804244-1854-455B-B038-DAA59F95457F}" type="parTrans" cxnId="{1A9D79CE-F256-436F-A8AA-CE4A70935E76}">
      <dgm:prSet/>
      <dgm:spPr/>
      <dgm:t>
        <a:bodyPr/>
        <a:lstStyle/>
        <a:p>
          <a:endParaRPr lang="en-US" b="0"/>
        </a:p>
      </dgm:t>
    </dgm:pt>
    <dgm:pt modelId="{1EC5892F-BF55-4063-9264-FFE60A5F08A9}" type="sibTrans" cxnId="{1A9D79CE-F256-436F-A8AA-CE4A70935E76}">
      <dgm:prSet/>
      <dgm:spPr/>
      <dgm:t>
        <a:bodyPr/>
        <a:lstStyle/>
        <a:p>
          <a:endParaRPr lang="en-US" b="0"/>
        </a:p>
      </dgm:t>
    </dgm:pt>
    <dgm:pt modelId="{47590B02-98D1-4304-94CB-D16E28970D20}">
      <dgm:prSet phldrT="[Text]"/>
      <dgm:spPr/>
      <dgm:t>
        <a:bodyPr/>
        <a:lstStyle/>
        <a:p>
          <a:pPr>
            <a:lnSpc>
              <a:spcPct val="100000"/>
            </a:lnSpc>
            <a:defRPr cap="all"/>
          </a:pPr>
          <a:r>
            <a:rPr lang="en-US" b="0"/>
            <a:t>PERFORMANCE MANAGEMENT</a:t>
          </a:r>
        </a:p>
      </dgm:t>
    </dgm:pt>
    <dgm:pt modelId="{96A743CB-BBEA-497E-A549-B802BBFFB73F}" type="parTrans" cxnId="{3BE7894B-C853-48EC-8990-5C45D7D56C92}">
      <dgm:prSet/>
      <dgm:spPr/>
      <dgm:t>
        <a:bodyPr/>
        <a:lstStyle/>
        <a:p>
          <a:endParaRPr lang="en-US" b="0"/>
        </a:p>
      </dgm:t>
    </dgm:pt>
    <dgm:pt modelId="{E1CFD072-2923-450E-9936-FDC66970A268}" type="sibTrans" cxnId="{3BE7894B-C853-48EC-8990-5C45D7D56C92}">
      <dgm:prSet/>
      <dgm:spPr/>
      <dgm:t>
        <a:bodyPr/>
        <a:lstStyle/>
        <a:p>
          <a:endParaRPr lang="en-US" b="0"/>
        </a:p>
      </dgm:t>
    </dgm:pt>
    <dgm:pt modelId="{7DB64558-0B04-475E-86B1-7739166EF793}">
      <dgm:prSet phldrT="[Text]"/>
      <dgm:spPr/>
      <dgm:t>
        <a:bodyPr/>
        <a:lstStyle/>
        <a:p>
          <a:pPr>
            <a:lnSpc>
              <a:spcPct val="100000"/>
            </a:lnSpc>
            <a:defRPr cap="all"/>
          </a:pPr>
          <a:r>
            <a:rPr lang="en-US" b="0"/>
            <a:t>DEVELOPMENT PLANNING </a:t>
          </a:r>
        </a:p>
        <a:p>
          <a:pPr>
            <a:lnSpc>
              <a:spcPct val="100000"/>
            </a:lnSpc>
            <a:defRPr cap="all"/>
          </a:pPr>
          <a:r>
            <a:rPr lang="en-US" b="0"/>
            <a:t>LEADERSHIP 360</a:t>
          </a:r>
        </a:p>
      </dgm:t>
    </dgm:pt>
    <dgm:pt modelId="{4B6160E7-B183-4E47-B663-C8BCC87535E7}" type="parTrans" cxnId="{684E66AC-BD8C-4222-9042-70C4F2B2C8BD}">
      <dgm:prSet/>
      <dgm:spPr/>
      <dgm:t>
        <a:bodyPr/>
        <a:lstStyle/>
        <a:p>
          <a:endParaRPr lang="en-US" b="0"/>
        </a:p>
      </dgm:t>
    </dgm:pt>
    <dgm:pt modelId="{7AAA2A8A-5EAA-4A2B-A8FC-DB1E4B53103F}" type="sibTrans" cxnId="{684E66AC-BD8C-4222-9042-70C4F2B2C8BD}">
      <dgm:prSet/>
      <dgm:spPr/>
      <dgm:t>
        <a:bodyPr/>
        <a:lstStyle/>
        <a:p>
          <a:endParaRPr lang="en-US" b="0"/>
        </a:p>
      </dgm:t>
    </dgm:pt>
    <dgm:pt modelId="{789863A0-F036-4D9F-8A5D-AE16AD373321}">
      <dgm:prSet phldrT="[Text]"/>
      <dgm:spPr/>
      <dgm:t>
        <a:bodyPr/>
        <a:lstStyle/>
        <a:p>
          <a:pPr>
            <a:lnSpc>
              <a:spcPct val="100000"/>
            </a:lnSpc>
            <a:defRPr cap="all"/>
          </a:pPr>
          <a:r>
            <a:rPr lang="en-US" b="0"/>
            <a:t>PROFESSIONAL DEVELOPMENT &amp; GROWTH OPPORTUNITIES</a:t>
          </a:r>
        </a:p>
      </dgm:t>
    </dgm:pt>
    <dgm:pt modelId="{CC74306A-03D0-46AE-8DC3-75505AD64D08}" type="parTrans" cxnId="{9D741DF6-BD7E-44BA-9E86-A60342459676}">
      <dgm:prSet/>
      <dgm:spPr/>
      <dgm:t>
        <a:bodyPr/>
        <a:lstStyle/>
        <a:p>
          <a:endParaRPr lang="en-US" b="0"/>
        </a:p>
      </dgm:t>
    </dgm:pt>
    <dgm:pt modelId="{1A0659EB-4ABE-460C-813F-534539055903}" type="sibTrans" cxnId="{9D741DF6-BD7E-44BA-9E86-A60342459676}">
      <dgm:prSet/>
      <dgm:spPr/>
      <dgm:t>
        <a:bodyPr/>
        <a:lstStyle/>
        <a:p>
          <a:endParaRPr lang="en-US" b="0"/>
        </a:p>
      </dgm:t>
    </dgm:pt>
    <dgm:pt modelId="{6B776B31-9F5D-4216-977B-A0B19F6E0054}" type="pres">
      <dgm:prSet presAssocID="{0A967B45-5B60-4852-8EAF-8872A8E1707D}" presName="root" presStyleCnt="0">
        <dgm:presLayoutVars>
          <dgm:dir/>
          <dgm:resizeHandles val="exact"/>
        </dgm:presLayoutVars>
      </dgm:prSet>
      <dgm:spPr/>
    </dgm:pt>
    <dgm:pt modelId="{239175BE-3919-4F28-A943-AB5BBED6D87E}" type="pres">
      <dgm:prSet presAssocID="{0D82748C-B728-4B10-A193-AC0F2402C96E}" presName="compNode" presStyleCnt="0"/>
      <dgm:spPr/>
    </dgm:pt>
    <dgm:pt modelId="{FAE11C2E-DEB7-4604-969C-9D7FC8392320}" type="pres">
      <dgm:prSet presAssocID="{0D82748C-B728-4B10-A193-AC0F2402C96E}" presName="iconBgRect" presStyleLbl="bgShp" presStyleIdx="0" presStyleCnt="4"/>
      <dgm:spPr>
        <a:prstGeom prst="round2DiagRect">
          <a:avLst>
            <a:gd name="adj1" fmla="val 29727"/>
            <a:gd name="adj2" fmla="val 0"/>
          </a:avLst>
        </a:prstGeom>
      </dgm:spPr>
    </dgm:pt>
    <dgm:pt modelId="{9BC94EED-7784-4730-BD6C-FA0CA86DAC1C}" type="pres">
      <dgm:prSet presAssocID="{0D82748C-B728-4B10-A193-AC0F2402C96E}" presName="iconRect" presStyleLbl="node1" presStyleIdx="0" presStyleCnt="4" custLinFactX="-55524" custLinFactNeighborX="-100000" custLinFactNeighborY="-3106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59B43B5D-7399-4396-944B-6C58647F4273}" type="pres">
      <dgm:prSet presAssocID="{0D82748C-B728-4B10-A193-AC0F2402C96E}" presName="spaceRect" presStyleCnt="0"/>
      <dgm:spPr/>
    </dgm:pt>
    <dgm:pt modelId="{78D8D4CF-02E4-4725-94DE-511A71CAE7F1}" type="pres">
      <dgm:prSet presAssocID="{0D82748C-B728-4B10-A193-AC0F2402C96E}" presName="textRect" presStyleLbl="revTx" presStyleIdx="0" presStyleCnt="4">
        <dgm:presLayoutVars>
          <dgm:chMax val="1"/>
          <dgm:chPref val="1"/>
        </dgm:presLayoutVars>
      </dgm:prSet>
      <dgm:spPr/>
    </dgm:pt>
    <dgm:pt modelId="{7D90ED1A-4FF6-4B2F-8563-F97A3D410C76}" type="pres">
      <dgm:prSet presAssocID="{1EC5892F-BF55-4063-9264-FFE60A5F08A9}" presName="sibTrans" presStyleCnt="0"/>
      <dgm:spPr/>
    </dgm:pt>
    <dgm:pt modelId="{B9424FE4-69C5-49E2-9DFF-E065C0F61886}" type="pres">
      <dgm:prSet presAssocID="{47590B02-98D1-4304-94CB-D16E28970D20}" presName="compNode" presStyleCnt="0"/>
      <dgm:spPr/>
    </dgm:pt>
    <dgm:pt modelId="{BE221B60-9D09-4038-ABA9-552E04CB5915}" type="pres">
      <dgm:prSet presAssocID="{47590B02-98D1-4304-94CB-D16E28970D20}" presName="iconBgRect" presStyleLbl="bgShp" presStyleIdx="1" presStyleCnt="4"/>
      <dgm:spPr>
        <a:prstGeom prst="round2DiagRect">
          <a:avLst>
            <a:gd name="adj1" fmla="val 29727"/>
            <a:gd name="adj2" fmla="val 0"/>
          </a:avLst>
        </a:prstGeom>
      </dgm:spPr>
    </dgm:pt>
    <dgm:pt modelId="{AA764605-87A5-401F-8477-B99BFA818653}" type="pres">
      <dgm:prSet presAssocID="{47590B02-98D1-4304-94CB-D16E28970D2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 List"/>
        </a:ext>
      </dgm:extLst>
    </dgm:pt>
    <dgm:pt modelId="{74AA4701-32C3-4E53-9C64-61979F570632}" type="pres">
      <dgm:prSet presAssocID="{47590B02-98D1-4304-94CB-D16E28970D20}" presName="spaceRect" presStyleCnt="0"/>
      <dgm:spPr/>
    </dgm:pt>
    <dgm:pt modelId="{AB757015-819F-46F7-A748-62C54A4C485D}" type="pres">
      <dgm:prSet presAssocID="{47590B02-98D1-4304-94CB-D16E28970D20}" presName="textRect" presStyleLbl="revTx" presStyleIdx="1" presStyleCnt="4">
        <dgm:presLayoutVars>
          <dgm:chMax val="1"/>
          <dgm:chPref val="1"/>
        </dgm:presLayoutVars>
      </dgm:prSet>
      <dgm:spPr/>
    </dgm:pt>
    <dgm:pt modelId="{146CBF65-EB11-489F-A8CF-62446F1166FF}" type="pres">
      <dgm:prSet presAssocID="{E1CFD072-2923-450E-9936-FDC66970A268}" presName="sibTrans" presStyleCnt="0"/>
      <dgm:spPr/>
    </dgm:pt>
    <dgm:pt modelId="{15707ED9-CBFB-4F38-B8D6-D678A207B616}" type="pres">
      <dgm:prSet presAssocID="{7DB64558-0B04-475E-86B1-7739166EF793}" presName="compNode" presStyleCnt="0"/>
      <dgm:spPr/>
    </dgm:pt>
    <dgm:pt modelId="{8AC1EC27-51F1-4F00-955D-B8B802872D45}" type="pres">
      <dgm:prSet presAssocID="{7DB64558-0B04-475E-86B1-7739166EF793}" presName="iconBgRect" presStyleLbl="bgShp" presStyleIdx="2" presStyleCnt="4"/>
      <dgm:spPr>
        <a:prstGeom prst="round2DiagRect">
          <a:avLst>
            <a:gd name="adj1" fmla="val 29727"/>
            <a:gd name="adj2" fmla="val 0"/>
          </a:avLst>
        </a:prstGeom>
      </dgm:spPr>
    </dgm:pt>
    <dgm:pt modelId="{7A9C4A76-79A2-4E7A-8DC6-51A857F987F8}" type="pres">
      <dgm:prSet presAssocID="{7DB64558-0B04-475E-86B1-7739166EF79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0D12D278-5089-45C9-9670-E86E1DA142A5}" type="pres">
      <dgm:prSet presAssocID="{7DB64558-0B04-475E-86B1-7739166EF793}" presName="spaceRect" presStyleCnt="0"/>
      <dgm:spPr/>
    </dgm:pt>
    <dgm:pt modelId="{DD68FC14-5E1A-4BEC-B4A7-49FC5805C156}" type="pres">
      <dgm:prSet presAssocID="{7DB64558-0B04-475E-86B1-7739166EF793}" presName="textRect" presStyleLbl="revTx" presStyleIdx="2" presStyleCnt="4">
        <dgm:presLayoutVars>
          <dgm:chMax val="1"/>
          <dgm:chPref val="1"/>
        </dgm:presLayoutVars>
      </dgm:prSet>
      <dgm:spPr/>
    </dgm:pt>
    <dgm:pt modelId="{D0402B3E-505E-4C15-9012-D88144542C5D}" type="pres">
      <dgm:prSet presAssocID="{7AAA2A8A-5EAA-4A2B-A8FC-DB1E4B53103F}" presName="sibTrans" presStyleCnt="0"/>
      <dgm:spPr/>
    </dgm:pt>
    <dgm:pt modelId="{93F678B2-3CF5-4881-8E3C-DB066ACEBF73}" type="pres">
      <dgm:prSet presAssocID="{789863A0-F036-4D9F-8A5D-AE16AD373321}" presName="compNode" presStyleCnt="0"/>
      <dgm:spPr/>
    </dgm:pt>
    <dgm:pt modelId="{788FA9D6-BD99-4286-B414-B7C95EA794B8}" type="pres">
      <dgm:prSet presAssocID="{789863A0-F036-4D9F-8A5D-AE16AD373321}" presName="iconBgRect" presStyleLbl="bgShp" presStyleIdx="3" presStyleCnt="4"/>
      <dgm:spPr>
        <a:prstGeom prst="round2DiagRect">
          <a:avLst>
            <a:gd name="adj1" fmla="val 29727"/>
            <a:gd name="adj2" fmla="val 0"/>
          </a:avLst>
        </a:prstGeom>
      </dgm:spPr>
    </dgm:pt>
    <dgm:pt modelId="{ECA2130C-E997-4367-9B33-39C1F5813411}" type="pres">
      <dgm:prSet presAssocID="{789863A0-F036-4D9F-8A5D-AE16AD37332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s"/>
        </a:ext>
      </dgm:extLst>
    </dgm:pt>
    <dgm:pt modelId="{E47BF651-1507-4144-BD05-1E65CCF2F09C}" type="pres">
      <dgm:prSet presAssocID="{789863A0-F036-4D9F-8A5D-AE16AD373321}" presName="spaceRect" presStyleCnt="0"/>
      <dgm:spPr/>
    </dgm:pt>
    <dgm:pt modelId="{00C07E0B-2935-4B8B-8887-34A0D9DD864E}" type="pres">
      <dgm:prSet presAssocID="{789863A0-F036-4D9F-8A5D-AE16AD373321}" presName="textRect" presStyleLbl="revTx" presStyleIdx="3" presStyleCnt="4">
        <dgm:presLayoutVars>
          <dgm:chMax val="1"/>
          <dgm:chPref val="1"/>
        </dgm:presLayoutVars>
      </dgm:prSet>
      <dgm:spPr/>
    </dgm:pt>
  </dgm:ptLst>
  <dgm:cxnLst>
    <dgm:cxn modelId="{40DAF404-E315-4C79-915A-3A3CD8F06556}" type="presOf" srcId="{7DB64558-0B04-475E-86B1-7739166EF793}" destId="{DD68FC14-5E1A-4BEC-B4A7-49FC5805C156}" srcOrd="0" destOrd="0" presId="urn:microsoft.com/office/officeart/2018/5/layout/IconLeafLabelList"/>
    <dgm:cxn modelId="{3BE7894B-C853-48EC-8990-5C45D7D56C92}" srcId="{0A967B45-5B60-4852-8EAF-8872A8E1707D}" destId="{47590B02-98D1-4304-94CB-D16E28970D20}" srcOrd="1" destOrd="0" parTransId="{96A743CB-BBEA-497E-A549-B802BBFFB73F}" sibTransId="{E1CFD072-2923-450E-9936-FDC66970A268}"/>
    <dgm:cxn modelId="{C70A405A-ACC9-4670-8AD4-801B3F7CED06}" type="presOf" srcId="{47590B02-98D1-4304-94CB-D16E28970D20}" destId="{AB757015-819F-46F7-A748-62C54A4C485D}" srcOrd="0" destOrd="0" presId="urn:microsoft.com/office/officeart/2018/5/layout/IconLeafLabelList"/>
    <dgm:cxn modelId="{CE36AD9A-9695-4D0B-AC0B-AB97933C4052}" type="presOf" srcId="{789863A0-F036-4D9F-8A5D-AE16AD373321}" destId="{00C07E0B-2935-4B8B-8887-34A0D9DD864E}" srcOrd="0" destOrd="0" presId="urn:microsoft.com/office/officeart/2018/5/layout/IconLeafLabelList"/>
    <dgm:cxn modelId="{F68ADCA9-419B-44FA-8CBA-D0D4B3106A6A}" type="presOf" srcId="{0A967B45-5B60-4852-8EAF-8872A8E1707D}" destId="{6B776B31-9F5D-4216-977B-A0B19F6E0054}" srcOrd="0" destOrd="0" presId="urn:microsoft.com/office/officeart/2018/5/layout/IconLeafLabelList"/>
    <dgm:cxn modelId="{684E66AC-BD8C-4222-9042-70C4F2B2C8BD}" srcId="{0A967B45-5B60-4852-8EAF-8872A8E1707D}" destId="{7DB64558-0B04-475E-86B1-7739166EF793}" srcOrd="2" destOrd="0" parTransId="{4B6160E7-B183-4E47-B663-C8BCC87535E7}" sibTransId="{7AAA2A8A-5EAA-4A2B-A8FC-DB1E4B53103F}"/>
    <dgm:cxn modelId="{1A9D79CE-F256-436F-A8AA-CE4A70935E76}" srcId="{0A967B45-5B60-4852-8EAF-8872A8E1707D}" destId="{0D82748C-B728-4B10-A193-AC0F2402C96E}" srcOrd="0" destOrd="0" parTransId="{9D804244-1854-455B-B038-DAA59F95457F}" sibTransId="{1EC5892F-BF55-4063-9264-FFE60A5F08A9}"/>
    <dgm:cxn modelId="{C7B45AD1-1DE5-4C86-B779-825D2B09DC51}" type="presOf" srcId="{0D82748C-B728-4B10-A193-AC0F2402C96E}" destId="{78D8D4CF-02E4-4725-94DE-511A71CAE7F1}" srcOrd="0" destOrd="0" presId="urn:microsoft.com/office/officeart/2018/5/layout/IconLeafLabelList"/>
    <dgm:cxn modelId="{9D741DF6-BD7E-44BA-9E86-A60342459676}" srcId="{0A967B45-5B60-4852-8EAF-8872A8E1707D}" destId="{789863A0-F036-4D9F-8A5D-AE16AD373321}" srcOrd="3" destOrd="0" parTransId="{CC74306A-03D0-46AE-8DC3-75505AD64D08}" sibTransId="{1A0659EB-4ABE-460C-813F-534539055903}"/>
    <dgm:cxn modelId="{F50B264A-6E08-415B-8CCA-DC4CB3F15681}" type="presParOf" srcId="{6B776B31-9F5D-4216-977B-A0B19F6E0054}" destId="{239175BE-3919-4F28-A943-AB5BBED6D87E}" srcOrd="0" destOrd="0" presId="urn:microsoft.com/office/officeart/2018/5/layout/IconLeafLabelList"/>
    <dgm:cxn modelId="{389A6112-E126-4D4A-BEB1-09F9823762BD}" type="presParOf" srcId="{239175BE-3919-4F28-A943-AB5BBED6D87E}" destId="{FAE11C2E-DEB7-4604-969C-9D7FC8392320}" srcOrd="0" destOrd="0" presId="urn:microsoft.com/office/officeart/2018/5/layout/IconLeafLabelList"/>
    <dgm:cxn modelId="{5D62AE29-B06C-4FF3-966C-E34B6856ECBA}" type="presParOf" srcId="{239175BE-3919-4F28-A943-AB5BBED6D87E}" destId="{9BC94EED-7784-4730-BD6C-FA0CA86DAC1C}" srcOrd="1" destOrd="0" presId="urn:microsoft.com/office/officeart/2018/5/layout/IconLeafLabelList"/>
    <dgm:cxn modelId="{7A580E80-5758-4F47-9041-4E4E34CCF48F}" type="presParOf" srcId="{239175BE-3919-4F28-A943-AB5BBED6D87E}" destId="{59B43B5D-7399-4396-944B-6C58647F4273}" srcOrd="2" destOrd="0" presId="urn:microsoft.com/office/officeart/2018/5/layout/IconLeafLabelList"/>
    <dgm:cxn modelId="{EB44BE7C-8D59-4253-A7B0-CD609897D2F6}" type="presParOf" srcId="{239175BE-3919-4F28-A943-AB5BBED6D87E}" destId="{78D8D4CF-02E4-4725-94DE-511A71CAE7F1}" srcOrd="3" destOrd="0" presId="urn:microsoft.com/office/officeart/2018/5/layout/IconLeafLabelList"/>
    <dgm:cxn modelId="{7315773A-6A70-4FE3-90F4-9FABFD918111}" type="presParOf" srcId="{6B776B31-9F5D-4216-977B-A0B19F6E0054}" destId="{7D90ED1A-4FF6-4B2F-8563-F97A3D410C76}" srcOrd="1" destOrd="0" presId="urn:microsoft.com/office/officeart/2018/5/layout/IconLeafLabelList"/>
    <dgm:cxn modelId="{A971E861-358B-46FB-BC37-D7337636C784}" type="presParOf" srcId="{6B776B31-9F5D-4216-977B-A0B19F6E0054}" destId="{B9424FE4-69C5-49E2-9DFF-E065C0F61886}" srcOrd="2" destOrd="0" presId="urn:microsoft.com/office/officeart/2018/5/layout/IconLeafLabelList"/>
    <dgm:cxn modelId="{AEC240FE-D858-4C22-B827-3879E184665B}" type="presParOf" srcId="{B9424FE4-69C5-49E2-9DFF-E065C0F61886}" destId="{BE221B60-9D09-4038-ABA9-552E04CB5915}" srcOrd="0" destOrd="0" presId="urn:microsoft.com/office/officeart/2018/5/layout/IconLeafLabelList"/>
    <dgm:cxn modelId="{7AA21C0E-4307-4476-A77C-83DD3DBA4234}" type="presParOf" srcId="{B9424FE4-69C5-49E2-9DFF-E065C0F61886}" destId="{AA764605-87A5-401F-8477-B99BFA818653}" srcOrd="1" destOrd="0" presId="urn:microsoft.com/office/officeart/2018/5/layout/IconLeafLabelList"/>
    <dgm:cxn modelId="{E04A0E58-7E9E-43C8-BFB9-7A3F7E9920A9}" type="presParOf" srcId="{B9424FE4-69C5-49E2-9DFF-E065C0F61886}" destId="{74AA4701-32C3-4E53-9C64-61979F570632}" srcOrd="2" destOrd="0" presId="urn:microsoft.com/office/officeart/2018/5/layout/IconLeafLabelList"/>
    <dgm:cxn modelId="{78F710CF-AD04-400A-8BF3-F904BD3DC61D}" type="presParOf" srcId="{B9424FE4-69C5-49E2-9DFF-E065C0F61886}" destId="{AB757015-819F-46F7-A748-62C54A4C485D}" srcOrd="3" destOrd="0" presId="urn:microsoft.com/office/officeart/2018/5/layout/IconLeafLabelList"/>
    <dgm:cxn modelId="{28463C26-3FB5-4C29-AF14-2FDB63BC9D3A}" type="presParOf" srcId="{6B776B31-9F5D-4216-977B-A0B19F6E0054}" destId="{146CBF65-EB11-489F-A8CF-62446F1166FF}" srcOrd="3" destOrd="0" presId="urn:microsoft.com/office/officeart/2018/5/layout/IconLeafLabelList"/>
    <dgm:cxn modelId="{7E1B7A30-4DBA-4CC3-B7A3-8B39BD06EFBD}" type="presParOf" srcId="{6B776B31-9F5D-4216-977B-A0B19F6E0054}" destId="{15707ED9-CBFB-4F38-B8D6-D678A207B616}" srcOrd="4" destOrd="0" presId="urn:microsoft.com/office/officeart/2018/5/layout/IconLeafLabelList"/>
    <dgm:cxn modelId="{4348B4F0-F9BE-44EB-9753-72559A06CA2B}" type="presParOf" srcId="{15707ED9-CBFB-4F38-B8D6-D678A207B616}" destId="{8AC1EC27-51F1-4F00-955D-B8B802872D45}" srcOrd="0" destOrd="0" presId="urn:microsoft.com/office/officeart/2018/5/layout/IconLeafLabelList"/>
    <dgm:cxn modelId="{F9408538-C623-4B7F-B618-F83BB9CEDC6F}" type="presParOf" srcId="{15707ED9-CBFB-4F38-B8D6-D678A207B616}" destId="{7A9C4A76-79A2-4E7A-8DC6-51A857F987F8}" srcOrd="1" destOrd="0" presId="urn:microsoft.com/office/officeart/2018/5/layout/IconLeafLabelList"/>
    <dgm:cxn modelId="{7CB660F9-4B3F-4D11-9D4F-FA61BAE02FA0}" type="presParOf" srcId="{15707ED9-CBFB-4F38-B8D6-D678A207B616}" destId="{0D12D278-5089-45C9-9670-E86E1DA142A5}" srcOrd="2" destOrd="0" presId="urn:microsoft.com/office/officeart/2018/5/layout/IconLeafLabelList"/>
    <dgm:cxn modelId="{48F0D7BF-6462-4E0C-9734-ED771E81ED16}" type="presParOf" srcId="{15707ED9-CBFB-4F38-B8D6-D678A207B616}" destId="{DD68FC14-5E1A-4BEC-B4A7-49FC5805C156}" srcOrd="3" destOrd="0" presId="urn:microsoft.com/office/officeart/2018/5/layout/IconLeafLabelList"/>
    <dgm:cxn modelId="{7E1E2220-19FF-49E4-BF9B-C0A3E09E5F43}" type="presParOf" srcId="{6B776B31-9F5D-4216-977B-A0B19F6E0054}" destId="{D0402B3E-505E-4C15-9012-D88144542C5D}" srcOrd="5" destOrd="0" presId="urn:microsoft.com/office/officeart/2018/5/layout/IconLeafLabelList"/>
    <dgm:cxn modelId="{E555EE3F-4DD9-4CE8-B917-F5C046D674B9}" type="presParOf" srcId="{6B776B31-9F5D-4216-977B-A0B19F6E0054}" destId="{93F678B2-3CF5-4881-8E3C-DB066ACEBF73}" srcOrd="6" destOrd="0" presId="urn:microsoft.com/office/officeart/2018/5/layout/IconLeafLabelList"/>
    <dgm:cxn modelId="{F3B240A9-4EAB-4409-B276-E53CAD3B115B}" type="presParOf" srcId="{93F678B2-3CF5-4881-8E3C-DB066ACEBF73}" destId="{788FA9D6-BD99-4286-B414-B7C95EA794B8}" srcOrd="0" destOrd="0" presId="urn:microsoft.com/office/officeart/2018/5/layout/IconLeafLabelList"/>
    <dgm:cxn modelId="{9938C160-DBAF-4909-B5F5-A5BE79BB71C6}" type="presParOf" srcId="{93F678B2-3CF5-4881-8E3C-DB066ACEBF73}" destId="{ECA2130C-E997-4367-9B33-39C1F5813411}" srcOrd="1" destOrd="0" presId="urn:microsoft.com/office/officeart/2018/5/layout/IconLeafLabelList"/>
    <dgm:cxn modelId="{75758627-9822-4D97-B33E-C3C79AB635EE}" type="presParOf" srcId="{93F678B2-3CF5-4881-8E3C-DB066ACEBF73}" destId="{E47BF651-1507-4144-BD05-1E65CCF2F09C}" srcOrd="2" destOrd="0" presId="urn:microsoft.com/office/officeart/2018/5/layout/IconLeafLabelList"/>
    <dgm:cxn modelId="{1B5B48FD-D509-40E3-BDC1-B7E227F12E25}" type="presParOf" srcId="{93F678B2-3CF5-4881-8E3C-DB066ACEBF73}" destId="{00C07E0B-2935-4B8B-8887-34A0D9DD864E}"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2" csCatId="accent1" phldr="1"/>
      <dgm:spPr/>
    </dgm:pt>
    <dgm:pt modelId="{FD5B408F-3188-4E69-8B0A-CE4B59A53168}">
      <dgm:prSet phldrT="[Text]"/>
      <dgm:spPr>
        <a:solidFill>
          <a:schemeClr val="accent2">
            <a:lumMod val="50000"/>
          </a:schemeClr>
        </a:solidFill>
      </dgm:spPr>
      <dgm:t>
        <a:bodyPr/>
        <a:lstStyle/>
        <a:p>
          <a:r>
            <a:rPr lang="en-US" dirty="0"/>
            <a:t>Activate Innovation</a:t>
          </a:r>
        </a:p>
      </dgm:t>
    </dgm:pt>
    <dgm:pt modelId="{6D6BF466-8DE2-4ECF-BA18-23AA9E2CF708}" type="parTrans" cxnId="{B7CD78FB-D590-40AB-874E-E3446BCB9219}">
      <dgm:prSet/>
      <dgm:spPr/>
      <dgm:t>
        <a:bodyPr/>
        <a:lstStyle/>
        <a:p>
          <a:endParaRPr lang="en-US"/>
        </a:p>
      </dgm:t>
    </dgm:pt>
    <dgm:pt modelId="{ADD91C3F-037C-4E84-8B6E-60AE5F8FCEF2}" type="sibTrans" cxnId="{B7CD78FB-D590-40AB-874E-E3446BCB9219}">
      <dgm:prSet/>
      <dgm:spPr/>
      <dgm:t>
        <a:bodyPr/>
        <a:lstStyle/>
        <a:p>
          <a:endParaRPr lang="en-US"/>
        </a:p>
      </dgm:t>
    </dgm:pt>
    <dgm:pt modelId="{3097378F-7487-4C66-AE53-17259C2C5650}">
      <dgm:prSet phldrT="[Text]"/>
      <dgm:spPr>
        <a:solidFill>
          <a:schemeClr val="accent6">
            <a:lumMod val="75000"/>
          </a:schemeClr>
        </a:solidFill>
      </dgm:spPr>
      <dgm:t>
        <a:bodyPr/>
        <a:lstStyle/>
        <a:p>
          <a:r>
            <a:rPr lang="en-US" dirty="0"/>
            <a:t>Inspire our People</a:t>
          </a:r>
        </a:p>
      </dgm:t>
    </dgm:pt>
    <dgm:pt modelId="{663263BE-89FA-4057-8775-27511824F5CB}" type="parTrans" cxnId="{F0879D8A-2030-4032-B1C0-8A0A4D5BC4FC}">
      <dgm:prSet/>
      <dgm:spPr/>
      <dgm:t>
        <a:bodyPr/>
        <a:lstStyle/>
        <a:p>
          <a:endParaRPr lang="en-US"/>
        </a:p>
      </dgm:t>
    </dgm:pt>
    <dgm:pt modelId="{30AC92D9-23A4-403A-9FB5-161C56B609B8}" type="sibTrans" cxnId="{F0879D8A-2030-4032-B1C0-8A0A4D5BC4FC}">
      <dgm:prSet/>
      <dgm:spPr/>
      <dgm:t>
        <a:bodyPr/>
        <a:lstStyle/>
        <a:p>
          <a:endParaRPr lang="en-US"/>
        </a:p>
      </dgm:t>
    </dgm:pt>
    <dgm:pt modelId="{B15B128D-E74F-4E14-AD8C-21CA2F893690}">
      <dgm:prSet phldrT="[Text]"/>
      <dgm:spPr/>
      <dgm:t>
        <a:bodyPr/>
        <a:lstStyle/>
        <a:p>
          <a:r>
            <a:rPr lang="en-US" dirty="0"/>
            <a:t>Grow your Business</a:t>
          </a:r>
        </a:p>
      </dgm:t>
    </dgm:pt>
    <dgm:pt modelId="{A8A1E2FD-52AB-4658-A4D0-4B883FC2A233}" type="parTrans" cxnId="{2CF0D74A-B6F6-4FE2-AC1C-527D038D4034}">
      <dgm:prSet/>
      <dgm:spPr/>
      <dgm:t>
        <a:bodyPr/>
        <a:lstStyle/>
        <a:p>
          <a:endParaRPr lang="en-US"/>
        </a:p>
      </dgm:t>
    </dgm:pt>
    <dgm:pt modelId="{F8A11A55-16B8-4E53-98BA-0A730F430AE9}" type="sibTrans" cxnId="{2CF0D74A-B6F6-4FE2-AC1C-527D038D4034}">
      <dgm:prSet/>
      <dgm:spPr/>
      <dgm:t>
        <a:bodyPr/>
        <a:lstStyle/>
        <a:p>
          <a:endParaRPr lang="en-US"/>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dgm:t>
        <a:bodyPr/>
        <a:lstStyle/>
        <a:p>
          <a:r>
            <a:rPr lang="en-US" sz="300" dirty="0"/>
            <a:t>Activate Innovation</a:t>
          </a:r>
        </a:p>
      </dgm:t>
    </dgm:pt>
    <dgm:pt modelId="{6D6BF466-8DE2-4ECF-BA18-23AA9E2CF708}" type="parTrans" cxnId="{B7CD78FB-D590-40AB-874E-E3446BCB9219}">
      <dgm:prSet/>
      <dgm:spPr/>
      <dgm:t>
        <a:bodyPr/>
        <a:lstStyle/>
        <a:p>
          <a:endParaRPr lang="en-US" sz="1400"/>
        </a:p>
      </dgm:t>
    </dgm:pt>
    <dgm:pt modelId="{ADD91C3F-037C-4E84-8B6E-60AE5F8FCEF2}" type="sibTrans" cxnId="{B7CD78FB-D590-40AB-874E-E3446BCB9219}">
      <dgm:prSet/>
      <dgm:spPr/>
      <dgm:t>
        <a:bodyPr/>
        <a:lstStyle/>
        <a:p>
          <a:endParaRPr lang="en-US" sz="14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400"/>
        </a:p>
      </dgm:t>
    </dgm:pt>
    <dgm:pt modelId="{30AC92D9-23A4-403A-9FB5-161C56B609B8}" type="sibTrans" cxnId="{F0879D8A-2030-4032-B1C0-8A0A4D5BC4FC}">
      <dgm:prSet/>
      <dgm:spPr/>
      <dgm:t>
        <a:bodyPr/>
        <a:lstStyle/>
        <a:p>
          <a:endParaRPr lang="en-US" sz="1400"/>
        </a:p>
      </dgm:t>
    </dgm:pt>
    <dgm:pt modelId="{B15B128D-E74F-4E14-AD8C-21CA2F893690}">
      <dgm:prSet phldrT="[Text]" custT="1"/>
      <dgm:spPr>
        <a:solidFill>
          <a:srgbClr val="4472C4"/>
        </a:solidFill>
        <a:ln>
          <a:solidFill>
            <a:schemeClr val="tx1"/>
          </a:solidFill>
        </a:ln>
      </dgm:spPr>
      <dgm:t>
        <a:bodyPr/>
        <a:lstStyle/>
        <a:p>
          <a:r>
            <a:rPr lang="en-US" sz="300" dirty="0">
              <a:solidFill>
                <a:schemeClr val="bg1"/>
              </a:solidFill>
            </a:rPr>
            <a:t>Grow our Business</a:t>
          </a:r>
        </a:p>
      </dgm:t>
    </dgm:pt>
    <dgm:pt modelId="{A8A1E2FD-52AB-4658-A4D0-4B883FC2A233}" type="parTrans" cxnId="{2CF0D74A-B6F6-4FE2-AC1C-527D038D4034}">
      <dgm:prSet/>
      <dgm:spPr/>
      <dgm:t>
        <a:bodyPr/>
        <a:lstStyle/>
        <a:p>
          <a:endParaRPr lang="en-US" sz="1400"/>
        </a:p>
      </dgm:t>
    </dgm:pt>
    <dgm:pt modelId="{F8A11A55-16B8-4E53-98BA-0A730F430AE9}" type="sibTrans" cxnId="{2CF0D74A-B6F6-4FE2-AC1C-527D038D4034}">
      <dgm:prSet/>
      <dgm:spPr/>
      <dgm:t>
        <a:bodyPr/>
        <a:lstStyle/>
        <a:p>
          <a:endParaRPr lang="en-US" sz="14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3422377-D143-423D-AE67-6AA645B1060C}"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en-US"/>
        </a:p>
      </dgm:t>
    </dgm:pt>
    <dgm:pt modelId="{9D1A0808-ECD4-4174-A478-47B99B73535C}">
      <dgm:prSet phldrT="[Text]" custT="1"/>
      <dgm:spPr>
        <a:solidFill>
          <a:schemeClr val="tx2">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1800" b="1" dirty="0">
              <a:solidFill>
                <a:schemeClr val="bg1"/>
              </a:solidFill>
            </a:rPr>
            <a:t>Leadership Competencies</a:t>
          </a:r>
        </a:p>
      </dgm:t>
    </dgm:pt>
    <dgm:pt modelId="{2F35F83A-0F73-4471-AB96-20F74142522C}" type="parTrans" cxnId="{4313FD7F-16AA-44EF-81CA-ADE10AB2825E}">
      <dgm:prSet/>
      <dgm:spPr/>
      <dgm:t>
        <a:bodyPr/>
        <a:lstStyle/>
        <a:p>
          <a:endParaRPr lang="en-US" sz="3200" b="1"/>
        </a:p>
      </dgm:t>
    </dgm:pt>
    <dgm:pt modelId="{61A22694-063D-422A-815E-38C01A1317BF}" type="sibTrans" cxnId="{4313FD7F-16AA-44EF-81CA-ADE10AB2825E}">
      <dgm:prSet/>
      <dgm:spPr/>
      <dgm:t>
        <a:bodyPr/>
        <a:lstStyle/>
        <a:p>
          <a:endParaRPr lang="en-US" sz="3200" b="1"/>
        </a:p>
      </dgm:t>
    </dgm:pt>
    <dgm:pt modelId="{1F20F86C-235E-4A93-8485-870498722715}">
      <dgm:prSet phldrT="[Text]" custT="1"/>
      <dgm:spPr/>
      <dgm:t>
        <a:bodyPr/>
        <a:lstStyle/>
        <a:p>
          <a:r>
            <a:rPr lang="en-US" sz="1400" b="0" dirty="0"/>
            <a:t>The 8 Leadership Competencies</a:t>
          </a:r>
        </a:p>
        <a:p>
          <a:endParaRPr lang="en-US" sz="1400" b="0" dirty="0"/>
        </a:p>
        <a:p>
          <a:r>
            <a:rPr lang="en-US" sz="1400" b="0" dirty="0"/>
            <a:t>Leadership behavioral Anchors for Level 1, 2 </a:t>
          </a:r>
          <a:br>
            <a:rPr lang="en-US" sz="1400" b="0" dirty="0"/>
          </a:br>
          <a:r>
            <a:rPr lang="en-US" sz="1400" b="0" dirty="0"/>
            <a:t>&amp; 3</a:t>
          </a:r>
        </a:p>
      </dgm:t>
    </dgm:pt>
    <dgm:pt modelId="{4646E87C-B660-4ED2-9821-64619E340295}" type="parTrans" cxnId="{C21C99A5-C889-4047-9646-5FFAFDCA40DA}">
      <dgm:prSet/>
      <dgm:spPr/>
      <dgm:t>
        <a:bodyPr/>
        <a:lstStyle/>
        <a:p>
          <a:endParaRPr lang="en-US" sz="3200" b="1"/>
        </a:p>
      </dgm:t>
    </dgm:pt>
    <dgm:pt modelId="{0CBB3618-25E1-4330-94EF-33ED27381D5B}" type="sibTrans" cxnId="{C21C99A5-C889-4047-9646-5FFAFDCA40DA}">
      <dgm:prSet/>
      <dgm:spPr/>
      <dgm:t>
        <a:bodyPr/>
        <a:lstStyle/>
        <a:p>
          <a:endParaRPr lang="en-US" sz="3200" b="1"/>
        </a:p>
      </dgm:t>
    </dgm:pt>
    <dgm:pt modelId="{8A1D2D09-DDB0-4501-BAA5-9B52BC1726FA}">
      <dgm:prSet phldrT="[Text]" custT="1"/>
      <dgm:spPr>
        <a:solidFill>
          <a:schemeClr val="tx2">
            <a:lumMod val="50000"/>
            <a:lumOff val="50000"/>
          </a:schemeClr>
        </a:solidFill>
        <a:ln>
          <a:solidFill>
            <a:schemeClr val="tx2">
              <a:lumMod val="50000"/>
              <a:lumOff val="50000"/>
            </a:schemeClr>
          </a:solidFill>
        </a:ln>
      </dgm:spPr>
      <dgm:t>
        <a:bodyPr/>
        <a:lstStyle/>
        <a:p>
          <a:r>
            <a:rPr lang="en-US" sz="1800" b="1" dirty="0">
              <a:solidFill>
                <a:schemeClr val="tx1"/>
              </a:solidFill>
            </a:rPr>
            <a:t>Resources</a:t>
          </a:r>
        </a:p>
      </dgm:t>
    </dgm:pt>
    <dgm:pt modelId="{1B7306C2-7790-45D4-806B-3DE4B669BB97}" type="parTrans" cxnId="{9487E68E-B837-41AA-A36B-298386612336}">
      <dgm:prSet/>
      <dgm:spPr/>
      <dgm:t>
        <a:bodyPr/>
        <a:lstStyle/>
        <a:p>
          <a:endParaRPr lang="en-US" sz="3200" b="1"/>
        </a:p>
      </dgm:t>
    </dgm:pt>
    <dgm:pt modelId="{F685E34D-B681-42DD-B5BA-0C7ADFCBDB26}" type="sibTrans" cxnId="{9487E68E-B837-41AA-A36B-298386612336}">
      <dgm:prSet/>
      <dgm:spPr/>
      <dgm:t>
        <a:bodyPr/>
        <a:lstStyle/>
        <a:p>
          <a:endParaRPr lang="en-US" sz="3200" b="1"/>
        </a:p>
      </dgm:t>
    </dgm:pt>
    <dgm:pt modelId="{D52AADE6-4A25-4E39-840F-3068688F7EAA}">
      <dgm:prSet phldrT="[Text]" custT="1"/>
      <dgm:spPr/>
      <dgm:t>
        <a:bodyPr/>
        <a:lstStyle/>
        <a:p>
          <a:pPr>
            <a:buFont typeface="Arial" panose="020B0604020202020204" pitchFamily="34" charset="0"/>
            <a:buChar char="•"/>
          </a:pPr>
          <a:r>
            <a:rPr lang="en-US" sz="1400" b="0" kern="1200" dirty="0">
              <a:solidFill>
                <a:prstClr val="black">
                  <a:hueOff val="0"/>
                  <a:satOff val="0"/>
                  <a:lumOff val="0"/>
                  <a:alphaOff val="0"/>
                </a:prstClr>
              </a:solidFill>
              <a:latin typeface="Calibri" panose="020F0502020204030204"/>
              <a:ea typeface="+mn-ea"/>
              <a:cs typeface="+mn-cs"/>
            </a:rPr>
            <a:t>Additional resources for context and best practices</a:t>
          </a:r>
        </a:p>
        <a:p>
          <a:r>
            <a:rPr lang="en-US" sz="1400" b="0" kern="1200" dirty="0">
              <a:solidFill>
                <a:prstClr val="black">
                  <a:hueOff val="0"/>
                  <a:satOff val="0"/>
                  <a:lumOff val="0"/>
                  <a:alphaOff val="0"/>
                </a:prstClr>
              </a:solidFill>
              <a:latin typeface="Calibri" panose="020F0502020204030204"/>
              <a:ea typeface="+mn-ea"/>
              <a:cs typeface="+mn-cs"/>
            </a:rPr>
            <a:t>Application suggestions</a:t>
          </a:r>
        </a:p>
      </dgm:t>
    </dgm:pt>
    <dgm:pt modelId="{BB3DB8A7-F033-4637-9FEA-C0EE5827A505}" type="parTrans" cxnId="{6468CD23-8018-4BEB-A2BE-EAA0453F4F2E}">
      <dgm:prSet/>
      <dgm:spPr/>
      <dgm:t>
        <a:bodyPr/>
        <a:lstStyle/>
        <a:p>
          <a:endParaRPr lang="en-US" sz="3200" b="1"/>
        </a:p>
      </dgm:t>
    </dgm:pt>
    <dgm:pt modelId="{D859F47E-68DF-422C-B3CB-566799D753D2}" type="sibTrans" cxnId="{6468CD23-8018-4BEB-A2BE-EAA0453F4F2E}">
      <dgm:prSet/>
      <dgm:spPr/>
      <dgm:t>
        <a:bodyPr/>
        <a:lstStyle/>
        <a:p>
          <a:endParaRPr lang="en-US" sz="3200" b="1"/>
        </a:p>
      </dgm:t>
    </dgm:pt>
    <dgm:pt modelId="{D7B7CB30-896C-45CC-A9FD-ADEACEAF74A1}">
      <dgm:prSet phldrT="[Text]" custT="1"/>
      <dgm:spPr>
        <a:solidFill>
          <a:schemeClr val="accent1">
            <a:lumMod val="50000"/>
          </a:schemeClr>
        </a:solidFill>
      </dgm:spPr>
      <dgm:t>
        <a:bodyPr/>
        <a:lstStyle/>
        <a:p>
          <a:r>
            <a:rPr lang="en-US" sz="1800" b="1" dirty="0">
              <a:solidFill>
                <a:schemeClr val="bg1"/>
              </a:solidFill>
            </a:rPr>
            <a:t>Development Interventions</a:t>
          </a:r>
        </a:p>
      </dgm:t>
    </dgm:pt>
    <dgm:pt modelId="{A51BE632-EBFD-47E2-98B8-27DAAFC6592E}" type="parTrans" cxnId="{0D47EA39-7FB0-4F47-A38C-C24F755904B7}">
      <dgm:prSet/>
      <dgm:spPr/>
      <dgm:t>
        <a:bodyPr/>
        <a:lstStyle/>
        <a:p>
          <a:endParaRPr lang="en-US" sz="3200" b="1"/>
        </a:p>
      </dgm:t>
    </dgm:pt>
    <dgm:pt modelId="{38B38C93-5E49-41D4-9B51-F20B7EE1DB4E}" type="sibTrans" cxnId="{0D47EA39-7FB0-4F47-A38C-C24F755904B7}">
      <dgm:prSet/>
      <dgm:spPr/>
      <dgm:t>
        <a:bodyPr/>
        <a:lstStyle/>
        <a:p>
          <a:endParaRPr lang="en-US" sz="3200" b="1"/>
        </a:p>
      </dgm:t>
    </dgm:pt>
    <dgm:pt modelId="{EA428D15-ECEB-4A90-BAC1-BBFD153C640C}">
      <dgm:prSet phldrT="[Text]" custT="1"/>
      <dgm:spPr/>
      <dgm:t>
        <a:bodyPr/>
        <a:lstStyle/>
        <a:p>
          <a:r>
            <a:rPr lang="en-US" sz="1400" b="0" kern="1200" dirty="0">
              <a:solidFill>
                <a:prstClr val="black">
                  <a:hueOff val="0"/>
                  <a:satOff val="0"/>
                  <a:lumOff val="0"/>
                  <a:alphaOff val="0"/>
                </a:prstClr>
              </a:solidFill>
              <a:latin typeface="Calibri" panose="020F0502020204030204"/>
              <a:ea typeface="+mn-ea"/>
              <a:cs typeface="+mn-cs"/>
            </a:rPr>
            <a:t>Tips for development</a:t>
          </a:r>
        </a:p>
        <a:p>
          <a:r>
            <a:rPr lang="en-US" sz="1400" b="0" kern="1200" dirty="0">
              <a:solidFill>
                <a:prstClr val="black">
                  <a:hueOff val="0"/>
                  <a:satOff val="0"/>
                  <a:lumOff val="0"/>
                  <a:alphaOff val="0"/>
                </a:prstClr>
              </a:solidFill>
              <a:latin typeface="Calibri" panose="020F0502020204030204"/>
              <a:ea typeface="+mn-ea"/>
              <a:cs typeface="+mn-cs"/>
            </a:rPr>
            <a:t>Job Assignments for Improvement</a:t>
          </a:r>
        </a:p>
      </dgm:t>
    </dgm:pt>
    <dgm:pt modelId="{6E4D598B-26F2-44F2-B05C-753C3C789971}" type="parTrans" cxnId="{5078ED00-4CA5-45A1-BA05-89205620AFF2}">
      <dgm:prSet/>
      <dgm:spPr/>
      <dgm:t>
        <a:bodyPr/>
        <a:lstStyle/>
        <a:p>
          <a:endParaRPr lang="en-US" sz="3200" b="1"/>
        </a:p>
      </dgm:t>
    </dgm:pt>
    <dgm:pt modelId="{59A19C95-B39A-4FCC-9190-C84CBE1B69F1}" type="sibTrans" cxnId="{5078ED00-4CA5-45A1-BA05-89205620AFF2}">
      <dgm:prSet/>
      <dgm:spPr/>
      <dgm:t>
        <a:bodyPr/>
        <a:lstStyle/>
        <a:p>
          <a:endParaRPr lang="en-US" sz="3200" b="1"/>
        </a:p>
      </dgm:t>
    </dgm:pt>
    <dgm:pt modelId="{7DA049BC-9847-4A51-94F5-6193E6141B75}">
      <dgm:prSet phldrT="[Text]" custT="1"/>
      <dgm:spPr>
        <a:solidFill>
          <a:schemeClr val="accent1">
            <a:lumMod val="40000"/>
            <a:lumOff val="60000"/>
          </a:schemeClr>
        </a:solidFill>
      </dgm:spPr>
      <dgm:t>
        <a:bodyPr/>
        <a:lstStyle/>
        <a:p>
          <a:r>
            <a:rPr lang="en-US" sz="1800" b="1" dirty="0">
              <a:solidFill>
                <a:schemeClr val="tx1"/>
              </a:solidFill>
            </a:rPr>
            <a:t>Sub-Optimal behaviors</a:t>
          </a:r>
        </a:p>
      </dgm:t>
    </dgm:pt>
    <dgm:pt modelId="{95E90F93-0BA6-4760-9776-21D6269E2149}" type="parTrans" cxnId="{15ED58F9-897D-43C5-80F2-9C7FFA323132}">
      <dgm:prSet/>
      <dgm:spPr/>
      <dgm:t>
        <a:bodyPr/>
        <a:lstStyle/>
        <a:p>
          <a:endParaRPr lang="en-US" sz="3200" b="1"/>
        </a:p>
      </dgm:t>
    </dgm:pt>
    <dgm:pt modelId="{40D1CA58-734A-4A21-A109-E5CE6068BBF5}" type="sibTrans" cxnId="{15ED58F9-897D-43C5-80F2-9C7FFA323132}">
      <dgm:prSet/>
      <dgm:spPr/>
      <dgm:t>
        <a:bodyPr/>
        <a:lstStyle/>
        <a:p>
          <a:endParaRPr lang="en-US" sz="3200" b="1"/>
        </a:p>
      </dgm:t>
    </dgm:pt>
    <dgm:pt modelId="{CFB048CD-B43B-47F7-8012-DA9EF91D6ACA}">
      <dgm:prSet phldrT="[Text]" custT="1"/>
      <dgm:spPr/>
      <dgm:t>
        <a:bodyPr/>
        <a:lstStyle/>
        <a:p>
          <a:r>
            <a:rPr lang="en-US" sz="1400" b="0" dirty="0"/>
            <a:t>Less skilled behaviors</a:t>
          </a:r>
        </a:p>
        <a:p>
          <a:r>
            <a:rPr lang="en-US" sz="1400" b="0" dirty="0"/>
            <a:t>Overuse of skill</a:t>
          </a:r>
        </a:p>
        <a:p>
          <a:r>
            <a:rPr lang="en-US" sz="1400" b="0" dirty="0"/>
            <a:t>Causes of lower skills</a:t>
          </a:r>
        </a:p>
      </dgm:t>
    </dgm:pt>
    <dgm:pt modelId="{F48844E4-BEE7-4808-9218-186A8716AC40}" type="parTrans" cxnId="{3634C217-CB62-45BA-A16F-DFE989EA4C63}">
      <dgm:prSet/>
      <dgm:spPr/>
      <dgm:t>
        <a:bodyPr/>
        <a:lstStyle/>
        <a:p>
          <a:endParaRPr lang="en-US" sz="3200" b="1"/>
        </a:p>
      </dgm:t>
    </dgm:pt>
    <dgm:pt modelId="{4DCD1B16-80FF-4B43-9AD5-BA1C37C6D1B0}" type="sibTrans" cxnId="{3634C217-CB62-45BA-A16F-DFE989EA4C63}">
      <dgm:prSet/>
      <dgm:spPr/>
      <dgm:t>
        <a:bodyPr/>
        <a:lstStyle/>
        <a:p>
          <a:endParaRPr lang="en-US" sz="3200" b="1"/>
        </a:p>
      </dgm:t>
    </dgm:pt>
    <dgm:pt modelId="{3091CBB3-2980-471F-9C24-93179688C866}">
      <dgm:prSet custT="1"/>
      <dgm:spPr/>
      <dgm:t>
        <a:bodyPr/>
        <a:lstStyle/>
        <a:p>
          <a:endParaRPr lang="en-US" sz="1400" b="0" kern="1200" dirty="0">
            <a:solidFill>
              <a:prstClr val="black">
                <a:hueOff val="0"/>
                <a:satOff val="0"/>
                <a:lumOff val="0"/>
                <a:alphaOff val="0"/>
              </a:prstClr>
            </a:solidFill>
            <a:latin typeface="Calibri" panose="020F0502020204030204"/>
            <a:ea typeface="+mn-ea"/>
            <a:cs typeface="+mn-cs"/>
          </a:endParaRPr>
        </a:p>
      </dgm:t>
    </dgm:pt>
    <dgm:pt modelId="{8E68062B-C52F-4AF1-8AC4-B4BCBCF01EC8}" type="parTrans" cxnId="{7065A835-024E-4C35-9591-63AA6E9B057F}">
      <dgm:prSet/>
      <dgm:spPr/>
      <dgm:t>
        <a:bodyPr/>
        <a:lstStyle/>
        <a:p>
          <a:endParaRPr lang="en-US"/>
        </a:p>
      </dgm:t>
    </dgm:pt>
    <dgm:pt modelId="{93769EA8-E8D7-4FAE-9FDF-BB472D02E076}" type="sibTrans" cxnId="{7065A835-024E-4C35-9591-63AA6E9B057F}">
      <dgm:prSet/>
      <dgm:spPr/>
      <dgm:t>
        <a:bodyPr/>
        <a:lstStyle/>
        <a:p>
          <a:endParaRPr lang="en-US"/>
        </a:p>
      </dgm:t>
    </dgm:pt>
    <dgm:pt modelId="{C72712CF-5FEB-49AE-9EE9-5A5CC68CF699}">
      <dgm:prSet custT="1"/>
      <dgm:spPr/>
      <dgm:t>
        <a:bodyPr/>
        <a:lstStyle/>
        <a:p>
          <a:endParaRPr lang="en-US" sz="1400" b="0" dirty="0"/>
        </a:p>
      </dgm:t>
    </dgm:pt>
    <dgm:pt modelId="{D61EFE60-24C5-4E98-8DC9-44A9C9073CA8}" type="parTrans" cxnId="{91C35C54-6077-4D9E-8BFB-8D906D09ADAC}">
      <dgm:prSet/>
      <dgm:spPr/>
      <dgm:t>
        <a:bodyPr/>
        <a:lstStyle/>
        <a:p>
          <a:endParaRPr lang="en-US"/>
        </a:p>
      </dgm:t>
    </dgm:pt>
    <dgm:pt modelId="{85682EEE-A21F-4AB8-A69F-34870EAC2FAF}" type="sibTrans" cxnId="{91C35C54-6077-4D9E-8BFB-8D906D09ADAC}">
      <dgm:prSet/>
      <dgm:spPr/>
      <dgm:t>
        <a:bodyPr/>
        <a:lstStyle/>
        <a:p>
          <a:endParaRPr lang="en-US"/>
        </a:p>
      </dgm:t>
    </dgm:pt>
    <dgm:pt modelId="{CA2DF447-558B-4F78-B9FB-733BD0C470CF}">
      <dgm:prSet custT="1"/>
      <dgm:spPr/>
      <dgm:t>
        <a:bodyPr/>
        <a:lstStyle/>
        <a:p>
          <a:pPr>
            <a:buFont typeface="Arial" panose="020B0604020202020204" pitchFamily="34" charset="0"/>
            <a:buChar char="•"/>
          </a:pPr>
          <a:endParaRPr lang="en-US" sz="1400" b="0" kern="1200" dirty="0">
            <a:solidFill>
              <a:prstClr val="black">
                <a:hueOff val="0"/>
                <a:satOff val="0"/>
                <a:lumOff val="0"/>
                <a:alphaOff val="0"/>
              </a:prstClr>
            </a:solidFill>
            <a:latin typeface="Calibri" panose="020F0502020204030204"/>
            <a:ea typeface="+mn-ea"/>
            <a:cs typeface="+mn-cs"/>
          </a:endParaRPr>
        </a:p>
      </dgm:t>
    </dgm:pt>
    <dgm:pt modelId="{D2FB741B-9BCB-4FE0-B184-D2538C0D9EA8}" type="parTrans" cxnId="{CF9FE221-05EE-435B-9C1F-BAA09336EF13}">
      <dgm:prSet/>
      <dgm:spPr/>
      <dgm:t>
        <a:bodyPr/>
        <a:lstStyle/>
        <a:p>
          <a:endParaRPr lang="en-US"/>
        </a:p>
      </dgm:t>
    </dgm:pt>
    <dgm:pt modelId="{7A3BEF11-4012-489B-B06D-81C1E60CAB7C}" type="sibTrans" cxnId="{CF9FE221-05EE-435B-9C1F-BAA09336EF13}">
      <dgm:prSet/>
      <dgm:spPr/>
      <dgm:t>
        <a:bodyPr/>
        <a:lstStyle/>
        <a:p>
          <a:endParaRPr lang="en-US"/>
        </a:p>
      </dgm:t>
    </dgm:pt>
    <dgm:pt modelId="{C194F133-9F8F-45ED-A719-B832EF0E07E2}" type="pres">
      <dgm:prSet presAssocID="{23422377-D143-423D-AE67-6AA645B1060C}" presName="Name0" presStyleCnt="0">
        <dgm:presLayoutVars>
          <dgm:chMax val="5"/>
          <dgm:chPref val="5"/>
          <dgm:dir/>
          <dgm:animLvl val="lvl"/>
        </dgm:presLayoutVars>
      </dgm:prSet>
      <dgm:spPr/>
    </dgm:pt>
    <dgm:pt modelId="{EA7080D3-B98E-4BF5-B77F-7D4508B79A8E}" type="pres">
      <dgm:prSet presAssocID="{9D1A0808-ECD4-4174-A478-47B99B73535C}" presName="parentText1" presStyleLbl="node1" presStyleIdx="0" presStyleCnt="4">
        <dgm:presLayoutVars>
          <dgm:chMax/>
          <dgm:chPref val="3"/>
          <dgm:bulletEnabled val="1"/>
        </dgm:presLayoutVars>
      </dgm:prSet>
      <dgm:spPr/>
    </dgm:pt>
    <dgm:pt modelId="{84451008-A126-4E0E-9D38-FB26C0C5D3E3}" type="pres">
      <dgm:prSet presAssocID="{9D1A0808-ECD4-4174-A478-47B99B73535C}" presName="childText1" presStyleLbl="solidAlignAcc1" presStyleIdx="0" presStyleCnt="4">
        <dgm:presLayoutVars>
          <dgm:chMax val="0"/>
          <dgm:chPref val="0"/>
          <dgm:bulletEnabled val="1"/>
        </dgm:presLayoutVars>
      </dgm:prSet>
      <dgm:spPr/>
    </dgm:pt>
    <dgm:pt modelId="{F2D6BA86-D470-4F8B-AF58-530413788E6A}" type="pres">
      <dgm:prSet presAssocID="{8A1D2D09-DDB0-4501-BAA5-9B52BC1726FA}" presName="parentText2" presStyleLbl="node1" presStyleIdx="1" presStyleCnt="4" custScaleX="102890">
        <dgm:presLayoutVars>
          <dgm:chMax/>
          <dgm:chPref val="3"/>
          <dgm:bulletEnabled val="1"/>
        </dgm:presLayoutVars>
      </dgm:prSet>
      <dgm:spPr/>
    </dgm:pt>
    <dgm:pt modelId="{8D31D459-4F6B-459B-B54F-ED7F325C543F}" type="pres">
      <dgm:prSet presAssocID="{8A1D2D09-DDB0-4501-BAA5-9B52BC1726FA}" presName="childText2" presStyleLbl="solidAlignAcc1" presStyleIdx="1" presStyleCnt="4" custScaleX="110464">
        <dgm:presLayoutVars>
          <dgm:chMax val="0"/>
          <dgm:chPref val="0"/>
          <dgm:bulletEnabled val="1"/>
        </dgm:presLayoutVars>
      </dgm:prSet>
      <dgm:spPr/>
    </dgm:pt>
    <dgm:pt modelId="{2478D5C1-EB63-4E8B-B797-0284878493DF}" type="pres">
      <dgm:prSet presAssocID="{7DA049BC-9847-4A51-94F5-6193E6141B75}" presName="parentText3" presStyleLbl="node1" presStyleIdx="2" presStyleCnt="4">
        <dgm:presLayoutVars>
          <dgm:chMax/>
          <dgm:chPref val="3"/>
          <dgm:bulletEnabled val="1"/>
        </dgm:presLayoutVars>
      </dgm:prSet>
      <dgm:spPr/>
    </dgm:pt>
    <dgm:pt modelId="{484B58A4-62AA-43AC-A2C6-8939CB1E8796}" type="pres">
      <dgm:prSet presAssocID="{7DA049BC-9847-4A51-94F5-6193E6141B75}" presName="childText3" presStyleLbl="solidAlignAcc1" presStyleIdx="2" presStyleCnt="4">
        <dgm:presLayoutVars>
          <dgm:chMax val="0"/>
          <dgm:chPref val="0"/>
          <dgm:bulletEnabled val="1"/>
        </dgm:presLayoutVars>
      </dgm:prSet>
      <dgm:spPr/>
    </dgm:pt>
    <dgm:pt modelId="{354A28D8-FDDA-406D-81D7-EB8478F36E6E}" type="pres">
      <dgm:prSet presAssocID="{D7B7CB30-896C-45CC-A9FD-ADEACEAF74A1}" presName="parentText4" presStyleLbl="node1" presStyleIdx="3" presStyleCnt="4">
        <dgm:presLayoutVars>
          <dgm:chMax/>
          <dgm:chPref val="3"/>
          <dgm:bulletEnabled val="1"/>
        </dgm:presLayoutVars>
      </dgm:prSet>
      <dgm:spPr/>
    </dgm:pt>
    <dgm:pt modelId="{1950169A-CAE5-4A76-9EE0-4FA9D50D60AD}" type="pres">
      <dgm:prSet presAssocID="{D7B7CB30-896C-45CC-A9FD-ADEACEAF74A1}" presName="childText4" presStyleLbl="solidAlignAcc1" presStyleIdx="3" presStyleCnt="4">
        <dgm:presLayoutVars>
          <dgm:chMax val="0"/>
          <dgm:chPref val="0"/>
          <dgm:bulletEnabled val="1"/>
        </dgm:presLayoutVars>
      </dgm:prSet>
      <dgm:spPr/>
    </dgm:pt>
  </dgm:ptLst>
  <dgm:cxnLst>
    <dgm:cxn modelId="{5078ED00-4CA5-45A1-BA05-89205620AFF2}" srcId="{D7B7CB30-896C-45CC-A9FD-ADEACEAF74A1}" destId="{EA428D15-ECEB-4A90-BAC1-BBFD153C640C}" srcOrd="0" destOrd="0" parTransId="{6E4D598B-26F2-44F2-B05C-753C3C789971}" sibTransId="{59A19C95-B39A-4FCC-9190-C84CBE1B69F1}"/>
    <dgm:cxn modelId="{76EBB505-819A-4574-BDCC-D7E803E071B2}" type="presOf" srcId="{7DA049BC-9847-4A51-94F5-6193E6141B75}" destId="{2478D5C1-EB63-4E8B-B797-0284878493DF}" srcOrd="0" destOrd="0" presId="urn:microsoft.com/office/officeart/2009/3/layout/IncreasingArrowsProcess"/>
    <dgm:cxn modelId="{3634C217-CB62-45BA-A16F-DFE989EA4C63}" srcId="{7DA049BC-9847-4A51-94F5-6193E6141B75}" destId="{CFB048CD-B43B-47F7-8012-DA9EF91D6ACA}" srcOrd="0" destOrd="0" parTransId="{F48844E4-BEE7-4808-9218-186A8716AC40}" sibTransId="{4DCD1B16-80FF-4B43-9AD5-BA1C37C6D1B0}"/>
    <dgm:cxn modelId="{95C2B21F-A8DA-44A9-BC18-211E9003DE19}" type="presOf" srcId="{D52AADE6-4A25-4E39-840F-3068688F7EAA}" destId="{8D31D459-4F6B-459B-B54F-ED7F325C543F}" srcOrd="0" destOrd="0" presId="urn:microsoft.com/office/officeart/2009/3/layout/IncreasingArrowsProcess"/>
    <dgm:cxn modelId="{CF9FE221-05EE-435B-9C1F-BAA09336EF13}" srcId="{8A1D2D09-DDB0-4501-BAA5-9B52BC1726FA}" destId="{CA2DF447-558B-4F78-B9FB-733BD0C470CF}" srcOrd="1" destOrd="0" parTransId="{D2FB741B-9BCB-4FE0-B184-D2538C0D9EA8}" sibTransId="{7A3BEF11-4012-489B-B06D-81C1E60CAB7C}"/>
    <dgm:cxn modelId="{6468CD23-8018-4BEB-A2BE-EAA0453F4F2E}" srcId="{8A1D2D09-DDB0-4501-BAA5-9B52BC1726FA}" destId="{D52AADE6-4A25-4E39-840F-3068688F7EAA}" srcOrd="0" destOrd="0" parTransId="{BB3DB8A7-F033-4637-9FEA-C0EE5827A505}" sibTransId="{D859F47E-68DF-422C-B3CB-566799D753D2}"/>
    <dgm:cxn modelId="{7065A835-024E-4C35-9591-63AA6E9B057F}" srcId="{D7B7CB30-896C-45CC-A9FD-ADEACEAF74A1}" destId="{3091CBB3-2980-471F-9C24-93179688C866}" srcOrd="1" destOrd="0" parTransId="{8E68062B-C52F-4AF1-8AC4-B4BCBCF01EC8}" sibTransId="{93769EA8-E8D7-4FAE-9FDF-BB472D02E076}"/>
    <dgm:cxn modelId="{58815A36-4F4C-419B-8958-6BC6D680BD4D}" type="presOf" srcId="{D7B7CB30-896C-45CC-A9FD-ADEACEAF74A1}" destId="{354A28D8-FDDA-406D-81D7-EB8478F36E6E}" srcOrd="0" destOrd="0" presId="urn:microsoft.com/office/officeart/2009/3/layout/IncreasingArrowsProcess"/>
    <dgm:cxn modelId="{0D47EA39-7FB0-4F47-A38C-C24F755904B7}" srcId="{23422377-D143-423D-AE67-6AA645B1060C}" destId="{D7B7CB30-896C-45CC-A9FD-ADEACEAF74A1}" srcOrd="3" destOrd="0" parTransId="{A51BE632-EBFD-47E2-98B8-27DAAFC6592E}" sibTransId="{38B38C93-5E49-41D4-9B51-F20B7EE1DB4E}"/>
    <dgm:cxn modelId="{5657BC4A-6785-41D3-B50E-6C4F198F0A16}" type="presOf" srcId="{C72712CF-5FEB-49AE-9EE9-5A5CC68CF699}" destId="{484B58A4-62AA-43AC-A2C6-8939CB1E8796}" srcOrd="0" destOrd="1" presId="urn:microsoft.com/office/officeart/2009/3/layout/IncreasingArrowsProcess"/>
    <dgm:cxn modelId="{91C35C54-6077-4D9E-8BFB-8D906D09ADAC}" srcId="{7DA049BC-9847-4A51-94F5-6193E6141B75}" destId="{C72712CF-5FEB-49AE-9EE9-5A5CC68CF699}" srcOrd="1" destOrd="0" parTransId="{D61EFE60-24C5-4E98-8DC9-44A9C9073CA8}" sibTransId="{85682EEE-A21F-4AB8-A69F-34870EAC2FAF}"/>
    <dgm:cxn modelId="{73D36856-1EFE-4C50-92D2-D9455E746CEF}" type="presOf" srcId="{8A1D2D09-DDB0-4501-BAA5-9B52BC1726FA}" destId="{F2D6BA86-D470-4F8B-AF58-530413788E6A}" srcOrd="0" destOrd="0" presId="urn:microsoft.com/office/officeart/2009/3/layout/IncreasingArrowsProcess"/>
    <dgm:cxn modelId="{4313FD7F-16AA-44EF-81CA-ADE10AB2825E}" srcId="{23422377-D143-423D-AE67-6AA645B1060C}" destId="{9D1A0808-ECD4-4174-A478-47B99B73535C}" srcOrd="0" destOrd="0" parTransId="{2F35F83A-0F73-4471-AB96-20F74142522C}" sibTransId="{61A22694-063D-422A-815E-38C01A1317BF}"/>
    <dgm:cxn modelId="{9487E68E-B837-41AA-A36B-298386612336}" srcId="{23422377-D143-423D-AE67-6AA645B1060C}" destId="{8A1D2D09-DDB0-4501-BAA5-9B52BC1726FA}" srcOrd="1" destOrd="0" parTransId="{1B7306C2-7790-45D4-806B-3DE4B669BB97}" sibTransId="{F685E34D-B681-42DD-B5BA-0C7ADFCBDB26}"/>
    <dgm:cxn modelId="{C21C99A5-C889-4047-9646-5FFAFDCA40DA}" srcId="{9D1A0808-ECD4-4174-A478-47B99B73535C}" destId="{1F20F86C-235E-4A93-8485-870498722715}" srcOrd="0" destOrd="0" parTransId="{4646E87C-B660-4ED2-9821-64619E340295}" sibTransId="{0CBB3618-25E1-4330-94EF-33ED27381D5B}"/>
    <dgm:cxn modelId="{BF0C83C0-6383-4419-909E-9D0D9EE7DEF3}" type="presOf" srcId="{CA2DF447-558B-4F78-B9FB-733BD0C470CF}" destId="{8D31D459-4F6B-459B-B54F-ED7F325C543F}" srcOrd="0" destOrd="1" presId="urn:microsoft.com/office/officeart/2009/3/layout/IncreasingArrowsProcess"/>
    <dgm:cxn modelId="{BFCBA2C6-2DE8-4D48-8F61-5EF93FBC8B43}" type="presOf" srcId="{EA428D15-ECEB-4A90-BAC1-BBFD153C640C}" destId="{1950169A-CAE5-4A76-9EE0-4FA9D50D60AD}" srcOrd="0" destOrd="0" presId="urn:microsoft.com/office/officeart/2009/3/layout/IncreasingArrowsProcess"/>
    <dgm:cxn modelId="{120D66D7-4592-45CB-AAE3-77796638A6E3}" type="presOf" srcId="{CFB048CD-B43B-47F7-8012-DA9EF91D6ACA}" destId="{484B58A4-62AA-43AC-A2C6-8939CB1E8796}" srcOrd="0" destOrd="0" presId="urn:microsoft.com/office/officeart/2009/3/layout/IncreasingArrowsProcess"/>
    <dgm:cxn modelId="{90D422E0-182F-4C80-AFEC-0FBD858F4FAC}" type="presOf" srcId="{1F20F86C-235E-4A93-8485-870498722715}" destId="{84451008-A126-4E0E-9D38-FB26C0C5D3E3}" srcOrd="0" destOrd="0" presId="urn:microsoft.com/office/officeart/2009/3/layout/IncreasingArrowsProcess"/>
    <dgm:cxn modelId="{4D0791EC-54D6-4A48-B74F-DCCFDC5F8151}" type="presOf" srcId="{23422377-D143-423D-AE67-6AA645B1060C}" destId="{C194F133-9F8F-45ED-A719-B832EF0E07E2}" srcOrd="0" destOrd="0" presId="urn:microsoft.com/office/officeart/2009/3/layout/IncreasingArrowsProcess"/>
    <dgm:cxn modelId="{77E1BCEE-9BE4-4B34-B051-FC5C4EB9670F}" type="presOf" srcId="{3091CBB3-2980-471F-9C24-93179688C866}" destId="{1950169A-CAE5-4A76-9EE0-4FA9D50D60AD}" srcOrd="0" destOrd="1" presId="urn:microsoft.com/office/officeart/2009/3/layout/IncreasingArrowsProcess"/>
    <dgm:cxn modelId="{2EBD64F5-0E26-4F9A-A652-CC55D6676CA0}" type="presOf" srcId="{9D1A0808-ECD4-4174-A478-47B99B73535C}" destId="{EA7080D3-B98E-4BF5-B77F-7D4508B79A8E}" srcOrd="0" destOrd="0" presId="urn:microsoft.com/office/officeart/2009/3/layout/IncreasingArrowsProcess"/>
    <dgm:cxn modelId="{15ED58F9-897D-43C5-80F2-9C7FFA323132}" srcId="{23422377-D143-423D-AE67-6AA645B1060C}" destId="{7DA049BC-9847-4A51-94F5-6193E6141B75}" srcOrd="2" destOrd="0" parTransId="{95E90F93-0BA6-4760-9776-21D6269E2149}" sibTransId="{40D1CA58-734A-4A21-A109-E5CE6068BBF5}"/>
    <dgm:cxn modelId="{690D99D3-E322-484F-B6DC-DF4461E7948B}" type="presParOf" srcId="{C194F133-9F8F-45ED-A719-B832EF0E07E2}" destId="{EA7080D3-B98E-4BF5-B77F-7D4508B79A8E}" srcOrd="0" destOrd="0" presId="urn:microsoft.com/office/officeart/2009/3/layout/IncreasingArrowsProcess"/>
    <dgm:cxn modelId="{C8A5AD66-9062-4FB8-9207-69EB2CB6B030}" type="presParOf" srcId="{C194F133-9F8F-45ED-A719-B832EF0E07E2}" destId="{84451008-A126-4E0E-9D38-FB26C0C5D3E3}" srcOrd="1" destOrd="0" presId="urn:microsoft.com/office/officeart/2009/3/layout/IncreasingArrowsProcess"/>
    <dgm:cxn modelId="{C797B15A-487F-410B-8006-795002753363}" type="presParOf" srcId="{C194F133-9F8F-45ED-A719-B832EF0E07E2}" destId="{F2D6BA86-D470-4F8B-AF58-530413788E6A}" srcOrd="2" destOrd="0" presId="urn:microsoft.com/office/officeart/2009/3/layout/IncreasingArrowsProcess"/>
    <dgm:cxn modelId="{97775EA0-8D4E-4313-9498-5982F8B7B682}" type="presParOf" srcId="{C194F133-9F8F-45ED-A719-B832EF0E07E2}" destId="{8D31D459-4F6B-459B-B54F-ED7F325C543F}" srcOrd="3" destOrd="0" presId="urn:microsoft.com/office/officeart/2009/3/layout/IncreasingArrowsProcess"/>
    <dgm:cxn modelId="{72E084D1-A4D3-4DBD-8C55-EED3D59EEF6B}" type="presParOf" srcId="{C194F133-9F8F-45ED-A719-B832EF0E07E2}" destId="{2478D5C1-EB63-4E8B-B797-0284878493DF}" srcOrd="4" destOrd="0" presId="urn:microsoft.com/office/officeart/2009/3/layout/IncreasingArrowsProcess"/>
    <dgm:cxn modelId="{663C1C5C-F549-4EEE-96DC-F84F46782FAE}" type="presParOf" srcId="{C194F133-9F8F-45ED-A719-B832EF0E07E2}" destId="{484B58A4-62AA-43AC-A2C6-8939CB1E8796}" srcOrd="5" destOrd="0" presId="urn:microsoft.com/office/officeart/2009/3/layout/IncreasingArrowsProcess"/>
    <dgm:cxn modelId="{49318A66-41B5-47EB-BC49-07968E10A220}" type="presParOf" srcId="{C194F133-9F8F-45ED-A719-B832EF0E07E2}" destId="{354A28D8-FDDA-406D-81D7-EB8478F36E6E}" srcOrd="6" destOrd="0" presId="urn:microsoft.com/office/officeart/2009/3/layout/IncreasingArrowsProcess"/>
    <dgm:cxn modelId="{5913112C-016A-4523-8F44-544BF17CF61F}" type="presParOf" srcId="{C194F133-9F8F-45ED-A719-B832EF0E07E2}" destId="{1950169A-CAE5-4A76-9EE0-4FA9D50D60AD}" srcOrd="7"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dgm:spPr/>
      <dgm:t>
        <a:bodyPr/>
        <a:lstStyle/>
        <a:p>
          <a:r>
            <a:rPr lang="en-US" dirty="0"/>
            <a:t>Activate Innovation</a:t>
          </a:r>
        </a:p>
      </dgm:t>
    </dgm:pt>
    <dgm:pt modelId="{6D6BF466-8DE2-4ECF-BA18-23AA9E2CF708}" type="parTrans" cxnId="{B7CD78FB-D590-40AB-874E-E3446BCB9219}">
      <dgm:prSet/>
      <dgm:spPr/>
      <dgm:t>
        <a:bodyPr/>
        <a:lstStyle/>
        <a:p>
          <a:endParaRPr lang="en-US"/>
        </a:p>
      </dgm:t>
    </dgm:pt>
    <dgm:pt modelId="{ADD91C3F-037C-4E84-8B6E-60AE5F8FCEF2}" type="sibTrans" cxnId="{B7CD78FB-D590-40AB-874E-E3446BCB9219}">
      <dgm:prSet/>
      <dgm:spPr/>
      <dgm:t>
        <a:bodyPr/>
        <a:lstStyle/>
        <a:p>
          <a:endParaRPr lang="en-US"/>
        </a:p>
      </dgm:t>
    </dgm:pt>
    <dgm:pt modelId="{3097378F-7487-4C66-AE53-17259C2C5650}">
      <dgm:prSet phldrT="[Text]"/>
      <dgm:spPr/>
      <dgm:t>
        <a:bodyPr/>
        <a:lstStyle/>
        <a:p>
          <a:r>
            <a:rPr lang="en-US" dirty="0"/>
            <a:t>Inspire our People</a:t>
          </a:r>
        </a:p>
      </dgm:t>
    </dgm:pt>
    <dgm:pt modelId="{663263BE-89FA-4057-8775-27511824F5CB}" type="parTrans" cxnId="{F0879D8A-2030-4032-B1C0-8A0A4D5BC4FC}">
      <dgm:prSet/>
      <dgm:spPr/>
      <dgm:t>
        <a:bodyPr/>
        <a:lstStyle/>
        <a:p>
          <a:endParaRPr lang="en-US"/>
        </a:p>
      </dgm:t>
    </dgm:pt>
    <dgm:pt modelId="{30AC92D9-23A4-403A-9FB5-161C56B609B8}" type="sibTrans" cxnId="{F0879D8A-2030-4032-B1C0-8A0A4D5BC4FC}">
      <dgm:prSet/>
      <dgm:spPr/>
      <dgm:t>
        <a:bodyPr/>
        <a:lstStyle/>
        <a:p>
          <a:endParaRPr lang="en-US"/>
        </a:p>
      </dgm:t>
    </dgm:pt>
    <dgm:pt modelId="{B15B128D-E74F-4E14-AD8C-21CA2F893690}">
      <dgm:prSet phldrT="[Text]"/>
      <dgm:spPr>
        <a:solidFill>
          <a:srgbClr val="4472C4"/>
        </a:solidFill>
        <a:ln>
          <a:solidFill>
            <a:schemeClr val="tx1"/>
          </a:solidFill>
        </a:ln>
      </dgm:spPr>
      <dgm:t>
        <a:bodyPr/>
        <a:lstStyle/>
        <a:p>
          <a:r>
            <a:rPr lang="en-US" dirty="0">
              <a:solidFill>
                <a:schemeClr val="bg1"/>
              </a:solidFill>
            </a:rPr>
            <a:t>Grow our Business</a:t>
          </a:r>
        </a:p>
      </dgm:t>
    </dgm:pt>
    <dgm:pt modelId="{A8A1E2FD-52AB-4658-A4D0-4B883FC2A233}" type="parTrans" cxnId="{2CF0D74A-B6F6-4FE2-AC1C-527D038D4034}">
      <dgm:prSet/>
      <dgm:spPr/>
      <dgm:t>
        <a:bodyPr/>
        <a:lstStyle/>
        <a:p>
          <a:endParaRPr lang="en-US"/>
        </a:p>
      </dgm:t>
    </dgm:pt>
    <dgm:pt modelId="{F8A11A55-16B8-4E53-98BA-0A730F430AE9}" type="sibTrans" cxnId="{2CF0D74A-B6F6-4FE2-AC1C-527D038D4034}">
      <dgm:prSet/>
      <dgm:spPr/>
      <dgm:t>
        <a:bodyPr/>
        <a:lstStyle/>
        <a:p>
          <a:endParaRPr lang="en-US"/>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dgm:t>
        <a:bodyPr/>
        <a:lstStyle/>
        <a:p>
          <a:r>
            <a:rPr lang="en-US" sz="300" dirty="0"/>
            <a:t>Activate Innovation</a:t>
          </a:r>
        </a:p>
      </dgm:t>
    </dgm:pt>
    <dgm:pt modelId="{6D6BF466-8DE2-4ECF-BA18-23AA9E2CF708}" type="parTrans" cxnId="{B7CD78FB-D590-40AB-874E-E3446BCB9219}">
      <dgm:prSet/>
      <dgm:spPr/>
      <dgm:t>
        <a:bodyPr/>
        <a:lstStyle/>
        <a:p>
          <a:endParaRPr lang="en-US" sz="1400"/>
        </a:p>
      </dgm:t>
    </dgm:pt>
    <dgm:pt modelId="{ADD91C3F-037C-4E84-8B6E-60AE5F8FCEF2}" type="sibTrans" cxnId="{B7CD78FB-D590-40AB-874E-E3446BCB9219}">
      <dgm:prSet/>
      <dgm:spPr/>
      <dgm:t>
        <a:bodyPr/>
        <a:lstStyle/>
        <a:p>
          <a:endParaRPr lang="en-US" sz="14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400"/>
        </a:p>
      </dgm:t>
    </dgm:pt>
    <dgm:pt modelId="{30AC92D9-23A4-403A-9FB5-161C56B609B8}" type="sibTrans" cxnId="{F0879D8A-2030-4032-B1C0-8A0A4D5BC4FC}">
      <dgm:prSet/>
      <dgm:spPr/>
      <dgm:t>
        <a:bodyPr/>
        <a:lstStyle/>
        <a:p>
          <a:endParaRPr lang="en-US" sz="1400"/>
        </a:p>
      </dgm:t>
    </dgm:pt>
    <dgm:pt modelId="{B15B128D-E74F-4E14-AD8C-21CA2F893690}">
      <dgm:prSet phldrT="[Text]" custT="1"/>
      <dgm:spPr>
        <a:solidFill>
          <a:srgbClr val="4472C4"/>
        </a:solidFill>
        <a:ln>
          <a:solidFill>
            <a:schemeClr val="tx1"/>
          </a:solidFill>
        </a:ln>
      </dgm:spPr>
      <dgm:t>
        <a:bodyPr/>
        <a:lstStyle/>
        <a:p>
          <a:r>
            <a:rPr lang="en-US" sz="300" dirty="0">
              <a:solidFill>
                <a:schemeClr val="bg1"/>
              </a:solidFill>
            </a:rPr>
            <a:t>Grow our Business</a:t>
          </a:r>
        </a:p>
      </dgm:t>
    </dgm:pt>
    <dgm:pt modelId="{A8A1E2FD-52AB-4658-A4D0-4B883FC2A233}" type="parTrans" cxnId="{2CF0D74A-B6F6-4FE2-AC1C-527D038D4034}">
      <dgm:prSet/>
      <dgm:spPr/>
      <dgm:t>
        <a:bodyPr/>
        <a:lstStyle/>
        <a:p>
          <a:endParaRPr lang="en-US" sz="1400"/>
        </a:p>
      </dgm:t>
    </dgm:pt>
    <dgm:pt modelId="{F8A11A55-16B8-4E53-98BA-0A730F430AE9}" type="sibTrans" cxnId="{2CF0D74A-B6F6-4FE2-AC1C-527D038D4034}">
      <dgm:prSet/>
      <dgm:spPr/>
      <dgm:t>
        <a:bodyPr/>
        <a:lstStyle/>
        <a:p>
          <a:endParaRPr lang="en-US" sz="14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dgm:t>
        <a:bodyPr/>
        <a:lstStyle/>
        <a:p>
          <a:r>
            <a:rPr lang="en-US" sz="300" dirty="0"/>
            <a:t>Activate Innovation</a:t>
          </a:r>
        </a:p>
      </dgm:t>
    </dgm:pt>
    <dgm:pt modelId="{6D6BF466-8DE2-4ECF-BA18-23AA9E2CF708}" type="parTrans" cxnId="{B7CD78FB-D590-40AB-874E-E3446BCB9219}">
      <dgm:prSet/>
      <dgm:spPr/>
      <dgm:t>
        <a:bodyPr/>
        <a:lstStyle/>
        <a:p>
          <a:endParaRPr lang="en-US" sz="1400"/>
        </a:p>
      </dgm:t>
    </dgm:pt>
    <dgm:pt modelId="{ADD91C3F-037C-4E84-8B6E-60AE5F8FCEF2}" type="sibTrans" cxnId="{B7CD78FB-D590-40AB-874E-E3446BCB9219}">
      <dgm:prSet/>
      <dgm:spPr/>
      <dgm:t>
        <a:bodyPr/>
        <a:lstStyle/>
        <a:p>
          <a:endParaRPr lang="en-US" sz="14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400"/>
        </a:p>
      </dgm:t>
    </dgm:pt>
    <dgm:pt modelId="{30AC92D9-23A4-403A-9FB5-161C56B609B8}" type="sibTrans" cxnId="{F0879D8A-2030-4032-B1C0-8A0A4D5BC4FC}">
      <dgm:prSet/>
      <dgm:spPr/>
      <dgm:t>
        <a:bodyPr/>
        <a:lstStyle/>
        <a:p>
          <a:endParaRPr lang="en-US" sz="1400"/>
        </a:p>
      </dgm:t>
    </dgm:pt>
    <dgm:pt modelId="{B15B128D-E74F-4E14-AD8C-21CA2F893690}">
      <dgm:prSet phldrT="[Text]" custT="1"/>
      <dgm:spPr>
        <a:solidFill>
          <a:srgbClr val="4472C4"/>
        </a:solidFill>
        <a:ln>
          <a:solidFill>
            <a:schemeClr val="tx1"/>
          </a:solidFill>
        </a:ln>
      </dgm:spPr>
      <dgm:t>
        <a:bodyPr/>
        <a:lstStyle/>
        <a:p>
          <a:r>
            <a:rPr lang="en-US" sz="300" dirty="0">
              <a:solidFill>
                <a:schemeClr val="bg1"/>
              </a:solidFill>
            </a:rPr>
            <a:t>Grow our Business</a:t>
          </a:r>
        </a:p>
      </dgm:t>
    </dgm:pt>
    <dgm:pt modelId="{A8A1E2FD-52AB-4658-A4D0-4B883FC2A233}" type="parTrans" cxnId="{2CF0D74A-B6F6-4FE2-AC1C-527D038D4034}">
      <dgm:prSet/>
      <dgm:spPr/>
      <dgm:t>
        <a:bodyPr/>
        <a:lstStyle/>
        <a:p>
          <a:endParaRPr lang="en-US" sz="1400"/>
        </a:p>
      </dgm:t>
    </dgm:pt>
    <dgm:pt modelId="{F8A11A55-16B8-4E53-98BA-0A730F430AE9}" type="sibTrans" cxnId="{2CF0D74A-B6F6-4FE2-AC1C-527D038D4034}">
      <dgm:prSet/>
      <dgm:spPr/>
      <dgm:t>
        <a:bodyPr/>
        <a:lstStyle/>
        <a:p>
          <a:endParaRPr lang="en-US" sz="14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dgm:t>
        <a:bodyPr/>
        <a:lstStyle/>
        <a:p>
          <a:r>
            <a:rPr lang="en-US" sz="300" dirty="0"/>
            <a:t>Activate Innovation</a:t>
          </a:r>
        </a:p>
      </dgm:t>
    </dgm:pt>
    <dgm:pt modelId="{6D6BF466-8DE2-4ECF-BA18-23AA9E2CF708}" type="parTrans" cxnId="{B7CD78FB-D590-40AB-874E-E3446BCB9219}">
      <dgm:prSet/>
      <dgm:spPr/>
      <dgm:t>
        <a:bodyPr/>
        <a:lstStyle/>
        <a:p>
          <a:endParaRPr lang="en-US" sz="1400"/>
        </a:p>
      </dgm:t>
    </dgm:pt>
    <dgm:pt modelId="{ADD91C3F-037C-4E84-8B6E-60AE5F8FCEF2}" type="sibTrans" cxnId="{B7CD78FB-D590-40AB-874E-E3446BCB9219}">
      <dgm:prSet/>
      <dgm:spPr/>
      <dgm:t>
        <a:bodyPr/>
        <a:lstStyle/>
        <a:p>
          <a:endParaRPr lang="en-US" sz="14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400"/>
        </a:p>
      </dgm:t>
    </dgm:pt>
    <dgm:pt modelId="{30AC92D9-23A4-403A-9FB5-161C56B609B8}" type="sibTrans" cxnId="{F0879D8A-2030-4032-B1C0-8A0A4D5BC4FC}">
      <dgm:prSet/>
      <dgm:spPr/>
      <dgm:t>
        <a:bodyPr/>
        <a:lstStyle/>
        <a:p>
          <a:endParaRPr lang="en-US" sz="1400"/>
        </a:p>
      </dgm:t>
    </dgm:pt>
    <dgm:pt modelId="{B15B128D-E74F-4E14-AD8C-21CA2F893690}">
      <dgm:prSet phldrT="[Text]" custT="1"/>
      <dgm:spPr>
        <a:solidFill>
          <a:srgbClr val="4472C4"/>
        </a:solidFill>
        <a:ln>
          <a:solidFill>
            <a:schemeClr val="tx1"/>
          </a:solidFill>
        </a:ln>
      </dgm:spPr>
      <dgm:t>
        <a:bodyPr/>
        <a:lstStyle/>
        <a:p>
          <a:r>
            <a:rPr lang="en-US" sz="300" dirty="0">
              <a:solidFill>
                <a:schemeClr val="bg1"/>
              </a:solidFill>
            </a:rPr>
            <a:t>Grow our Business</a:t>
          </a:r>
        </a:p>
      </dgm:t>
    </dgm:pt>
    <dgm:pt modelId="{A8A1E2FD-52AB-4658-A4D0-4B883FC2A233}" type="parTrans" cxnId="{2CF0D74A-B6F6-4FE2-AC1C-527D038D4034}">
      <dgm:prSet/>
      <dgm:spPr/>
      <dgm:t>
        <a:bodyPr/>
        <a:lstStyle/>
        <a:p>
          <a:endParaRPr lang="en-US" sz="1400"/>
        </a:p>
      </dgm:t>
    </dgm:pt>
    <dgm:pt modelId="{F8A11A55-16B8-4E53-98BA-0A730F430AE9}" type="sibTrans" cxnId="{2CF0D74A-B6F6-4FE2-AC1C-527D038D4034}">
      <dgm:prSet/>
      <dgm:spPr/>
      <dgm:t>
        <a:bodyPr/>
        <a:lstStyle/>
        <a:p>
          <a:endParaRPr lang="en-US" sz="14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dgm:t>
        <a:bodyPr/>
        <a:lstStyle/>
        <a:p>
          <a:r>
            <a:rPr lang="en-US" sz="300" dirty="0"/>
            <a:t>Activate Innovation</a:t>
          </a:r>
        </a:p>
      </dgm:t>
    </dgm:pt>
    <dgm:pt modelId="{6D6BF466-8DE2-4ECF-BA18-23AA9E2CF708}" type="parTrans" cxnId="{B7CD78FB-D590-40AB-874E-E3446BCB9219}">
      <dgm:prSet/>
      <dgm:spPr/>
      <dgm:t>
        <a:bodyPr/>
        <a:lstStyle/>
        <a:p>
          <a:endParaRPr lang="en-US" sz="1400"/>
        </a:p>
      </dgm:t>
    </dgm:pt>
    <dgm:pt modelId="{ADD91C3F-037C-4E84-8B6E-60AE5F8FCEF2}" type="sibTrans" cxnId="{B7CD78FB-D590-40AB-874E-E3446BCB9219}">
      <dgm:prSet/>
      <dgm:spPr/>
      <dgm:t>
        <a:bodyPr/>
        <a:lstStyle/>
        <a:p>
          <a:endParaRPr lang="en-US" sz="14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400"/>
        </a:p>
      </dgm:t>
    </dgm:pt>
    <dgm:pt modelId="{30AC92D9-23A4-403A-9FB5-161C56B609B8}" type="sibTrans" cxnId="{F0879D8A-2030-4032-B1C0-8A0A4D5BC4FC}">
      <dgm:prSet/>
      <dgm:spPr/>
      <dgm:t>
        <a:bodyPr/>
        <a:lstStyle/>
        <a:p>
          <a:endParaRPr lang="en-US" sz="1400"/>
        </a:p>
      </dgm:t>
    </dgm:pt>
    <dgm:pt modelId="{B15B128D-E74F-4E14-AD8C-21CA2F893690}">
      <dgm:prSet phldrT="[Text]" custT="1"/>
      <dgm:spPr>
        <a:solidFill>
          <a:srgbClr val="4472C4"/>
        </a:solidFill>
        <a:ln>
          <a:solidFill>
            <a:schemeClr val="tx1"/>
          </a:solidFill>
        </a:ln>
      </dgm:spPr>
      <dgm:t>
        <a:bodyPr/>
        <a:lstStyle/>
        <a:p>
          <a:r>
            <a:rPr lang="en-US" sz="300" dirty="0">
              <a:solidFill>
                <a:schemeClr val="bg1"/>
              </a:solidFill>
            </a:rPr>
            <a:t>Grow our Business</a:t>
          </a:r>
        </a:p>
      </dgm:t>
    </dgm:pt>
    <dgm:pt modelId="{A8A1E2FD-52AB-4658-A4D0-4B883FC2A233}" type="parTrans" cxnId="{2CF0D74A-B6F6-4FE2-AC1C-527D038D4034}">
      <dgm:prSet/>
      <dgm:spPr/>
      <dgm:t>
        <a:bodyPr/>
        <a:lstStyle/>
        <a:p>
          <a:endParaRPr lang="en-US" sz="1400"/>
        </a:p>
      </dgm:t>
    </dgm:pt>
    <dgm:pt modelId="{F8A11A55-16B8-4E53-98BA-0A730F430AE9}" type="sibTrans" cxnId="{2CF0D74A-B6F6-4FE2-AC1C-527D038D4034}">
      <dgm:prSet/>
      <dgm:spPr/>
      <dgm:t>
        <a:bodyPr/>
        <a:lstStyle/>
        <a:p>
          <a:endParaRPr lang="en-US" sz="14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dgm:t>
        <a:bodyPr/>
        <a:lstStyle/>
        <a:p>
          <a:r>
            <a:rPr lang="en-US" sz="300" dirty="0"/>
            <a:t>Activate Innovation</a:t>
          </a:r>
        </a:p>
      </dgm:t>
    </dgm:pt>
    <dgm:pt modelId="{6D6BF466-8DE2-4ECF-BA18-23AA9E2CF708}" type="parTrans" cxnId="{B7CD78FB-D590-40AB-874E-E3446BCB9219}">
      <dgm:prSet/>
      <dgm:spPr/>
      <dgm:t>
        <a:bodyPr/>
        <a:lstStyle/>
        <a:p>
          <a:endParaRPr lang="en-US" sz="1400"/>
        </a:p>
      </dgm:t>
    </dgm:pt>
    <dgm:pt modelId="{ADD91C3F-037C-4E84-8B6E-60AE5F8FCEF2}" type="sibTrans" cxnId="{B7CD78FB-D590-40AB-874E-E3446BCB9219}">
      <dgm:prSet/>
      <dgm:spPr/>
      <dgm:t>
        <a:bodyPr/>
        <a:lstStyle/>
        <a:p>
          <a:endParaRPr lang="en-US" sz="14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400"/>
        </a:p>
      </dgm:t>
    </dgm:pt>
    <dgm:pt modelId="{30AC92D9-23A4-403A-9FB5-161C56B609B8}" type="sibTrans" cxnId="{F0879D8A-2030-4032-B1C0-8A0A4D5BC4FC}">
      <dgm:prSet/>
      <dgm:spPr/>
      <dgm:t>
        <a:bodyPr/>
        <a:lstStyle/>
        <a:p>
          <a:endParaRPr lang="en-US" sz="1400"/>
        </a:p>
      </dgm:t>
    </dgm:pt>
    <dgm:pt modelId="{B15B128D-E74F-4E14-AD8C-21CA2F893690}">
      <dgm:prSet phldrT="[Text]" custT="1"/>
      <dgm:spPr>
        <a:solidFill>
          <a:srgbClr val="4472C4"/>
        </a:solidFill>
        <a:ln>
          <a:solidFill>
            <a:schemeClr val="tx1"/>
          </a:solidFill>
        </a:ln>
      </dgm:spPr>
      <dgm:t>
        <a:bodyPr/>
        <a:lstStyle/>
        <a:p>
          <a:r>
            <a:rPr lang="en-US" sz="300" dirty="0">
              <a:solidFill>
                <a:schemeClr val="bg1"/>
              </a:solidFill>
            </a:rPr>
            <a:t>Grow our Business</a:t>
          </a:r>
        </a:p>
      </dgm:t>
    </dgm:pt>
    <dgm:pt modelId="{A8A1E2FD-52AB-4658-A4D0-4B883FC2A233}" type="parTrans" cxnId="{2CF0D74A-B6F6-4FE2-AC1C-527D038D4034}">
      <dgm:prSet/>
      <dgm:spPr/>
      <dgm:t>
        <a:bodyPr/>
        <a:lstStyle/>
        <a:p>
          <a:endParaRPr lang="en-US" sz="1400"/>
        </a:p>
      </dgm:t>
    </dgm:pt>
    <dgm:pt modelId="{F8A11A55-16B8-4E53-98BA-0A730F430AE9}" type="sibTrans" cxnId="{2CF0D74A-B6F6-4FE2-AC1C-527D038D4034}">
      <dgm:prSet/>
      <dgm:spPr/>
      <dgm:t>
        <a:bodyPr/>
        <a:lstStyle/>
        <a:p>
          <a:endParaRPr lang="en-US" sz="14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dgm:t>
        <a:bodyPr/>
        <a:lstStyle/>
        <a:p>
          <a:r>
            <a:rPr lang="en-US" sz="300" dirty="0"/>
            <a:t>Activate Innovation</a:t>
          </a:r>
        </a:p>
      </dgm:t>
    </dgm:pt>
    <dgm:pt modelId="{6D6BF466-8DE2-4ECF-BA18-23AA9E2CF708}" type="parTrans" cxnId="{B7CD78FB-D590-40AB-874E-E3446BCB9219}">
      <dgm:prSet/>
      <dgm:spPr/>
      <dgm:t>
        <a:bodyPr/>
        <a:lstStyle/>
        <a:p>
          <a:endParaRPr lang="en-US" sz="1400"/>
        </a:p>
      </dgm:t>
    </dgm:pt>
    <dgm:pt modelId="{ADD91C3F-037C-4E84-8B6E-60AE5F8FCEF2}" type="sibTrans" cxnId="{B7CD78FB-D590-40AB-874E-E3446BCB9219}">
      <dgm:prSet/>
      <dgm:spPr/>
      <dgm:t>
        <a:bodyPr/>
        <a:lstStyle/>
        <a:p>
          <a:endParaRPr lang="en-US" sz="14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400"/>
        </a:p>
      </dgm:t>
    </dgm:pt>
    <dgm:pt modelId="{30AC92D9-23A4-403A-9FB5-161C56B609B8}" type="sibTrans" cxnId="{F0879D8A-2030-4032-B1C0-8A0A4D5BC4FC}">
      <dgm:prSet/>
      <dgm:spPr/>
      <dgm:t>
        <a:bodyPr/>
        <a:lstStyle/>
        <a:p>
          <a:endParaRPr lang="en-US" sz="1400"/>
        </a:p>
      </dgm:t>
    </dgm:pt>
    <dgm:pt modelId="{B15B128D-E74F-4E14-AD8C-21CA2F893690}">
      <dgm:prSet phldrT="[Text]" custT="1"/>
      <dgm:spPr>
        <a:solidFill>
          <a:srgbClr val="4472C4"/>
        </a:solidFill>
        <a:ln>
          <a:solidFill>
            <a:schemeClr val="tx1"/>
          </a:solidFill>
        </a:ln>
      </dgm:spPr>
      <dgm:t>
        <a:bodyPr/>
        <a:lstStyle/>
        <a:p>
          <a:r>
            <a:rPr lang="en-US" sz="300" dirty="0">
              <a:solidFill>
                <a:schemeClr val="bg1"/>
              </a:solidFill>
            </a:rPr>
            <a:t>Grow our Business</a:t>
          </a:r>
        </a:p>
      </dgm:t>
    </dgm:pt>
    <dgm:pt modelId="{A8A1E2FD-52AB-4658-A4D0-4B883FC2A233}" type="parTrans" cxnId="{2CF0D74A-B6F6-4FE2-AC1C-527D038D4034}">
      <dgm:prSet/>
      <dgm:spPr/>
      <dgm:t>
        <a:bodyPr/>
        <a:lstStyle/>
        <a:p>
          <a:endParaRPr lang="en-US" sz="1400"/>
        </a:p>
      </dgm:t>
    </dgm:pt>
    <dgm:pt modelId="{F8A11A55-16B8-4E53-98BA-0A730F430AE9}" type="sibTrans" cxnId="{2CF0D74A-B6F6-4FE2-AC1C-527D038D4034}">
      <dgm:prSet/>
      <dgm:spPr/>
      <dgm:t>
        <a:bodyPr/>
        <a:lstStyle/>
        <a:p>
          <a:endParaRPr lang="en-US" sz="14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dgm:spPr>
        <a:solidFill>
          <a:srgbClr val="A86D41"/>
        </a:solidFill>
      </dgm:spPr>
      <dgm:t>
        <a:bodyPr/>
        <a:lstStyle/>
        <a:p>
          <a:r>
            <a:rPr lang="en-US" dirty="0">
              <a:solidFill>
                <a:schemeClr val="bg1"/>
              </a:solidFill>
            </a:rPr>
            <a:t>Activate Innovation</a:t>
          </a:r>
        </a:p>
      </dgm:t>
    </dgm:pt>
    <dgm:pt modelId="{6D6BF466-8DE2-4ECF-BA18-23AA9E2CF708}" type="parTrans" cxnId="{B7CD78FB-D590-40AB-874E-E3446BCB9219}">
      <dgm:prSet/>
      <dgm:spPr/>
      <dgm:t>
        <a:bodyPr/>
        <a:lstStyle/>
        <a:p>
          <a:endParaRPr lang="en-US"/>
        </a:p>
      </dgm:t>
    </dgm:pt>
    <dgm:pt modelId="{ADD91C3F-037C-4E84-8B6E-60AE5F8FCEF2}" type="sibTrans" cxnId="{B7CD78FB-D590-40AB-874E-E3446BCB9219}">
      <dgm:prSet/>
      <dgm:spPr/>
      <dgm:t>
        <a:bodyPr/>
        <a:lstStyle/>
        <a:p>
          <a:endParaRPr lang="en-US"/>
        </a:p>
      </dgm:t>
    </dgm:pt>
    <dgm:pt modelId="{3097378F-7487-4C66-AE53-17259C2C5650}">
      <dgm:prSet phldrT="[Text]"/>
      <dgm:spPr/>
      <dgm:t>
        <a:bodyPr/>
        <a:lstStyle/>
        <a:p>
          <a:r>
            <a:rPr lang="en-US" dirty="0"/>
            <a:t>Inspire our People</a:t>
          </a:r>
        </a:p>
      </dgm:t>
    </dgm:pt>
    <dgm:pt modelId="{663263BE-89FA-4057-8775-27511824F5CB}" type="parTrans" cxnId="{F0879D8A-2030-4032-B1C0-8A0A4D5BC4FC}">
      <dgm:prSet/>
      <dgm:spPr/>
      <dgm:t>
        <a:bodyPr/>
        <a:lstStyle/>
        <a:p>
          <a:endParaRPr lang="en-US"/>
        </a:p>
      </dgm:t>
    </dgm:pt>
    <dgm:pt modelId="{30AC92D9-23A4-403A-9FB5-161C56B609B8}" type="sibTrans" cxnId="{F0879D8A-2030-4032-B1C0-8A0A4D5BC4FC}">
      <dgm:prSet/>
      <dgm:spPr/>
      <dgm:t>
        <a:bodyPr/>
        <a:lstStyle/>
        <a:p>
          <a:endParaRPr lang="en-US"/>
        </a:p>
      </dgm:t>
    </dgm:pt>
    <dgm:pt modelId="{B15B128D-E74F-4E14-AD8C-21CA2F893690}">
      <dgm:prSet phldrT="[Text]"/>
      <dgm:spPr>
        <a:solidFill>
          <a:schemeClr val="bg1"/>
        </a:solidFill>
        <a:ln>
          <a:solidFill>
            <a:schemeClr val="tx1"/>
          </a:solidFill>
        </a:ln>
      </dgm:spPr>
      <dgm:t>
        <a:bodyPr/>
        <a:lstStyle/>
        <a:p>
          <a:r>
            <a:rPr lang="en-US" dirty="0">
              <a:solidFill>
                <a:schemeClr val="tx1"/>
              </a:solidFill>
            </a:rPr>
            <a:t>Grow our Business</a:t>
          </a:r>
        </a:p>
      </dgm:t>
    </dgm:pt>
    <dgm:pt modelId="{A8A1E2FD-52AB-4658-A4D0-4B883FC2A233}" type="parTrans" cxnId="{2CF0D74A-B6F6-4FE2-AC1C-527D038D4034}">
      <dgm:prSet/>
      <dgm:spPr/>
      <dgm:t>
        <a:bodyPr/>
        <a:lstStyle/>
        <a:p>
          <a:endParaRPr lang="en-US"/>
        </a:p>
      </dgm:t>
    </dgm:pt>
    <dgm:pt modelId="{F8A11A55-16B8-4E53-98BA-0A730F430AE9}" type="sibTrans" cxnId="{2CF0D74A-B6F6-4FE2-AC1C-527D038D4034}">
      <dgm:prSet/>
      <dgm:spPr/>
      <dgm:t>
        <a:bodyPr/>
        <a:lstStyle/>
        <a:p>
          <a:endParaRPr lang="en-US"/>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a:solidFill>
          <a:srgbClr val="A86D41"/>
        </a:solidFill>
      </dgm:spPr>
      <dgm:t>
        <a:bodyPr/>
        <a:lstStyle/>
        <a:p>
          <a:r>
            <a:rPr lang="en-US" sz="400" dirty="0">
              <a:solidFill>
                <a:schemeClr val="bg1"/>
              </a:solidFill>
            </a:rPr>
            <a:t>Activate Innovation</a:t>
          </a:r>
        </a:p>
      </dgm:t>
    </dgm:pt>
    <dgm:pt modelId="{6D6BF466-8DE2-4ECF-BA18-23AA9E2CF708}" type="parTrans" cxnId="{B7CD78FB-D590-40AB-874E-E3446BCB9219}">
      <dgm:prSet/>
      <dgm:spPr/>
      <dgm:t>
        <a:bodyPr/>
        <a:lstStyle/>
        <a:p>
          <a:endParaRPr lang="en-US" sz="1600"/>
        </a:p>
      </dgm:t>
    </dgm:pt>
    <dgm:pt modelId="{ADD91C3F-037C-4E84-8B6E-60AE5F8FCEF2}" type="sibTrans" cxnId="{B7CD78FB-D590-40AB-874E-E3446BCB9219}">
      <dgm:prSet/>
      <dgm:spPr/>
      <dgm:t>
        <a:bodyPr/>
        <a:lstStyle/>
        <a:p>
          <a:endParaRPr lang="en-US" sz="16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600"/>
        </a:p>
      </dgm:t>
    </dgm:pt>
    <dgm:pt modelId="{30AC92D9-23A4-403A-9FB5-161C56B609B8}" type="sibTrans" cxnId="{F0879D8A-2030-4032-B1C0-8A0A4D5BC4FC}">
      <dgm:prSet/>
      <dgm:spPr/>
      <dgm:t>
        <a:bodyPr/>
        <a:lstStyle/>
        <a:p>
          <a:endParaRPr lang="en-US" sz="1600"/>
        </a:p>
      </dgm:t>
    </dgm:pt>
    <dgm:pt modelId="{B15B128D-E74F-4E14-AD8C-21CA2F893690}">
      <dgm:prSet phldrT="[Text]" custT="1"/>
      <dgm:spPr>
        <a:solidFill>
          <a:schemeClr val="bg1"/>
        </a:solidFill>
        <a:ln>
          <a:solidFill>
            <a:schemeClr val="tx1"/>
          </a:solidFill>
        </a:ln>
      </dgm:spPr>
      <dgm:t>
        <a:bodyPr/>
        <a:lstStyle/>
        <a:p>
          <a:r>
            <a:rPr lang="en-US" sz="400" dirty="0">
              <a:solidFill>
                <a:schemeClr val="tx1"/>
              </a:solidFill>
            </a:rPr>
            <a:t>Grow our Business</a:t>
          </a:r>
        </a:p>
      </dgm:t>
    </dgm:pt>
    <dgm:pt modelId="{A8A1E2FD-52AB-4658-A4D0-4B883FC2A233}" type="parTrans" cxnId="{2CF0D74A-B6F6-4FE2-AC1C-527D038D4034}">
      <dgm:prSet/>
      <dgm:spPr/>
      <dgm:t>
        <a:bodyPr/>
        <a:lstStyle/>
        <a:p>
          <a:endParaRPr lang="en-US" sz="1600"/>
        </a:p>
      </dgm:t>
    </dgm:pt>
    <dgm:pt modelId="{F8A11A55-16B8-4E53-98BA-0A730F430AE9}" type="sibTrans" cxnId="{2CF0D74A-B6F6-4FE2-AC1C-527D038D4034}">
      <dgm:prSet/>
      <dgm:spPr/>
      <dgm:t>
        <a:bodyPr/>
        <a:lstStyle/>
        <a:p>
          <a:endParaRPr lang="en-US" sz="16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a:solidFill>
          <a:srgbClr val="A86D41"/>
        </a:solidFill>
      </dgm:spPr>
      <dgm:t>
        <a:bodyPr/>
        <a:lstStyle/>
        <a:p>
          <a:r>
            <a:rPr lang="en-US" sz="400" dirty="0">
              <a:solidFill>
                <a:schemeClr val="bg1"/>
              </a:solidFill>
            </a:rPr>
            <a:t>Activate Innovation</a:t>
          </a:r>
        </a:p>
      </dgm:t>
    </dgm:pt>
    <dgm:pt modelId="{6D6BF466-8DE2-4ECF-BA18-23AA9E2CF708}" type="parTrans" cxnId="{B7CD78FB-D590-40AB-874E-E3446BCB9219}">
      <dgm:prSet/>
      <dgm:spPr/>
      <dgm:t>
        <a:bodyPr/>
        <a:lstStyle/>
        <a:p>
          <a:endParaRPr lang="en-US" sz="1600"/>
        </a:p>
      </dgm:t>
    </dgm:pt>
    <dgm:pt modelId="{ADD91C3F-037C-4E84-8B6E-60AE5F8FCEF2}" type="sibTrans" cxnId="{B7CD78FB-D590-40AB-874E-E3446BCB9219}">
      <dgm:prSet/>
      <dgm:spPr/>
      <dgm:t>
        <a:bodyPr/>
        <a:lstStyle/>
        <a:p>
          <a:endParaRPr lang="en-US" sz="16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600"/>
        </a:p>
      </dgm:t>
    </dgm:pt>
    <dgm:pt modelId="{30AC92D9-23A4-403A-9FB5-161C56B609B8}" type="sibTrans" cxnId="{F0879D8A-2030-4032-B1C0-8A0A4D5BC4FC}">
      <dgm:prSet/>
      <dgm:spPr/>
      <dgm:t>
        <a:bodyPr/>
        <a:lstStyle/>
        <a:p>
          <a:endParaRPr lang="en-US" sz="1600"/>
        </a:p>
      </dgm:t>
    </dgm:pt>
    <dgm:pt modelId="{B15B128D-E74F-4E14-AD8C-21CA2F893690}">
      <dgm:prSet phldrT="[Text]" custT="1"/>
      <dgm:spPr>
        <a:solidFill>
          <a:schemeClr val="bg1"/>
        </a:solidFill>
        <a:ln>
          <a:solidFill>
            <a:schemeClr val="tx1"/>
          </a:solidFill>
        </a:ln>
      </dgm:spPr>
      <dgm:t>
        <a:bodyPr/>
        <a:lstStyle/>
        <a:p>
          <a:r>
            <a:rPr lang="en-US" sz="400" dirty="0">
              <a:solidFill>
                <a:schemeClr val="tx1"/>
              </a:solidFill>
            </a:rPr>
            <a:t>Grow our Business</a:t>
          </a:r>
        </a:p>
      </dgm:t>
    </dgm:pt>
    <dgm:pt modelId="{A8A1E2FD-52AB-4658-A4D0-4B883FC2A233}" type="parTrans" cxnId="{2CF0D74A-B6F6-4FE2-AC1C-527D038D4034}">
      <dgm:prSet/>
      <dgm:spPr/>
      <dgm:t>
        <a:bodyPr/>
        <a:lstStyle/>
        <a:p>
          <a:endParaRPr lang="en-US" sz="1600"/>
        </a:p>
      </dgm:t>
    </dgm:pt>
    <dgm:pt modelId="{F8A11A55-16B8-4E53-98BA-0A730F430AE9}" type="sibTrans" cxnId="{2CF0D74A-B6F6-4FE2-AC1C-527D038D4034}">
      <dgm:prSet/>
      <dgm:spPr/>
      <dgm:t>
        <a:bodyPr/>
        <a:lstStyle/>
        <a:p>
          <a:endParaRPr lang="en-US" sz="16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a:solidFill>
          <a:srgbClr val="A86D41"/>
        </a:solidFill>
      </dgm:spPr>
      <dgm:t>
        <a:bodyPr/>
        <a:lstStyle/>
        <a:p>
          <a:r>
            <a:rPr lang="en-US" sz="400" dirty="0">
              <a:solidFill>
                <a:schemeClr val="bg1"/>
              </a:solidFill>
            </a:rPr>
            <a:t>Activate Innovation</a:t>
          </a:r>
        </a:p>
      </dgm:t>
    </dgm:pt>
    <dgm:pt modelId="{6D6BF466-8DE2-4ECF-BA18-23AA9E2CF708}" type="parTrans" cxnId="{B7CD78FB-D590-40AB-874E-E3446BCB9219}">
      <dgm:prSet/>
      <dgm:spPr/>
      <dgm:t>
        <a:bodyPr/>
        <a:lstStyle/>
        <a:p>
          <a:endParaRPr lang="en-US" sz="1600"/>
        </a:p>
      </dgm:t>
    </dgm:pt>
    <dgm:pt modelId="{ADD91C3F-037C-4E84-8B6E-60AE5F8FCEF2}" type="sibTrans" cxnId="{B7CD78FB-D590-40AB-874E-E3446BCB9219}">
      <dgm:prSet/>
      <dgm:spPr/>
      <dgm:t>
        <a:bodyPr/>
        <a:lstStyle/>
        <a:p>
          <a:endParaRPr lang="en-US" sz="16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600"/>
        </a:p>
      </dgm:t>
    </dgm:pt>
    <dgm:pt modelId="{30AC92D9-23A4-403A-9FB5-161C56B609B8}" type="sibTrans" cxnId="{F0879D8A-2030-4032-B1C0-8A0A4D5BC4FC}">
      <dgm:prSet/>
      <dgm:spPr/>
      <dgm:t>
        <a:bodyPr/>
        <a:lstStyle/>
        <a:p>
          <a:endParaRPr lang="en-US" sz="1600"/>
        </a:p>
      </dgm:t>
    </dgm:pt>
    <dgm:pt modelId="{B15B128D-E74F-4E14-AD8C-21CA2F893690}">
      <dgm:prSet phldrT="[Text]" custT="1"/>
      <dgm:spPr>
        <a:solidFill>
          <a:schemeClr val="bg1"/>
        </a:solidFill>
        <a:ln>
          <a:solidFill>
            <a:schemeClr val="tx1"/>
          </a:solidFill>
        </a:ln>
      </dgm:spPr>
      <dgm:t>
        <a:bodyPr/>
        <a:lstStyle/>
        <a:p>
          <a:r>
            <a:rPr lang="en-US" sz="400" dirty="0">
              <a:solidFill>
                <a:schemeClr val="tx1"/>
              </a:solidFill>
            </a:rPr>
            <a:t>Grow our Business</a:t>
          </a:r>
        </a:p>
      </dgm:t>
    </dgm:pt>
    <dgm:pt modelId="{A8A1E2FD-52AB-4658-A4D0-4B883FC2A233}" type="parTrans" cxnId="{2CF0D74A-B6F6-4FE2-AC1C-527D038D4034}">
      <dgm:prSet/>
      <dgm:spPr/>
      <dgm:t>
        <a:bodyPr/>
        <a:lstStyle/>
        <a:p>
          <a:endParaRPr lang="en-US" sz="1600"/>
        </a:p>
      </dgm:t>
    </dgm:pt>
    <dgm:pt modelId="{F8A11A55-16B8-4E53-98BA-0A730F430AE9}" type="sibTrans" cxnId="{2CF0D74A-B6F6-4FE2-AC1C-527D038D4034}">
      <dgm:prSet/>
      <dgm:spPr/>
      <dgm:t>
        <a:bodyPr/>
        <a:lstStyle/>
        <a:p>
          <a:endParaRPr lang="en-US" sz="16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a:solidFill>
          <a:srgbClr val="A86D41"/>
        </a:solidFill>
      </dgm:spPr>
      <dgm:t>
        <a:bodyPr/>
        <a:lstStyle/>
        <a:p>
          <a:r>
            <a:rPr lang="en-US" sz="400" dirty="0">
              <a:solidFill>
                <a:schemeClr val="bg1"/>
              </a:solidFill>
            </a:rPr>
            <a:t>Activate Innovation</a:t>
          </a:r>
        </a:p>
      </dgm:t>
    </dgm:pt>
    <dgm:pt modelId="{6D6BF466-8DE2-4ECF-BA18-23AA9E2CF708}" type="parTrans" cxnId="{B7CD78FB-D590-40AB-874E-E3446BCB9219}">
      <dgm:prSet/>
      <dgm:spPr/>
      <dgm:t>
        <a:bodyPr/>
        <a:lstStyle/>
        <a:p>
          <a:endParaRPr lang="en-US" sz="1600"/>
        </a:p>
      </dgm:t>
    </dgm:pt>
    <dgm:pt modelId="{ADD91C3F-037C-4E84-8B6E-60AE5F8FCEF2}" type="sibTrans" cxnId="{B7CD78FB-D590-40AB-874E-E3446BCB9219}">
      <dgm:prSet/>
      <dgm:spPr/>
      <dgm:t>
        <a:bodyPr/>
        <a:lstStyle/>
        <a:p>
          <a:endParaRPr lang="en-US" sz="16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600"/>
        </a:p>
      </dgm:t>
    </dgm:pt>
    <dgm:pt modelId="{30AC92D9-23A4-403A-9FB5-161C56B609B8}" type="sibTrans" cxnId="{F0879D8A-2030-4032-B1C0-8A0A4D5BC4FC}">
      <dgm:prSet/>
      <dgm:spPr/>
      <dgm:t>
        <a:bodyPr/>
        <a:lstStyle/>
        <a:p>
          <a:endParaRPr lang="en-US" sz="1600"/>
        </a:p>
      </dgm:t>
    </dgm:pt>
    <dgm:pt modelId="{B15B128D-E74F-4E14-AD8C-21CA2F893690}">
      <dgm:prSet phldrT="[Text]" custT="1"/>
      <dgm:spPr>
        <a:solidFill>
          <a:schemeClr val="bg1"/>
        </a:solidFill>
        <a:ln>
          <a:solidFill>
            <a:schemeClr val="tx1"/>
          </a:solidFill>
        </a:ln>
      </dgm:spPr>
      <dgm:t>
        <a:bodyPr/>
        <a:lstStyle/>
        <a:p>
          <a:r>
            <a:rPr lang="en-US" sz="400" dirty="0">
              <a:solidFill>
                <a:schemeClr val="tx1"/>
              </a:solidFill>
            </a:rPr>
            <a:t>Grow our Business</a:t>
          </a:r>
        </a:p>
      </dgm:t>
    </dgm:pt>
    <dgm:pt modelId="{A8A1E2FD-52AB-4658-A4D0-4B883FC2A233}" type="parTrans" cxnId="{2CF0D74A-B6F6-4FE2-AC1C-527D038D4034}">
      <dgm:prSet/>
      <dgm:spPr/>
      <dgm:t>
        <a:bodyPr/>
        <a:lstStyle/>
        <a:p>
          <a:endParaRPr lang="en-US" sz="1600"/>
        </a:p>
      </dgm:t>
    </dgm:pt>
    <dgm:pt modelId="{F8A11A55-16B8-4E53-98BA-0A730F430AE9}" type="sibTrans" cxnId="{2CF0D74A-B6F6-4FE2-AC1C-527D038D4034}">
      <dgm:prSet/>
      <dgm:spPr/>
      <dgm:t>
        <a:bodyPr/>
        <a:lstStyle/>
        <a:p>
          <a:endParaRPr lang="en-US" sz="16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a:solidFill>
          <a:srgbClr val="A86D41"/>
        </a:solidFill>
      </dgm:spPr>
      <dgm:t>
        <a:bodyPr/>
        <a:lstStyle/>
        <a:p>
          <a:r>
            <a:rPr lang="en-US" sz="400" dirty="0">
              <a:solidFill>
                <a:schemeClr val="bg1"/>
              </a:solidFill>
            </a:rPr>
            <a:t>Activate Innovation</a:t>
          </a:r>
        </a:p>
      </dgm:t>
    </dgm:pt>
    <dgm:pt modelId="{6D6BF466-8DE2-4ECF-BA18-23AA9E2CF708}" type="parTrans" cxnId="{B7CD78FB-D590-40AB-874E-E3446BCB9219}">
      <dgm:prSet/>
      <dgm:spPr/>
      <dgm:t>
        <a:bodyPr/>
        <a:lstStyle/>
        <a:p>
          <a:endParaRPr lang="en-US" sz="1600"/>
        </a:p>
      </dgm:t>
    </dgm:pt>
    <dgm:pt modelId="{ADD91C3F-037C-4E84-8B6E-60AE5F8FCEF2}" type="sibTrans" cxnId="{B7CD78FB-D590-40AB-874E-E3446BCB9219}">
      <dgm:prSet/>
      <dgm:spPr/>
      <dgm:t>
        <a:bodyPr/>
        <a:lstStyle/>
        <a:p>
          <a:endParaRPr lang="en-US" sz="16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600"/>
        </a:p>
      </dgm:t>
    </dgm:pt>
    <dgm:pt modelId="{30AC92D9-23A4-403A-9FB5-161C56B609B8}" type="sibTrans" cxnId="{F0879D8A-2030-4032-B1C0-8A0A4D5BC4FC}">
      <dgm:prSet/>
      <dgm:spPr/>
      <dgm:t>
        <a:bodyPr/>
        <a:lstStyle/>
        <a:p>
          <a:endParaRPr lang="en-US" sz="1600"/>
        </a:p>
      </dgm:t>
    </dgm:pt>
    <dgm:pt modelId="{B15B128D-E74F-4E14-AD8C-21CA2F893690}">
      <dgm:prSet phldrT="[Text]" custT="1"/>
      <dgm:spPr>
        <a:solidFill>
          <a:schemeClr val="bg1"/>
        </a:solidFill>
        <a:ln>
          <a:solidFill>
            <a:schemeClr val="tx1"/>
          </a:solidFill>
        </a:ln>
      </dgm:spPr>
      <dgm:t>
        <a:bodyPr/>
        <a:lstStyle/>
        <a:p>
          <a:r>
            <a:rPr lang="en-US" sz="400" dirty="0">
              <a:solidFill>
                <a:schemeClr val="tx1"/>
              </a:solidFill>
            </a:rPr>
            <a:t>Grow our Business</a:t>
          </a:r>
        </a:p>
      </dgm:t>
    </dgm:pt>
    <dgm:pt modelId="{A8A1E2FD-52AB-4658-A4D0-4B883FC2A233}" type="parTrans" cxnId="{2CF0D74A-B6F6-4FE2-AC1C-527D038D4034}">
      <dgm:prSet/>
      <dgm:spPr/>
      <dgm:t>
        <a:bodyPr/>
        <a:lstStyle/>
        <a:p>
          <a:endParaRPr lang="en-US" sz="1600"/>
        </a:p>
      </dgm:t>
    </dgm:pt>
    <dgm:pt modelId="{F8A11A55-16B8-4E53-98BA-0A730F430AE9}" type="sibTrans" cxnId="{2CF0D74A-B6F6-4FE2-AC1C-527D038D4034}">
      <dgm:prSet/>
      <dgm:spPr/>
      <dgm:t>
        <a:bodyPr/>
        <a:lstStyle/>
        <a:p>
          <a:endParaRPr lang="en-US" sz="16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a:solidFill>
          <a:srgbClr val="A86D41"/>
        </a:solidFill>
      </dgm:spPr>
      <dgm:t>
        <a:bodyPr/>
        <a:lstStyle/>
        <a:p>
          <a:r>
            <a:rPr lang="en-US" sz="400" dirty="0">
              <a:solidFill>
                <a:schemeClr val="bg1"/>
              </a:solidFill>
            </a:rPr>
            <a:t>Activate Innovation</a:t>
          </a:r>
        </a:p>
      </dgm:t>
    </dgm:pt>
    <dgm:pt modelId="{6D6BF466-8DE2-4ECF-BA18-23AA9E2CF708}" type="parTrans" cxnId="{B7CD78FB-D590-40AB-874E-E3446BCB9219}">
      <dgm:prSet/>
      <dgm:spPr/>
      <dgm:t>
        <a:bodyPr/>
        <a:lstStyle/>
        <a:p>
          <a:endParaRPr lang="en-US" sz="1600"/>
        </a:p>
      </dgm:t>
    </dgm:pt>
    <dgm:pt modelId="{ADD91C3F-037C-4E84-8B6E-60AE5F8FCEF2}" type="sibTrans" cxnId="{B7CD78FB-D590-40AB-874E-E3446BCB9219}">
      <dgm:prSet/>
      <dgm:spPr/>
      <dgm:t>
        <a:bodyPr/>
        <a:lstStyle/>
        <a:p>
          <a:endParaRPr lang="en-US" sz="1600"/>
        </a:p>
      </dgm:t>
    </dgm:pt>
    <dgm:pt modelId="{3097378F-7487-4C66-AE53-17259C2C5650}">
      <dgm:prSet phldrT="[Text]" custT="1"/>
      <dgm:spPr/>
      <dgm:t>
        <a:bodyPr/>
        <a:lstStyle/>
        <a:p>
          <a:r>
            <a:rPr lang="en-US" sz="400" dirty="0"/>
            <a:t>Inspire our People</a:t>
          </a:r>
        </a:p>
      </dgm:t>
    </dgm:pt>
    <dgm:pt modelId="{663263BE-89FA-4057-8775-27511824F5CB}" type="parTrans" cxnId="{F0879D8A-2030-4032-B1C0-8A0A4D5BC4FC}">
      <dgm:prSet/>
      <dgm:spPr/>
      <dgm:t>
        <a:bodyPr/>
        <a:lstStyle/>
        <a:p>
          <a:endParaRPr lang="en-US" sz="1600"/>
        </a:p>
      </dgm:t>
    </dgm:pt>
    <dgm:pt modelId="{30AC92D9-23A4-403A-9FB5-161C56B609B8}" type="sibTrans" cxnId="{F0879D8A-2030-4032-B1C0-8A0A4D5BC4FC}">
      <dgm:prSet/>
      <dgm:spPr/>
      <dgm:t>
        <a:bodyPr/>
        <a:lstStyle/>
        <a:p>
          <a:endParaRPr lang="en-US" sz="1600"/>
        </a:p>
      </dgm:t>
    </dgm:pt>
    <dgm:pt modelId="{B15B128D-E74F-4E14-AD8C-21CA2F893690}">
      <dgm:prSet phldrT="[Text]" custT="1"/>
      <dgm:spPr>
        <a:solidFill>
          <a:schemeClr val="bg1"/>
        </a:solidFill>
        <a:ln>
          <a:solidFill>
            <a:schemeClr val="tx1"/>
          </a:solidFill>
        </a:ln>
      </dgm:spPr>
      <dgm:t>
        <a:bodyPr/>
        <a:lstStyle/>
        <a:p>
          <a:r>
            <a:rPr lang="en-US" sz="400" dirty="0">
              <a:solidFill>
                <a:schemeClr val="tx1"/>
              </a:solidFill>
            </a:rPr>
            <a:t>Grow our Business</a:t>
          </a:r>
        </a:p>
      </dgm:t>
    </dgm:pt>
    <dgm:pt modelId="{A8A1E2FD-52AB-4658-A4D0-4B883FC2A233}" type="parTrans" cxnId="{2CF0D74A-B6F6-4FE2-AC1C-527D038D4034}">
      <dgm:prSet/>
      <dgm:spPr/>
      <dgm:t>
        <a:bodyPr/>
        <a:lstStyle/>
        <a:p>
          <a:endParaRPr lang="en-US" sz="1600"/>
        </a:p>
      </dgm:t>
    </dgm:pt>
    <dgm:pt modelId="{F8A11A55-16B8-4E53-98BA-0A730F430AE9}" type="sibTrans" cxnId="{2CF0D74A-B6F6-4FE2-AC1C-527D038D4034}">
      <dgm:prSet/>
      <dgm:spPr/>
      <dgm:t>
        <a:bodyPr/>
        <a:lstStyle/>
        <a:p>
          <a:endParaRPr lang="en-US" sz="16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dgm:spPr>
        <a:noFill/>
      </dgm:spPr>
      <dgm:t>
        <a:bodyPr/>
        <a:lstStyle/>
        <a:p>
          <a:r>
            <a:rPr lang="en-US" dirty="0">
              <a:solidFill>
                <a:schemeClr val="tx1"/>
              </a:solidFill>
            </a:rPr>
            <a:t>Activate Innovation</a:t>
          </a:r>
        </a:p>
      </dgm:t>
    </dgm:pt>
    <dgm:pt modelId="{6D6BF466-8DE2-4ECF-BA18-23AA9E2CF708}" type="parTrans" cxnId="{B7CD78FB-D590-40AB-874E-E3446BCB9219}">
      <dgm:prSet/>
      <dgm:spPr/>
      <dgm:t>
        <a:bodyPr/>
        <a:lstStyle/>
        <a:p>
          <a:endParaRPr lang="en-US"/>
        </a:p>
      </dgm:t>
    </dgm:pt>
    <dgm:pt modelId="{ADD91C3F-037C-4E84-8B6E-60AE5F8FCEF2}" type="sibTrans" cxnId="{B7CD78FB-D590-40AB-874E-E3446BCB9219}">
      <dgm:prSet/>
      <dgm:spPr/>
      <dgm:t>
        <a:bodyPr/>
        <a:lstStyle/>
        <a:p>
          <a:endParaRPr lang="en-US"/>
        </a:p>
      </dgm:t>
    </dgm:pt>
    <dgm:pt modelId="{3097378F-7487-4C66-AE53-17259C2C5650}">
      <dgm:prSet phldrT="[Text]"/>
      <dgm:spPr>
        <a:solidFill>
          <a:srgbClr val="00B050"/>
        </a:solidFill>
      </dgm:spPr>
      <dgm:t>
        <a:bodyPr/>
        <a:lstStyle/>
        <a:p>
          <a:r>
            <a:rPr lang="en-US" dirty="0"/>
            <a:t>Inspire our People</a:t>
          </a:r>
        </a:p>
      </dgm:t>
    </dgm:pt>
    <dgm:pt modelId="{663263BE-89FA-4057-8775-27511824F5CB}" type="parTrans" cxnId="{F0879D8A-2030-4032-B1C0-8A0A4D5BC4FC}">
      <dgm:prSet/>
      <dgm:spPr/>
      <dgm:t>
        <a:bodyPr/>
        <a:lstStyle/>
        <a:p>
          <a:endParaRPr lang="en-US"/>
        </a:p>
      </dgm:t>
    </dgm:pt>
    <dgm:pt modelId="{30AC92D9-23A4-403A-9FB5-161C56B609B8}" type="sibTrans" cxnId="{F0879D8A-2030-4032-B1C0-8A0A4D5BC4FC}">
      <dgm:prSet/>
      <dgm:spPr/>
      <dgm:t>
        <a:bodyPr/>
        <a:lstStyle/>
        <a:p>
          <a:endParaRPr lang="en-US"/>
        </a:p>
      </dgm:t>
    </dgm:pt>
    <dgm:pt modelId="{B15B128D-E74F-4E14-AD8C-21CA2F893690}">
      <dgm:prSet phldrT="[Text]"/>
      <dgm:spPr>
        <a:solidFill>
          <a:schemeClr val="bg1"/>
        </a:solidFill>
        <a:ln>
          <a:solidFill>
            <a:schemeClr val="tx1"/>
          </a:solidFill>
        </a:ln>
      </dgm:spPr>
      <dgm:t>
        <a:bodyPr/>
        <a:lstStyle/>
        <a:p>
          <a:r>
            <a:rPr lang="en-US" dirty="0">
              <a:solidFill>
                <a:schemeClr val="tx1"/>
              </a:solidFill>
            </a:rPr>
            <a:t>Grow our Business</a:t>
          </a:r>
        </a:p>
      </dgm:t>
    </dgm:pt>
    <dgm:pt modelId="{A8A1E2FD-52AB-4658-A4D0-4B883FC2A233}" type="parTrans" cxnId="{2CF0D74A-B6F6-4FE2-AC1C-527D038D4034}">
      <dgm:prSet/>
      <dgm:spPr/>
      <dgm:t>
        <a:bodyPr/>
        <a:lstStyle/>
        <a:p>
          <a:endParaRPr lang="en-US"/>
        </a:p>
      </dgm:t>
    </dgm:pt>
    <dgm:pt modelId="{F8A11A55-16B8-4E53-98BA-0A730F430AE9}" type="sibTrans" cxnId="{2CF0D74A-B6F6-4FE2-AC1C-527D038D4034}">
      <dgm:prSet/>
      <dgm:spPr/>
      <dgm:t>
        <a:bodyPr/>
        <a:lstStyle/>
        <a:p>
          <a:endParaRPr lang="en-US"/>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a:noFill/>
      </dgm:spPr>
      <dgm:t>
        <a:bodyPr/>
        <a:lstStyle/>
        <a:p>
          <a:r>
            <a:rPr lang="en-US" sz="400" dirty="0">
              <a:solidFill>
                <a:schemeClr val="tx1"/>
              </a:solidFill>
            </a:rPr>
            <a:t>Activate Innovation</a:t>
          </a:r>
        </a:p>
      </dgm:t>
    </dgm:pt>
    <dgm:pt modelId="{6D6BF466-8DE2-4ECF-BA18-23AA9E2CF708}" type="parTrans" cxnId="{B7CD78FB-D590-40AB-874E-E3446BCB9219}">
      <dgm:prSet/>
      <dgm:spPr/>
      <dgm:t>
        <a:bodyPr/>
        <a:lstStyle/>
        <a:p>
          <a:endParaRPr lang="en-US" sz="1600"/>
        </a:p>
      </dgm:t>
    </dgm:pt>
    <dgm:pt modelId="{ADD91C3F-037C-4E84-8B6E-60AE5F8FCEF2}" type="sibTrans" cxnId="{B7CD78FB-D590-40AB-874E-E3446BCB9219}">
      <dgm:prSet/>
      <dgm:spPr/>
      <dgm:t>
        <a:bodyPr/>
        <a:lstStyle/>
        <a:p>
          <a:endParaRPr lang="en-US" sz="1600"/>
        </a:p>
      </dgm:t>
    </dgm:pt>
    <dgm:pt modelId="{3097378F-7487-4C66-AE53-17259C2C5650}">
      <dgm:prSet phldrT="[Text]" custT="1"/>
      <dgm:spPr>
        <a:solidFill>
          <a:srgbClr val="00B050"/>
        </a:solidFill>
      </dgm:spPr>
      <dgm:t>
        <a:bodyPr/>
        <a:lstStyle/>
        <a:p>
          <a:r>
            <a:rPr lang="en-US" sz="400" dirty="0"/>
            <a:t>Inspire our People</a:t>
          </a:r>
        </a:p>
      </dgm:t>
    </dgm:pt>
    <dgm:pt modelId="{663263BE-89FA-4057-8775-27511824F5CB}" type="parTrans" cxnId="{F0879D8A-2030-4032-B1C0-8A0A4D5BC4FC}">
      <dgm:prSet/>
      <dgm:spPr/>
      <dgm:t>
        <a:bodyPr/>
        <a:lstStyle/>
        <a:p>
          <a:endParaRPr lang="en-US" sz="1600"/>
        </a:p>
      </dgm:t>
    </dgm:pt>
    <dgm:pt modelId="{30AC92D9-23A4-403A-9FB5-161C56B609B8}" type="sibTrans" cxnId="{F0879D8A-2030-4032-B1C0-8A0A4D5BC4FC}">
      <dgm:prSet/>
      <dgm:spPr/>
      <dgm:t>
        <a:bodyPr/>
        <a:lstStyle/>
        <a:p>
          <a:endParaRPr lang="en-US" sz="1600"/>
        </a:p>
      </dgm:t>
    </dgm:pt>
    <dgm:pt modelId="{B15B128D-E74F-4E14-AD8C-21CA2F893690}">
      <dgm:prSet phldrT="[Text]" custT="1"/>
      <dgm:spPr>
        <a:solidFill>
          <a:schemeClr val="bg1"/>
        </a:solidFill>
        <a:ln>
          <a:solidFill>
            <a:schemeClr val="tx1"/>
          </a:solidFill>
        </a:ln>
      </dgm:spPr>
      <dgm:t>
        <a:bodyPr/>
        <a:lstStyle/>
        <a:p>
          <a:r>
            <a:rPr lang="en-US" sz="400" dirty="0">
              <a:solidFill>
                <a:schemeClr val="tx1"/>
              </a:solidFill>
            </a:rPr>
            <a:t>Grow our Business</a:t>
          </a:r>
        </a:p>
      </dgm:t>
    </dgm:pt>
    <dgm:pt modelId="{A8A1E2FD-52AB-4658-A4D0-4B883FC2A233}" type="parTrans" cxnId="{2CF0D74A-B6F6-4FE2-AC1C-527D038D4034}">
      <dgm:prSet/>
      <dgm:spPr/>
      <dgm:t>
        <a:bodyPr/>
        <a:lstStyle/>
        <a:p>
          <a:endParaRPr lang="en-US" sz="1600"/>
        </a:p>
      </dgm:t>
    </dgm:pt>
    <dgm:pt modelId="{F8A11A55-16B8-4E53-98BA-0A730F430AE9}" type="sibTrans" cxnId="{2CF0D74A-B6F6-4FE2-AC1C-527D038D4034}">
      <dgm:prSet/>
      <dgm:spPr/>
      <dgm:t>
        <a:bodyPr/>
        <a:lstStyle/>
        <a:p>
          <a:endParaRPr lang="en-US" sz="16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a:noFill/>
      </dgm:spPr>
      <dgm:t>
        <a:bodyPr/>
        <a:lstStyle/>
        <a:p>
          <a:r>
            <a:rPr lang="en-US" sz="400" dirty="0">
              <a:solidFill>
                <a:schemeClr val="tx1"/>
              </a:solidFill>
            </a:rPr>
            <a:t>Activate Innovation</a:t>
          </a:r>
        </a:p>
      </dgm:t>
    </dgm:pt>
    <dgm:pt modelId="{6D6BF466-8DE2-4ECF-BA18-23AA9E2CF708}" type="parTrans" cxnId="{B7CD78FB-D590-40AB-874E-E3446BCB9219}">
      <dgm:prSet/>
      <dgm:spPr/>
      <dgm:t>
        <a:bodyPr/>
        <a:lstStyle/>
        <a:p>
          <a:endParaRPr lang="en-US" sz="1600"/>
        </a:p>
      </dgm:t>
    </dgm:pt>
    <dgm:pt modelId="{ADD91C3F-037C-4E84-8B6E-60AE5F8FCEF2}" type="sibTrans" cxnId="{B7CD78FB-D590-40AB-874E-E3446BCB9219}">
      <dgm:prSet/>
      <dgm:spPr/>
      <dgm:t>
        <a:bodyPr/>
        <a:lstStyle/>
        <a:p>
          <a:endParaRPr lang="en-US" sz="1600"/>
        </a:p>
      </dgm:t>
    </dgm:pt>
    <dgm:pt modelId="{3097378F-7487-4C66-AE53-17259C2C5650}">
      <dgm:prSet phldrT="[Text]" custT="1"/>
      <dgm:spPr>
        <a:solidFill>
          <a:srgbClr val="00B050"/>
        </a:solidFill>
      </dgm:spPr>
      <dgm:t>
        <a:bodyPr/>
        <a:lstStyle/>
        <a:p>
          <a:r>
            <a:rPr lang="en-US" sz="400" dirty="0"/>
            <a:t>Inspire our People</a:t>
          </a:r>
        </a:p>
      </dgm:t>
    </dgm:pt>
    <dgm:pt modelId="{663263BE-89FA-4057-8775-27511824F5CB}" type="parTrans" cxnId="{F0879D8A-2030-4032-B1C0-8A0A4D5BC4FC}">
      <dgm:prSet/>
      <dgm:spPr/>
      <dgm:t>
        <a:bodyPr/>
        <a:lstStyle/>
        <a:p>
          <a:endParaRPr lang="en-US" sz="1600"/>
        </a:p>
      </dgm:t>
    </dgm:pt>
    <dgm:pt modelId="{30AC92D9-23A4-403A-9FB5-161C56B609B8}" type="sibTrans" cxnId="{F0879D8A-2030-4032-B1C0-8A0A4D5BC4FC}">
      <dgm:prSet/>
      <dgm:spPr/>
      <dgm:t>
        <a:bodyPr/>
        <a:lstStyle/>
        <a:p>
          <a:endParaRPr lang="en-US" sz="1600"/>
        </a:p>
      </dgm:t>
    </dgm:pt>
    <dgm:pt modelId="{B15B128D-E74F-4E14-AD8C-21CA2F893690}">
      <dgm:prSet phldrT="[Text]" custT="1"/>
      <dgm:spPr>
        <a:solidFill>
          <a:schemeClr val="bg1"/>
        </a:solidFill>
        <a:ln>
          <a:solidFill>
            <a:schemeClr val="tx1"/>
          </a:solidFill>
        </a:ln>
      </dgm:spPr>
      <dgm:t>
        <a:bodyPr/>
        <a:lstStyle/>
        <a:p>
          <a:r>
            <a:rPr lang="en-US" sz="400" dirty="0">
              <a:solidFill>
                <a:schemeClr val="tx1"/>
              </a:solidFill>
            </a:rPr>
            <a:t>Grow our Business</a:t>
          </a:r>
        </a:p>
      </dgm:t>
    </dgm:pt>
    <dgm:pt modelId="{A8A1E2FD-52AB-4658-A4D0-4B883FC2A233}" type="parTrans" cxnId="{2CF0D74A-B6F6-4FE2-AC1C-527D038D4034}">
      <dgm:prSet/>
      <dgm:spPr/>
      <dgm:t>
        <a:bodyPr/>
        <a:lstStyle/>
        <a:p>
          <a:endParaRPr lang="en-US" sz="1600"/>
        </a:p>
      </dgm:t>
    </dgm:pt>
    <dgm:pt modelId="{F8A11A55-16B8-4E53-98BA-0A730F430AE9}" type="sibTrans" cxnId="{2CF0D74A-B6F6-4FE2-AC1C-527D038D4034}">
      <dgm:prSet/>
      <dgm:spPr/>
      <dgm:t>
        <a:bodyPr/>
        <a:lstStyle/>
        <a:p>
          <a:endParaRPr lang="en-US" sz="16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a:noFill/>
      </dgm:spPr>
      <dgm:t>
        <a:bodyPr/>
        <a:lstStyle/>
        <a:p>
          <a:r>
            <a:rPr lang="en-US" sz="400" dirty="0">
              <a:solidFill>
                <a:schemeClr val="tx1"/>
              </a:solidFill>
            </a:rPr>
            <a:t>Activate Innovation</a:t>
          </a:r>
        </a:p>
      </dgm:t>
    </dgm:pt>
    <dgm:pt modelId="{6D6BF466-8DE2-4ECF-BA18-23AA9E2CF708}" type="parTrans" cxnId="{B7CD78FB-D590-40AB-874E-E3446BCB9219}">
      <dgm:prSet/>
      <dgm:spPr/>
      <dgm:t>
        <a:bodyPr/>
        <a:lstStyle/>
        <a:p>
          <a:endParaRPr lang="en-US" sz="1600"/>
        </a:p>
      </dgm:t>
    </dgm:pt>
    <dgm:pt modelId="{ADD91C3F-037C-4E84-8B6E-60AE5F8FCEF2}" type="sibTrans" cxnId="{B7CD78FB-D590-40AB-874E-E3446BCB9219}">
      <dgm:prSet/>
      <dgm:spPr/>
      <dgm:t>
        <a:bodyPr/>
        <a:lstStyle/>
        <a:p>
          <a:endParaRPr lang="en-US" sz="1600"/>
        </a:p>
      </dgm:t>
    </dgm:pt>
    <dgm:pt modelId="{3097378F-7487-4C66-AE53-17259C2C5650}">
      <dgm:prSet phldrT="[Text]" custT="1"/>
      <dgm:spPr>
        <a:solidFill>
          <a:srgbClr val="00B050"/>
        </a:solidFill>
      </dgm:spPr>
      <dgm:t>
        <a:bodyPr/>
        <a:lstStyle/>
        <a:p>
          <a:r>
            <a:rPr lang="en-US" sz="400" dirty="0"/>
            <a:t>Inspire our People</a:t>
          </a:r>
        </a:p>
      </dgm:t>
    </dgm:pt>
    <dgm:pt modelId="{663263BE-89FA-4057-8775-27511824F5CB}" type="parTrans" cxnId="{F0879D8A-2030-4032-B1C0-8A0A4D5BC4FC}">
      <dgm:prSet/>
      <dgm:spPr/>
      <dgm:t>
        <a:bodyPr/>
        <a:lstStyle/>
        <a:p>
          <a:endParaRPr lang="en-US" sz="1600"/>
        </a:p>
      </dgm:t>
    </dgm:pt>
    <dgm:pt modelId="{30AC92D9-23A4-403A-9FB5-161C56B609B8}" type="sibTrans" cxnId="{F0879D8A-2030-4032-B1C0-8A0A4D5BC4FC}">
      <dgm:prSet/>
      <dgm:spPr/>
      <dgm:t>
        <a:bodyPr/>
        <a:lstStyle/>
        <a:p>
          <a:endParaRPr lang="en-US" sz="1600"/>
        </a:p>
      </dgm:t>
    </dgm:pt>
    <dgm:pt modelId="{B15B128D-E74F-4E14-AD8C-21CA2F893690}">
      <dgm:prSet phldrT="[Text]" custT="1"/>
      <dgm:spPr>
        <a:solidFill>
          <a:schemeClr val="bg1"/>
        </a:solidFill>
        <a:ln>
          <a:solidFill>
            <a:schemeClr val="tx1"/>
          </a:solidFill>
        </a:ln>
      </dgm:spPr>
      <dgm:t>
        <a:bodyPr/>
        <a:lstStyle/>
        <a:p>
          <a:r>
            <a:rPr lang="en-US" sz="400" dirty="0">
              <a:solidFill>
                <a:schemeClr val="tx1"/>
              </a:solidFill>
            </a:rPr>
            <a:t>Grow our Business</a:t>
          </a:r>
        </a:p>
      </dgm:t>
    </dgm:pt>
    <dgm:pt modelId="{A8A1E2FD-52AB-4658-A4D0-4B883FC2A233}" type="parTrans" cxnId="{2CF0D74A-B6F6-4FE2-AC1C-527D038D4034}">
      <dgm:prSet/>
      <dgm:spPr/>
      <dgm:t>
        <a:bodyPr/>
        <a:lstStyle/>
        <a:p>
          <a:endParaRPr lang="en-US" sz="1600"/>
        </a:p>
      </dgm:t>
    </dgm:pt>
    <dgm:pt modelId="{F8A11A55-16B8-4E53-98BA-0A730F430AE9}" type="sibTrans" cxnId="{2CF0D74A-B6F6-4FE2-AC1C-527D038D4034}">
      <dgm:prSet/>
      <dgm:spPr/>
      <dgm:t>
        <a:bodyPr/>
        <a:lstStyle/>
        <a:p>
          <a:endParaRPr lang="en-US" sz="16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5846D67-350F-4AB0-A4F7-C8D51103A798}" type="doc">
      <dgm:prSet loTypeId="urn:microsoft.com/office/officeart/2005/8/layout/cycle8" loCatId="cycle" qsTypeId="urn:microsoft.com/office/officeart/2005/8/quickstyle/simple1" qsCatId="simple" csTypeId="urn:microsoft.com/office/officeart/2005/8/colors/accent1_1" csCatId="accent1" phldr="1"/>
      <dgm:spPr/>
    </dgm:pt>
    <dgm:pt modelId="{FD5B408F-3188-4E69-8B0A-CE4B59A53168}">
      <dgm:prSet phldrT="[Text]" custT="1"/>
      <dgm:spPr>
        <a:noFill/>
      </dgm:spPr>
      <dgm:t>
        <a:bodyPr/>
        <a:lstStyle/>
        <a:p>
          <a:r>
            <a:rPr lang="en-US" sz="400" dirty="0">
              <a:solidFill>
                <a:schemeClr val="tx1"/>
              </a:solidFill>
            </a:rPr>
            <a:t>Activate Innovation</a:t>
          </a:r>
        </a:p>
      </dgm:t>
    </dgm:pt>
    <dgm:pt modelId="{6D6BF466-8DE2-4ECF-BA18-23AA9E2CF708}" type="parTrans" cxnId="{B7CD78FB-D590-40AB-874E-E3446BCB9219}">
      <dgm:prSet/>
      <dgm:spPr/>
      <dgm:t>
        <a:bodyPr/>
        <a:lstStyle/>
        <a:p>
          <a:endParaRPr lang="en-US" sz="1600"/>
        </a:p>
      </dgm:t>
    </dgm:pt>
    <dgm:pt modelId="{ADD91C3F-037C-4E84-8B6E-60AE5F8FCEF2}" type="sibTrans" cxnId="{B7CD78FB-D590-40AB-874E-E3446BCB9219}">
      <dgm:prSet/>
      <dgm:spPr/>
      <dgm:t>
        <a:bodyPr/>
        <a:lstStyle/>
        <a:p>
          <a:endParaRPr lang="en-US" sz="1600"/>
        </a:p>
      </dgm:t>
    </dgm:pt>
    <dgm:pt modelId="{3097378F-7487-4C66-AE53-17259C2C5650}">
      <dgm:prSet phldrT="[Text]" custT="1"/>
      <dgm:spPr>
        <a:solidFill>
          <a:srgbClr val="00B050"/>
        </a:solidFill>
      </dgm:spPr>
      <dgm:t>
        <a:bodyPr/>
        <a:lstStyle/>
        <a:p>
          <a:r>
            <a:rPr lang="en-US" sz="400" dirty="0"/>
            <a:t>Inspire our People</a:t>
          </a:r>
        </a:p>
      </dgm:t>
    </dgm:pt>
    <dgm:pt modelId="{663263BE-89FA-4057-8775-27511824F5CB}" type="parTrans" cxnId="{F0879D8A-2030-4032-B1C0-8A0A4D5BC4FC}">
      <dgm:prSet/>
      <dgm:spPr/>
      <dgm:t>
        <a:bodyPr/>
        <a:lstStyle/>
        <a:p>
          <a:endParaRPr lang="en-US" sz="1600"/>
        </a:p>
      </dgm:t>
    </dgm:pt>
    <dgm:pt modelId="{30AC92D9-23A4-403A-9FB5-161C56B609B8}" type="sibTrans" cxnId="{F0879D8A-2030-4032-B1C0-8A0A4D5BC4FC}">
      <dgm:prSet/>
      <dgm:spPr/>
      <dgm:t>
        <a:bodyPr/>
        <a:lstStyle/>
        <a:p>
          <a:endParaRPr lang="en-US" sz="1600"/>
        </a:p>
      </dgm:t>
    </dgm:pt>
    <dgm:pt modelId="{B15B128D-E74F-4E14-AD8C-21CA2F893690}">
      <dgm:prSet phldrT="[Text]" custT="1"/>
      <dgm:spPr>
        <a:solidFill>
          <a:schemeClr val="bg1"/>
        </a:solidFill>
        <a:ln>
          <a:solidFill>
            <a:schemeClr val="tx1"/>
          </a:solidFill>
        </a:ln>
      </dgm:spPr>
      <dgm:t>
        <a:bodyPr/>
        <a:lstStyle/>
        <a:p>
          <a:r>
            <a:rPr lang="en-US" sz="400" dirty="0">
              <a:solidFill>
                <a:schemeClr val="tx1"/>
              </a:solidFill>
            </a:rPr>
            <a:t>Grow our Business</a:t>
          </a:r>
        </a:p>
      </dgm:t>
    </dgm:pt>
    <dgm:pt modelId="{A8A1E2FD-52AB-4658-A4D0-4B883FC2A233}" type="parTrans" cxnId="{2CF0D74A-B6F6-4FE2-AC1C-527D038D4034}">
      <dgm:prSet/>
      <dgm:spPr/>
      <dgm:t>
        <a:bodyPr/>
        <a:lstStyle/>
        <a:p>
          <a:endParaRPr lang="en-US" sz="1600"/>
        </a:p>
      </dgm:t>
    </dgm:pt>
    <dgm:pt modelId="{F8A11A55-16B8-4E53-98BA-0A730F430AE9}" type="sibTrans" cxnId="{2CF0D74A-B6F6-4FE2-AC1C-527D038D4034}">
      <dgm:prSet/>
      <dgm:spPr/>
      <dgm:t>
        <a:bodyPr/>
        <a:lstStyle/>
        <a:p>
          <a:endParaRPr lang="en-US" sz="1600"/>
        </a:p>
      </dgm:t>
    </dgm:pt>
    <dgm:pt modelId="{69D7ECAB-063E-4DD0-89E6-39B94C9C2AF4}" type="pres">
      <dgm:prSet presAssocID="{35846D67-350F-4AB0-A4F7-C8D51103A798}" presName="compositeShape" presStyleCnt="0">
        <dgm:presLayoutVars>
          <dgm:chMax val="7"/>
          <dgm:dir/>
          <dgm:resizeHandles val="exact"/>
        </dgm:presLayoutVars>
      </dgm:prSet>
      <dgm:spPr/>
    </dgm:pt>
    <dgm:pt modelId="{F16D598F-6EC3-4409-A3E0-5EBC2E36E8AF}" type="pres">
      <dgm:prSet presAssocID="{35846D67-350F-4AB0-A4F7-C8D51103A798}" presName="wedge1" presStyleLbl="node1" presStyleIdx="0" presStyleCnt="3"/>
      <dgm:spPr/>
    </dgm:pt>
    <dgm:pt modelId="{E0A732BF-4180-4675-B007-E77E511D1595}" type="pres">
      <dgm:prSet presAssocID="{35846D67-350F-4AB0-A4F7-C8D51103A798}" presName="dummy1a" presStyleCnt="0"/>
      <dgm:spPr/>
    </dgm:pt>
    <dgm:pt modelId="{C08B727C-0238-4CBD-9312-844B8E56434F}" type="pres">
      <dgm:prSet presAssocID="{35846D67-350F-4AB0-A4F7-C8D51103A798}" presName="dummy1b" presStyleCnt="0"/>
      <dgm:spPr/>
    </dgm:pt>
    <dgm:pt modelId="{BD97131B-F8EA-4036-85D2-F841BDE16ADA}" type="pres">
      <dgm:prSet presAssocID="{35846D67-350F-4AB0-A4F7-C8D51103A798}" presName="wedge1Tx" presStyleLbl="node1" presStyleIdx="0" presStyleCnt="3">
        <dgm:presLayoutVars>
          <dgm:chMax val="0"/>
          <dgm:chPref val="0"/>
          <dgm:bulletEnabled val="1"/>
        </dgm:presLayoutVars>
      </dgm:prSet>
      <dgm:spPr/>
    </dgm:pt>
    <dgm:pt modelId="{CAF8EFCF-8B2C-4A17-9AAE-F762589E3E85}" type="pres">
      <dgm:prSet presAssocID="{35846D67-350F-4AB0-A4F7-C8D51103A798}" presName="wedge2" presStyleLbl="node1" presStyleIdx="1" presStyleCnt="3"/>
      <dgm:spPr/>
    </dgm:pt>
    <dgm:pt modelId="{043BA824-6F3B-4BD0-9022-4B2F71DDA9E8}" type="pres">
      <dgm:prSet presAssocID="{35846D67-350F-4AB0-A4F7-C8D51103A798}" presName="dummy2a" presStyleCnt="0"/>
      <dgm:spPr/>
    </dgm:pt>
    <dgm:pt modelId="{C8BA6262-2D46-4DC3-A2CE-9E0D9E9540C3}" type="pres">
      <dgm:prSet presAssocID="{35846D67-350F-4AB0-A4F7-C8D51103A798}" presName="dummy2b" presStyleCnt="0"/>
      <dgm:spPr/>
    </dgm:pt>
    <dgm:pt modelId="{CD12B9A4-C175-4FD5-A57F-F6AC9612949D}" type="pres">
      <dgm:prSet presAssocID="{35846D67-350F-4AB0-A4F7-C8D51103A798}" presName="wedge2Tx" presStyleLbl="node1" presStyleIdx="1" presStyleCnt="3">
        <dgm:presLayoutVars>
          <dgm:chMax val="0"/>
          <dgm:chPref val="0"/>
          <dgm:bulletEnabled val="1"/>
        </dgm:presLayoutVars>
      </dgm:prSet>
      <dgm:spPr/>
    </dgm:pt>
    <dgm:pt modelId="{EC155582-6CAF-4FDD-B16D-3ECF4C6A22F9}" type="pres">
      <dgm:prSet presAssocID="{35846D67-350F-4AB0-A4F7-C8D51103A798}" presName="wedge3" presStyleLbl="node1" presStyleIdx="2" presStyleCnt="3"/>
      <dgm:spPr/>
    </dgm:pt>
    <dgm:pt modelId="{92BAB202-A908-4DEF-878B-CD9FD9A4975C}" type="pres">
      <dgm:prSet presAssocID="{35846D67-350F-4AB0-A4F7-C8D51103A798}" presName="dummy3a" presStyleCnt="0"/>
      <dgm:spPr/>
    </dgm:pt>
    <dgm:pt modelId="{5EC02154-209C-410D-AC2D-EFDE03E67B00}" type="pres">
      <dgm:prSet presAssocID="{35846D67-350F-4AB0-A4F7-C8D51103A798}" presName="dummy3b" presStyleCnt="0"/>
      <dgm:spPr/>
    </dgm:pt>
    <dgm:pt modelId="{ED196940-CD4B-41F9-9AB2-4E8A5DC1C173}" type="pres">
      <dgm:prSet presAssocID="{35846D67-350F-4AB0-A4F7-C8D51103A798}" presName="wedge3Tx" presStyleLbl="node1" presStyleIdx="2" presStyleCnt="3">
        <dgm:presLayoutVars>
          <dgm:chMax val="0"/>
          <dgm:chPref val="0"/>
          <dgm:bulletEnabled val="1"/>
        </dgm:presLayoutVars>
      </dgm:prSet>
      <dgm:spPr/>
    </dgm:pt>
    <dgm:pt modelId="{C0572668-C668-4F16-BB8D-F9D30FB15295}" type="pres">
      <dgm:prSet presAssocID="{ADD91C3F-037C-4E84-8B6E-60AE5F8FCEF2}" presName="arrowWedge1" presStyleLbl="fgSibTrans2D1" presStyleIdx="0" presStyleCnt="3"/>
      <dgm:spPr/>
    </dgm:pt>
    <dgm:pt modelId="{0C62721D-24D6-4395-B32D-212CD70A60DD}" type="pres">
      <dgm:prSet presAssocID="{30AC92D9-23A4-403A-9FB5-161C56B609B8}" presName="arrowWedge2" presStyleLbl="fgSibTrans2D1" presStyleIdx="1" presStyleCnt="3"/>
      <dgm:spPr/>
    </dgm:pt>
    <dgm:pt modelId="{D0C0EECA-ECBF-4383-A1AD-590B329F106E}" type="pres">
      <dgm:prSet presAssocID="{F8A11A55-16B8-4E53-98BA-0A730F430AE9}" presName="arrowWedge3" presStyleLbl="fgSibTrans2D1" presStyleIdx="2" presStyleCnt="3"/>
      <dgm:spPr/>
    </dgm:pt>
  </dgm:ptLst>
  <dgm:cxnLst>
    <dgm:cxn modelId="{D04FDD1F-A492-4EEF-AAD2-D80554D3FC57}" type="presOf" srcId="{B15B128D-E74F-4E14-AD8C-21CA2F893690}" destId="{ED196940-CD4B-41F9-9AB2-4E8A5DC1C173}" srcOrd="1" destOrd="0" presId="urn:microsoft.com/office/officeart/2005/8/layout/cycle8"/>
    <dgm:cxn modelId="{E5AF3424-0B6A-4B51-82CD-ACA2E67B89C8}" type="presOf" srcId="{FD5B408F-3188-4E69-8B0A-CE4B59A53168}" destId="{F16D598F-6EC3-4409-A3E0-5EBC2E36E8AF}" srcOrd="0" destOrd="0" presId="urn:microsoft.com/office/officeart/2005/8/layout/cycle8"/>
    <dgm:cxn modelId="{7D330C5B-A9ED-4F31-9C79-812F4D8F0380}" type="presOf" srcId="{3097378F-7487-4C66-AE53-17259C2C5650}" destId="{CD12B9A4-C175-4FD5-A57F-F6AC9612949D}" srcOrd="1" destOrd="0" presId="urn:microsoft.com/office/officeart/2005/8/layout/cycle8"/>
    <dgm:cxn modelId="{2CF0D74A-B6F6-4FE2-AC1C-527D038D4034}" srcId="{35846D67-350F-4AB0-A4F7-C8D51103A798}" destId="{B15B128D-E74F-4E14-AD8C-21CA2F893690}" srcOrd="2" destOrd="0" parTransId="{A8A1E2FD-52AB-4658-A4D0-4B883FC2A233}" sibTransId="{F8A11A55-16B8-4E53-98BA-0A730F430AE9}"/>
    <dgm:cxn modelId="{F0879D8A-2030-4032-B1C0-8A0A4D5BC4FC}" srcId="{35846D67-350F-4AB0-A4F7-C8D51103A798}" destId="{3097378F-7487-4C66-AE53-17259C2C5650}" srcOrd="1" destOrd="0" parTransId="{663263BE-89FA-4057-8775-27511824F5CB}" sibTransId="{30AC92D9-23A4-403A-9FB5-161C56B609B8}"/>
    <dgm:cxn modelId="{69258598-8BD4-4227-857A-2576F13CCC4F}" type="presOf" srcId="{3097378F-7487-4C66-AE53-17259C2C5650}" destId="{CAF8EFCF-8B2C-4A17-9AAE-F762589E3E85}" srcOrd="0" destOrd="0" presId="urn:microsoft.com/office/officeart/2005/8/layout/cycle8"/>
    <dgm:cxn modelId="{739B42B3-232A-4AB5-843A-4C0B8C3B5D39}" type="presOf" srcId="{B15B128D-E74F-4E14-AD8C-21CA2F893690}" destId="{EC155582-6CAF-4FDD-B16D-3ECF4C6A22F9}" srcOrd="0" destOrd="0" presId="urn:microsoft.com/office/officeart/2005/8/layout/cycle8"/>
    <dgm:cxn modelId="{A2D7D1C5-2CC1-4344-8DF4-9FC715ABF69A}" type="presOf" srcId="{35846D67-350F-4AB0-A4F7-C8D51103A798}" destId="{69D7ECAB-063E-4DD0-89E6-39B94C9C2AF4}" srcOrd="0" destOrd="0" presId="urn:microsoft.com/office/officeart/2005/8/layout/cycle8"/>
    <dgm:cxn modelId="{498F7FEB-26FA-439D-A723-E36CFC13F864}" type="presOf" srcId="{FD5B408F-3188-4E69-8B0A-CE4B59A53168}" destId="{BD97131B-F8EA-4036-85D2-F841BDE16ADA}" srcOrd="1" destOrd="0" presId="urn:microsoft.com/office/officeart/2005/8/layout/cycle8"/>
    <dgm:cxn modelId="{B7CD78FB-D590-40AB-874E-E3446BCB9219}" srcId="{35846D67-350F-4AB0-A4F7-C8D51103A798}" destId="{FD5B408F-3188-4E69-8B0A-CE4B59A53168}" srcOrd="0" destOrd="0" parTransId="{6D6BF466-8DE2-4ECF-BA18-23AA9E2CF708}" sibTransId="{ADD91C3F-037C-4E84-8B6E-60AE5F8FCEF2}"/>
    <dgm:cxn modelId="{286FC6AE-0C7E-4897-AB1F-02D593FF5B1A}" type="presParOf" srcId="{69D7ECAB-063E-4DD0-89E6-39B94C9C2AF4}" destId="{F16D598F-6EC3-4409-A3E0-5EBC2E36E8AF}" srcOrd="0" destOrd="0" presId="urn:microsoft.com/office/officeart/2005/8/layout/cycle8"/>
    <dgm:cxn modelId="{C7A35105-7562-4EC5-894C-D02655C58704}" type="presParOf" srcId="{69D7ECAB-063E-4DD0-89E6-39B94C9C2AF4}" destId="{E0A732BF-4180-4675-B007-E77E511D1595}" srcOrd="1" destOrd="0" presId="urn:microsoft.com/office/officeart/2005/8/layout/cycle8"/>
    <dgm:cxn modelId="{BA25798E-5BE8-4E2E-B787-F1FE2A01B120}" type="presParOf" srcId="{69D7ECAB-063E-4DD0-89E6-39B94C9C2AF4}" destId="{C08B727C-0238-4CBD-9312-844B8E56434F}" srcOrd="2" destOrd="0" presId="urn:microsoft.com/office/officeart/2005/8/layout/cycle8"/>
    <dgm:cxn modelId="{223F9A79-F419-41A4-9D02-84AC4F818A98}" type="presParOf" srcId="{69D7ECAB-063E-4DD0-89E6-39B94C9C2AF4}" destId="{BD97131B-F8EA-4036-85D2-F841BDE16ADA}" srcOrd="3" destOrd="0" presId="urn:microsoft.com/office/officeart/2005/8/layout/cycle8"/>
    <dgm:cxn modelId="{D1CB0033-D7B8-4273-BA9E-B74FEE68450A}" type="presParOf" srcId="{69D7ECAB-063E-4DD0-89E6-39B94C9C2AF4}" destId="{CAF8EFCF-8B2C-4A17-9AAE-F762589E3E85}" srcOrd="4" destOrd="0" presId="urn:microsoft.com/office/officeart/2005/8/layout/cycle8"/>
    <dgm:cxn modelId="{0F862B49-38D6-401F-AC56-03CB2EFAF6CF}" type="presParOf" srcId="{69D7ECAB-063E-4DD0-89E6-39B94C9C2AF4}" destId="{043BA824-6F3B-4BD0-9022-4B2F71DDA9E8}" srcOrd="5" destOrd="0" presId="urn:microsoft.com/office/officeart/2005/8/layout/cycle8"/>
    <dgm:cxn modelId="{9B923125-6C19-4A45-990F-FCE58EF4BC38}" type="presParOf" srcId="{69D7ECAB-063E-4DD0-89E6-39B94C9C2AF4}" destId="{C8BA6262-2D46-4DC3-A2CE-9E0D9E9540C3}" srcOrd="6" destOrd="0" presId="urn:microsoft.com/office/officeart/2005/8/layout/cycle8"/>
    <dgm:cxn modelId="{493A7677-0AE6-4C5B-8D00-B856FB3E3A74}" type="presParOf" srcId="{69D7ECAB-063E-4DD0-89E6-39B94C9C2AF4}" destId="{CD12B9A4-C175-4FD5-A57F-F6AC9612949D}" srcOrd="7" destOrd="0" presId="urn:microsoft.com/office/officeart/2005/8/layout/cycle8"/>
    <dgm:cxn modelId="{C11F3E1B-9C14-4E7B-889E-CBFAC00C3E88}" type="presParOf" srcId="{69D7ECAB-063E-4DD0-89E6-39B94C9C2AF4}" destId="{EC155582-6CAF-4FDD-B16D-3ECF4C6A22F9}" srcOrd="8" destOrd="0" presId="urn:microsoft.com/office/officeart/2005/8/layout/cycle8"/>
    <dgm:cxn modelId="{78A15E38-0593-4FB6-A8F3-15AA75B9EDDE}" type="presParOf" srcId="{69D7ECAB-063E-4DD0-89E6-39B94C9C2AF4}" destId="{92BAB202-A908-4DEF-878B-CD9FD9A4975C}" srcOrd="9" destOrd="0" presId="urn:microsoft.com/office/officeart/2005/8/layout/cycle8"/>
    <dgm:cxn modelId="{ECDA7059-E910-4F23-852C-30B612172C17}" type="presParOf" srcId="{69D7ECAB-063E-4DD0-89E6-39B94C9C2AF4}" destId="{5EC02154-209C-410D-AC2D-EFDE03E67B00}" srcOrd="10" destOrd="0" presId="urn:microsoft.com/office/officeart/2005/8/layout/cycle8"/>
    <dgm:cxn modelId="{ADC5C2D1-D05A-47C0-9F10-6796D1E69720}" type="presParOf" srcId="{69D7ECAB-063E-4DD0-89E6-39B94C9C2AF4}" destId="{ED196940-CD4B-41F9-9AB2-4E8A5DC1C173}" srcOrd="11" destOrd="0" presId="urn:microsoft.com/office/officeart/2005/8/layout/cycle8"/>
    <dgm:cxn modelId="{C612B97C-4CA2-43B1-8088-429DA9DC6A49}" type="presParOf" srcId="{69D7ECAB-063E-4DD0-89E6-39B94C9C2AF4}" destId="{C0572668-C668-4F16-BB8D-F9D30FB15295}" srcOrd="12" destOrd="0" presId="urn:microsoft.com/office/officeart/2005/8/layout/cycle8"/>
    <dgm:cxn modelId="{55C78E5C-476C-4C0F-B7CF-003C000BFA5B}" type="presParOf" srcId="{69D7ECAB-063E-4DD0-89E6-39B94C9C2AF4}" destId="{0C62721D-24D6-4395-B32D-212CD70A60DD}" srcOrd="13" destOrd="0" presId="urn:microsoft.com/office/officeart/2005/8/layout/cycle8"/>
    <dgm:cxn modelId="{E5060B03-FADF-40DB-91DF-3791C68334B6}" type="presParOf" srcId="{69D7ECAB-063E-4DD0-89E6-39B94C9C2AF4}" destId="{D0C0EECA-ECBF-4383-A1AD-590B329F106E}" srcOrd="14" destOrd="0" presId="urn:microsoft.com/office/officeart/2005/8/layout/cycle8"/>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80B8B-040E-4270-8743-5C0D213101A5}">
      <dsp:nvSpPr>
        <dsp:cNvPr id="0" name=""/>
        <dsp:cNvSpPr/>
      </dsp:nvSpPr>
      <dsp:spPr>
        <a:xfrm>
          <a:off x="0" y="119131"/>
          <a:ext cx="1522853" cy="705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1A7DAF9-A7EB-4E3D-8BF4-E984EC1CED53}">
      <dsp:nvSpPr>
        <dsp:cNvPr id="0" name=""/>
        <dsp:cNvSpPr/>
      </dsp:nvSpPr>
      <dsp:spPr>
        <a:xfrm>
          <a:off x="76142" y="43550"/>
          <a:ext cx="1065997" cy="488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292" tIns="0" rIns="40292" bIns="0" numCol="1" spcCol="1270" anchor="ctr" anchorCtr="0">
          <a:noAutofit/>
        </a:bodyPr>
        <a:lstStyle/>
        <a:p>
          <a:pPr marL="0" lvl="0" indent="0" algn="l" defTabSz="533400">
            <a:lnSpc>
              <a:spcPct val="90000"/>
            </a:lnSpc>
            <a:spcBef>
              <a:spcPct val="0"/>
            </a:spcBef>
            <a:spcAft>
              <a:spcPct val="35000"/>
            </a:spcAft>
            <a:buNone/>
          </a:pPr>
          <a:r>
            <a:rPr lang="en-US" sz="1200" kern="1200" dirty="0"/>
            <a:t>Journey 1 </a:t>
          </a:r>
          <a:r>
            <a:rPr lang="en-US" sz="1200" b="1" kern="1200" dirty="0">
              <a:solidFill>
                <a:srgbClr val="FFFF00"/>
              </a:solidFill>
            </a:rPr>
            <a:t>G/H</a:t>
          </a:r>
        </a:p>
      </dsp:txBody>
      <dsp:txXfrm>
        <a:off x="100006" y="67414"/>
        <a:ext cx="1018269" cy="441132"/>
      </dsp:txXfrm>
    </dsp:sp>
    <dsp:sp modelId="{72A25556-5D6D-4FF4-85C7-8F024DA08196}">
      <dsp:nvSpPr>
        <dsp:cNvPr id="0" name=""/>
        <dsp:cNvSpPr/>
      </dsp:nvSpPr>
      <dsp:spPr>
        <a:xfrm>
          <a:off x="0" y="1051511"/>
          <a:ext cx="1522853" cy="705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F25EB0-E25F-4913-8D83-6C9150A3CABF}">
      <dsp:nvSpPr>
        <dsp:cNvPr id="0" name=""/>
        <dsp:cNvSpPr/>
      </dsp:nvSpPr>
      <dsp:spPr>
        <a:xfrm>
          <a:off x="76142" y="975931"/>
          <a:ext cx="1065997" cy="488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292" tIns="0" rIns="40292" bIns="0" numCol="1" spcCol="1270" anchor="ctr" anchorCtr="0">
          <a:noAutofit/>
        </a:bodyPr>
        <a:lstStyle/>
        <a:p>
          <a:pPr marL="0" lvl="0" indent="0" algn="l" defTabSz="533400">
            <a:lnSpc>
              <a:spcPct val="90000"/>
            </a:lnSpc>
            <a:spcBef>
              <a:spcPct val="0"/>
            </a:spcBef>
            <a:spcAft>
              <a:spcPct val="35000"/>
            </a:spcAft>
            <a:buNone/>
          </a:pPr>
          <a:r>
            <a:rPr lang="en-US" sz="1200" kern="1200" dirty="0"/>
            <a:t>Journey 2 </a:t>
          </a:r>
          <a:r>
            <a:rPr lang="en-US" sz="1200" b="1" kern="1200" dirty="0">
              <a:solidFill>
                <a:srgbClr val="FFFF00"/>
              </a:solidFill>
            </a:rPr>
            <a:t>I/J</a:t>
          </a:r>
        </a:p>
      </dsp:txBody>
      <dsp:txXfrm>
        <a:off x="100006" y="999795"/>
        <a:ext cx="1018269" cy="441132"/>
      </dsp:txXfrm>
    </dsp:sp>
    <dsp:sp modelId="{A305C489-B24A-4489-87AD-E79EA4B1066F}">
      <dsp:nvSpPr>
        <dsp:cNvPr id="0" name=""/>
        <dsp:cNvSpPr/>
      </dsp:nvSpPr>
      <dsp:spPr>
        <a:xfrm>
          <a:off x="0" y="1983892"/>
          <a:ext cx="1522853" cy="705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E69A04-3EF3-403E-BB4D-9621FCBB8934}">
      <dsp:nvSpPr>
        <dsp:cNvPr id="0" name=""/>
        <dsp:cNvSpPr/>
      </dsp:nvSpPr>
      <dsp:spPr>
        <a:xfrm>
          <a:off x="76142" y="1908311"/>
          <a:ext cx="1065997" cy="488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292" tIns="0" rIns="40292" bIns="0" numCol="1" spcCol="1270" anchor="ctr" anchorCtr="0">
          <a:noAutofit/>
        </a:bodyPr>
        <a:lstStyle/>
        <a:p>
          <a:pPr marL="0" lvl="0" indent="0" algn="l" defTabSz="533400">
            <a:lnSpc>
              <a:spcPct val="90000"/>
            </a:lnSpc>
            <a:spcBef>
              <a:spcPct val="0"/>
            </a:spcBef>
            <a:spcAft>
              <a:spcPct val="35000"/>
            </a:spcAft>
            <a:buNone/>
          </a:pPr>
          <a:r>
            <a:rPr lang="en-US" sz="1200" kern="1200" dirty="0"/>
            <a:t>Journey 3 </a:t>
          </a:r>
          <a:r>
            <a:rPr lang="en-US" sz="1200" b="1" kern="1200" dirty="0">
              <a:solidFill>
                <a:srgbClr val="FFFF00"/>
              </a:solidFill>
            </a:rPr>
            <a:t>K/L</a:t>
          </a:r>
        </a:p>
      </dsp:txBody>
      <dsp:txXfrm>
        <a:off x="100006" y="1932175"/>
        <a:ext cx="1018269" cy="4411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E11C2E-DEB7-4604-969C-9D7FC8392320}">
      <dsp:nvSpPr>
        <dsp:cNvPr id="0" name=""/>
        <dsp:cNvSpPr/>
      </dsp:nvSpPr>
      <dsp:spPr>
        <a:xfrm>
          <a:off x="680252" y="288"/>
          <a:ext cx="1001496" cy="1001496"/>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C94EED-7784-4730-BD6C-FA0CA86DAC1C}">
      <dsp:nvSpPr>
        <dsp:cNvPr id="0" name=""/>
        <dsp:cNvSpPr/>
      </dsp:nvSpPr>
      <dsp:spPr>
        <a:xfrm>
          <a:off x="0" y="35201"/>
          <a:ext cx="574628" cy="5746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D8D4CF-02E4-4725-94DE-511A71CAE7F1}">
      <dsp:nvSpPr>
        <dsp:cNvPr id="0" name=""/>
        <dsp:cNvSpPr/>
      </dsp:nvSpPr>
      <dsp:spPr>
        <a:xfrm>
          <a:off x="360102"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0" kern="1200"/>
            <a:t>AT RECRUITMENT</a:t>
          </a:r>
        </a:p>
      </dsp:txBody>
      <dsp:txXfrm>
        <a:off x="360102" y="1313725"/>
        <a:ext cx="1641796" cy="656718"/>
      </dsp:txXfrm>
    </dsp:sp>
    <dsp:sp modelId="{BE221B60-9D09-4038-ABA9-552E04CB5915}">
      <dsp:nvSpPr>
        <dsp:cNvPr id="0" name=""/>
        <dsp:cNvSpPr/>
      </dsp:nvSpPr>
      <dsp:spPr>
        <a:xfrm>
          <a:off x="2609364" y="288"/>
          <a:ext cx="1001496" cy="1001496"/>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764605-87A5-401F-8477-B99BFA818653}">
      <dsp:nvSpPr>
        <dsp:cNvPr id="0" name=""/>
        <dsp:cNvSpPr/>
      </dsp:nvSpPr>
      <dsp:spPr>
        <a:xfrm>
          <a:off x="2822797" y="213721"/>
          <a:ext cx="574628" cy="5746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757015-819F-46F7-A748-62C54A4C485D}">
      <dsp:nvSpPr>
        <dsp:cNvPr id="0" name=""/>
        <dsp:cNvSpPr/>
      </dsp:nvSpPr>
      <dsp:spPr>
        <a:xfrm>
          <a:off x="2289213"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0" kern="1200"/>
            <a:t>PERFORMANCE MANAGEMENT</a:t>
          </a:r>
        </a:p>
      </dsp:txBody>
      <dsp:txXfrm>
        <a:off x="2289213" y="1313725"/>
        <a:ext cx="1641796" cy="656718"/>
      </dsp:txXfrm>
    </dsp:sp>
    <dsp:sp modelId="{8AC1EC27-51F1-4F00-955D-B8B802872D45}">
      <dsp:nvSpPr>
        <dsp:cNvPr id="0" name=""/>
        <dsp:cNvSpPr/>
      </dsp:nvSpPr>
      <dsp:spPr>
        <a:xfrm>
          <a:off x="680252" y="2380893"/>
          <a:ext cx="1001496" cy="1001496"/>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9C4A76-79A2-4E7A-8DC6-51A857F987F8}">
      <dsp:nvSpPr>
        <dsp:cNvPr id="0" name=""/>
        <dsp:cNvSpPr/>
      </dsp:nvSpPr>
      <dsp:spPr>
        <a:xfrm>
          <a:off x="893686" y="2594327"/>
          <a:ext cx="574628" cy="5746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68FC14-5E1A-4BEC-B4A7-49FC5805C156}">
      <dsp:nvSpPr>
        <dsp:cNvPr id="0" name=""/>
        <dsp:cNvSpPr/>
      </dsp:nvSpPr>
      <dsp:spPr>
        <a:xfrm>
          <a:off x="360102" y="3694331"/>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0" kern="1200"/>
            <a:t>DEVELOPMENT PLANNING </a:t>
          </a:r>
        </a:p>
        <a:p>
          <a:pPr marL="0" lvl="0" indent="0" algn="ctr" defTabSz="533400">
            <a:lnSpc>
              <a:spcPct val="100000"/>
            </a:lnSpc>
            <a:spcBef>
              <a:spcPct val="0"/>
            </a:spcBef>
            <a:spcAft>
              <a:spcPct val="35000"/>
            </a:spcAft>
            <a:buNone/>
            <a:defRPr cap="all"/>
          </a:pPr>
          <a:r>
            <a:rPr lang="en-US" sz="1200" b="0" kern="1200"/>
            <a:t>LEADERSHIP 360</a:t>
          </a:r>
        </a:p>
      </dsp:txBody>
      <dsp:txXfrm>
        <a:off x="360102" y="3694331"/>
        <a:ext cx="1641796" cy="656718"/>
      </dsp:txXfrm>
    </dsp:sp>
    <dsp:sp modelId="{788FA9D6-BD99-4286-B414-B7C95EA794B8}">
      <dsp:nvSpPr>
        <dsp:cNvPr id="0" name=""/>
        <dsp:cNvSpPr/>
      </dsp:nvSpPr>
      <dsp:spPr>
        <a:xfrm>
          <a:off x="2609364" y="2380893"/>
          <a:ext cx="1001496" cy="1001496"/>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A2130C-E997-4367-9B33-39C1F5813411}">
      <dsp:nvSpPr>
        <dsp:cNvPr id="0" name=""/>
        <dsp:cNvSpPr/>
      </dsp:nvSpPr>
      <dsp:spPr>
        <a:xfrm>
          <a:off x="2822797" y="2594327"/>
          <a:ext cx="574628" cy="5746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C07E0B-2935-4B8B-8887-34A0D9DD864E}">
      <dsp:nvSpPr>
        <dsp:cNvPr id="0" name=""/>
        <dsp:cNvSpPr/>
      </dsp:nvSpPr>
      <dsp:spPr>
        <a:xfrm>
          <a:off x="2289213" y="3694331"/>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0" kern="1200"/>
            <a:t>PROFESSIONAL DEVELOPMENT &amp; GROWTH OPPORTUNITIES</a:t>
          </a:r>
        </a:p>
      </dsp:txBody>
      <dsp:txXfrm>
        <a:off x="2289213" y="3694331"/>
        <a:ext cx="1641796" cy="6567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1281086" y="292478"/>
          <a:ext cx="3779722" cy="3779722"/>
        </a:xfrm>
        <a:prstGeom prst="pie">
          <a:avLst>
            <a:gd name="adj1" fmla="val 16200000"/>
            <a:gd name="adj2" fmla="val 1800000"/>
          </a:avLst>
        </a:prstGeom>
        <a:solidFill>
          <a:schemeClr val="accent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Activate Innovation</a:t>
          </a:r>
        </a:p>
      </dsp:txBody>
      <dsp:txXfrm>
        <a:off x="3273090" y="1093419"/>
        <a:ext cx="1349901" cy="1124917"/>
      </dsp:txXfrm>
    </dsp:sp>
    <dsp:sp modelId="{CAF8EFCF-8B2C-4A17-9AAE-F762589E3E85}">
      <dsp:nvSpPr>
        <dsp:cNvPr id="0" name=""/>
        <dsp:cNvSpPr/>
      </dsp:nvSpPr>
      <dsp:spPr>
        <a:xfrm>
          <a:off x="1203242" y="427468"/>
          <a:ext cx="3779722" cy="3779722"/>
        </a:xfrm>
        <a:prstGeom prst="pie">
          <a:avLst>
            <a:gd name="adj1" fmla="val 1800000"/>
            <a:gd name="adj2" fmla="val 9000000"/>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Inspire our People</a:t>
          </a:r>
        </a:p>
      </dsp:txBody>
      <dsp:txXfrm>
        <a:off x="2103176" y="2879788"/>
        <a:ext cx="2024851" cy="989927"/>
      </dsp:txXfrm>
    </dsp:sp>
    <dsp:sp modelId="{EC155582-6CAF-4FDD-B16D-3ECF4C6A22F9}">
      <dsp:nvSpPr>
        <dsp:cNvPr id="0" name=""/>
        <dsp:cNvSpPr/>
      </dsp:nvSpPr>
      <dsp:spPr>
        <a:xfrm>
          <a:off x="1125397" y="292478"/>
          <a:ext cx="3779722" cy="3779722"/>
        </a:xfrm>
        <a:prstGeom prst="pie">
          <a:avLst>
            <a:gd name="adj1" fmla="val 90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Grow your Business</a:t>
          </a:r>
        </a:p>
      </dsp:txBody>
      <dsp:txXfrm>
        <a:off x="1563215" y="1093419"/>
        <a:ext cx="1349901" cy="1124917"/>
      </dsp:txXfrm>
    </dsp:sp>
    <dsp:sp modelId="{C0572668-C668-4F16-BB8D-F9D30FB15295}">
      <dsp:nvSpPr>
        <dsp:cNvPr id="0" name=""/>
        <dsp:cNvSpPr/>
      </dsp:nvSpPr>
      <dsp:spPr>
        <a:xfrm>
          <a:off x="1047415" y="58495"/>
          <a:ext cx="4247688" cy="4247688"/>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969259" y="193246"/>
          <a:ext cx="4247688" cy="4247688"/>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891102" y="58495"/>
          <a:ext cx="4247688" cy="4247688"/>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256313" y="37523"/>
          <a:ext cx="484916" cy="484916"/>
        </a:xfrm>
        <a:prstGeom prst="pie">
          <a:avLst>
            <a:gd name="adj1" fmla="val 16200000"/>
            <a:gd name="adj2" fmla="val 18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t>Activate Innovation</a:t>
          </a:r>
        </a:p>
      </dsp:txBody>
      <dsp:txXfrm>
        <a:off x="511875" y="140279"/>
        <a:ext cx="173184" cy="144320"/>
      </dsp:txXfrm>
    </dsp:sp>
    <dsp:sp modelId="{CAF8EFCF-8B2C-4A17-9AAE-F762589E3E85}">
      <dsp:nvSpPr>
        <dsp:cNvPr id="0" name=""/>
        <dsp:cNvSpPr/>
      </dsp:nvSpPr>
      <dsp:spPr>
        <a:xfrm>
          <a:off x="246326" y="54841"/>
          <a:ext cx="484916" cy="484916"/>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361782" y="369460"/>
        <a:ext cx="259776" cy="127002"/>
      </dsp:txXfrm>
    </dsp:sp>
    <dsp:sp modelId="{EC155582-6CAF-4FDD-B16D-3ECF4C6A22F9}">
      <dsp:nvSpPr>
        <dsp:cNvPr id="0" name=""/>
        <dsp:cNvSpPr/>
      </dsp:nvSpPr>
      <dsp:spPr>
        <a:xfrm>
          <a:off x="236339" y="37523"/>
          <a:ext cx="484916" cy="484916"/>
        </a:xfrm>
        <a:prstGeom prst="pie">
          <a:avLst>
            <a:gd name="adj1" fmla="val 9000000"/>
            <a:gd name="adj2" fmla="val 16200000"/>
          </a:avLst>
        </a:prstGeom>
        <a:solidFill>
          <a:srgbClr val="4472C4"/>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solidFill>
                <a:schemeClr val="bg1"/>
              </a:solidFill>
            </a:rPr>
            <a:t>Grow our Business</a:t>
          </a:r>
        </a:p>
      </dsp:txBody>
      <dsp:txXfrm>
        <a:off x="292508" y="140279"/>
        <a:ext cx="173184" cy="144320"/>
      </dsp:txXfrm>
    </dsp:sp>
    <dsp:sp modelId="{C0572668-C668-4F16-BB8D-F9D30FB15295}">
      <dsp:nvSpPr>
        <dsp:cNvPr id="0" name=""/>
        <dsp:cNvSpPr/>
      </dsp:nvSpPr>
      <dsp:spPr>
        <a:xfrm>
          <a:off x="226334" y="7504"/>
          <a:ext cx="544954" cy="544954"/>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16307" y="24792"/>
          <a:ext cx="544954" cy="544954"/>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206280" y="7504"/>
          <a:ext cx="544954" cy="544954"/>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7080D3-B98E-4BF5-B77F-7D4508B79A8E}">
      <dsp:nvSpPr>
        <dsp:cNvPr id="0" name=""/>
        <dsp:cNvSpPr/>
      </dsp:nvSpPr>
      <dsp:spPr>
        <a:xfrm>
          <a:off x="28933" y="273076"/>
          <a:ext cx="8534040" cy="1242428"/>
        </a:xfrm>
        <a:prstGeom prst="rightArrow">
          <a:avLst>
            <a:gd name="adj1" fmla="val 50000"/>
            <a:gd name="adj2" fmla="val 50000"/>
          </a:avLst>
        </a:prstGeom>
        <a:solidFill>
          <a:schemeClr val="tx2">
            <a:lumMod val="75000"/>
            <a:lumOff val="25000"/>
          </a:schemeClr>
        </a:solidFill>
        <a:ln w="12700" cap="flat" cmpd="sng" algn="ctr">
          <a:noFill/>
          <a:prstDash val="solid"/>
          <a:miter lim="800000"/>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97235"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bg1"/>
              </a:solidFill>
            </a:rPr>
            <a:t>Leadership Competencies</a:t>
          </a:r>
        </a:p>
      </dsp:txBody>
      <dsp:txXfrm>
        <a:off x="28933" y="583683"/>
        <a:ext cx="8223433" cy="621214"/>
      </dsp:txXfrm>
    </dsp:sp>
    <dsp:sp modelId="{84451008-A126-4E0E-9D38-FB26C0C5D3E3}">
      <dsp:nvSpPr>
        <dsp:cNvPr id="0" name=""/>
        <dsp:cNvSpPr/>
      </dsp:nvSpPr>
      <dsp:spPr>
        <a:xfrm>
          <a:off x="28933" y="1233194"/>
          <a:ext cx="1967096" cy="2298117"/>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kern="1200" dirty="0"/>
            <a:t>The 8 Leadership Competencies</a:t>
          </a:r>
        </a:p>
        <a:p>
          <a:pPr marL="0" lvl="0" indent="0" algn="l" defTabSz="622300">
            <a:lnSpc>
              <a:spcPct val="90000"/>
            </a:lnSpc>
            <a:spcBef>
              <a:spcPct val="0"/>
            </a:spcBef>
            <a:spcAft>
              <a:spcPct val="35000"/>
            </a:spcAft>
            <a:buNone/>
          </a:pPr>
          <a:endParaRPr lang="en-US" sz="1400" b="0" kern="1200" dirty="0"/>
        </a:p>
        <a:p>
          <a:pPr marL="0" lvl="0" indent="0" algn="l" defTabSz="622300">
            <a:lnSpc>
              <a:spcPct val="90000"/>
            </a:lnSpc>
            <a:spcBef>
              <a:spcPct val="0"/>
            </a:spcBef>
            <a:spcAft>
              <a:spcPct val="35000"/>
            </a:spcAft>
            <a:buNone/>
          </a:pPr>
          <a:r>
            <a:rPr lang="en-US" sz="1400" b="0" kern="1200" dirty="0"/>
            <a:t>Leadership behavioral Anchors for Level 1, 2 </a:t>
          </a:r>
          <a:br>
            <a:rPr lang="en-US" sz="1400" b="0" kern="1200" dirty="0"/>
          </a:br>
          <a:r>
            <a:rPr lang="en-US" sz="1400" b="0" kern="1200" dirty="0"/>
            <a:t>&amp; 3</a:t>
          </a:r>
        </a:p>
      </dsp:txBody>
      <dsp:txXfrm>
        <a:off x="28933" y="1233194"/>
        <a:ext cx="1967096" cy="2298117"/>
      </dsp:txXfrm>
    </dsp:sp>
    <dsp:sp modelId="{F2D6BA86-D470-4F8B-AF58-530413788E6A}">
      <dsp:nvSpPr>
        <dsp:cNvPr id="0" name=""/>
        <dsp:cNvSpPr/>
      </dsp:nvSpPr>
      <dsp:spPr>
        <a:xfrm>
          <a:off x="1901137" y="687072"/>
          <a:ext cx="6756728" cy="1242428"/>
        </a:xfrm>
        <a:prstGeom prst="rightArrow">
          <a:avLst>
            <a:gd name="adj1" fmla="val 50000"/>
            <a:gd name="adj2" fmla="val 50000"/>
          </a:avLst>
        </a:prstGeom>
        <a:solidFill>
          <a:schemeClr val="tx2">
            <a:lumMod val="50000"/>
            <a:lumOff val="50000"/>
          </a:schemeClr>
        </a:solidFill>
        <a:ln w="12700" cap="flat" cmpd="sng" algn="ctr">
          <a:solidFill>
            <a:schemeClr val="tx2">
              <a:lumMod val="50000"/>
              <a:lumOff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97235"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rPr>
            <a:t>Resources</a:t>
          </a:r>
        </a:p>
      </dsp:txBody>
      <dsp:txXfrm>
        <a:off x="1901137" y="997679"/>
        <a:ext cx="6446121" cy="621214"/>
      </dsp:txXfrm>
    </dsp:sp>
    <dsp:sp modelId="{8D31D459-4F6B-459B-B54F-ED7F325C543F}">
      <dsp:nvSpPr>
        <dsp:cNvPr id="0" name=""/>
        <dsp:cNvSpPr/>
      </dsp:nvSpPr>
      <dsp:spPr>
        <a:xfrm>
          <a:off x="1893111" y="1647190"/>
          <a:ext cx="2172933" cy="223954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US" sz="1400" b="0" kern="1200" dirty="0">
              <a:solidFill>
                <a:prstClr val="black">
                  <a:hueOff val="0"/>
                  <a:satOff val="0"/>
                  <a:lumOff val="0"/>
                  <a:alphaOff val="0"/>
                </a:prstClr>
              </a:solidFill>
              <a:latin typeface="Calibri" panose="020F0502020204030204"/>
              <a:ea typeface="+mn-ea"/>
              <a:cs typeface="+mn-cs"/>
            </a:rPr>
            <a:t>Additional resources for context and best practices</a:t>
          </a:r>
        </a:p>
        <a:p>
          <a:pPr marL="0" lvl="0" indent="0" algn="l" defTabSz="622300">
            <a:lnSpc>
              <a:spcPct val="90000"/>
            </a:lnSpc>
            <a:spcBef>
              <a:spcPct val="0"/>
            </a:spcBef>
            <a:spcAft>
              <a:spcPct val="35000"/>
            </a:spcAft>
            <a:buNone/>
          </a:pPr>
          <a:r>
            <a:rPr lang="en-US" sz="1400" b="0" kern="1200" dirty="0">
              <a:solidFill>
                <a:prstClr val="black">
                  <a:hueOff val="0"/>
                  <a:satOff val="0"/>
                  <a:lumOff val="0"/>
                  <a:alphaOff val="0"/>
                </a:prstClr>
              </a:solidFill>
              <a:latin typeface="Calibri" panose="020F0502020204030204"/>
              <a:ea typeface="+mn-ea"/>
              <a:cs typeface="+mn-cs"/>
            </a:rPr>
            <a:t>Application suggestions</a:t>
          </a:r>
        </a:p>
        <a:p>
          <a:pPr marL="0" lvl="0" indent="0" algn="l" defTabSz="622300">
            <a:lnSpc>
              <a:spcPct val="90000"/>
            </a:lnSpc>
            <a:spcBef>
              <a:spcPct val="0"/>
            </a:spcBef>
            <a:spcAft>
              <a:spcPct val="35000"/>
            </a:spcAft>
            <a:buFont typeface="Arial" panose="020B0604020202020204" pitchFamily="34" charset="0"/>
            <a:buNone/>
          </a:pPr>
          <a:endParaRPr lang="en-US" sz="1400" b="0" kern="1200" dirty="0">
            <a:solidFill>
              <a:prstClr val="black">
                <a:hueOff val="0"/>
                <a:satOff val="0"/>
                <a:lumOff val="0"/>
                <a:alphaOff val="0"/>
              </a:prstClr>
            </a:solidFill>
            <a:latin typeface="Calibri" panose="020F0502020204030204"/>
            <a:ea typeface="+mn-ea"/>
            <a:cs typeface="+mn-cs"/>
          </a:endParaRPr>
        </a:p>
      </dsp:txBody>
      <dsp:txXfrm>
        <a:off x="1893111" y="1647190"/>
        <a:ext cx="2172933" cy="2239541"/>
      </dsp:txXfrm>
    </dsp:sp>
    <dsp:sp modelId="{2478D5C1-EB63-4E8B-B797-0284878493DF}">
      <dsp:nvSpPr>
        <dsp:cNvPr id="0" name=""/>
        <dsp:cNvSpPr/>
      </dsp:nvSpPr>
      <dsp:spPr>
        <a:xfrm>
          <a:off x="3963126" y="1101068"/>
          <a:ext cx="4599847" cy="1242428"/>
        </a:xfrm>
        <a:prstGeom prst="rightArrow">
          <a:avLst>
            <a:gd name="adj1" fmla="val 50000"/>
            <a:gd name="adj2" fmla="val 50000"/>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97235"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rPr>
            <a:t>Sub-Optimal behaviors</a:t>
          </a:r>
        </a:p>
      </dsp:txBody>
      <dsp:txXfrm>
        <a:off x="3963126" y="1411675"/>
        <a:ext cx="4289240" cy="621214"/>
      </dsp:txXfrm>
    </dsp:sp>
    <dsp:sp modelId="{484B58A4-62AA-43AC-A2C6-8939CB1E8796}">
      <dsp:nvSpPr>
        <dsp:cNvPr id="0" name=""/>
        <dsp:cNvSpPr/>
      </dsp:nvSpPr>
      <dsp:spPr>
        <a:xfrm>
          <a:off x="3963126" y="2061186"/>
          <a:ext cx="1967096" cy="2254515"/>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kern="1200" dirty="0"/>
            <a:t>Less skilled behaviors</a:t>
          </a:r>
        </a:p>
        <a:p>
          <a:pPr marL="0" lvl="0" indent="0" algn="l" defTabSz="622300">
            <a:lnSpc>
              <a:spcPct val="90000"/>
            </a:lnSpc>
            <a:spcBef>
              <a:spcPct val="0"/>
            </a:spcBef>
            <a:spcAft>
              <a:spcPct val="35000"/>
            </a:spcAft>
            <a:buNone/>
          </a:pPr>
          <a:r>
            <a:rPr lang="en-US" sz="1400" b="0" kern="1200" dirty="0"/>
            <a:t>Overuse of skill</a:t>
          </a:r>
        </a:p>
        <a:p>
          <a:pPr marL="0" lvl="0" indent="0" algn="l" defTabSz="622300">
            <a:lnSpc>
              <a:spcPct val="90000"/>
            </a:lnSpc>
            <a:spcBef>
              <a:spcPct val="0"/>
            </a:spcBef>
            <a:spcAft>
              <a:spcPct val="35000"/>
            </a:spcAft>
            <a:buNone/>
          </a:pPr>
          <a:r>
            <a:rPr lang="en-US" sz="1400" b="0" kern="1200" dirty="0"/>
            <a:t>Causes of lower skills</a:t>
          </a:r>
        </a:p>
        <a:p>
          <a:pPr marL="0" lvl="0" indent="0" algn="l" defTabSz="622300">
            <a:lnSpc>
              <a:spcPct val="90000"/>
            </a:lnSpc>
            <a:spcBef>
              <a:spcPct val="0"/>
            </a:spcBef>
            <a:spcAft>
              <a:spcPct val="35000"/>
            </a:spcAft>
            <a:buNone/>
          </a:pPr>
          <a:endParaRPr lang="en-US" sz="1400" b="0" kern="1200" dirty="0"/>
        </a:p>
      </dsp:txBody>
      <dsp:txXfrm>
        <a:off x="3963126" y="2061186"/>
        <a:ext cx="1967096" cy="2254515"/>
      </dsp:txXfrm>
    </dsp:sp>
    <dsp:sp modelId="{354A28D8-FDDA-406D-81D7-EB8478F36E6E}">
      <dsp:nvSpPr>
        <dsp:cNvPr id="0" name=""/>
        <dsp:cNvSpPr/>
      </dsp:nvSpPr>
      <dsp:spPr>
        <a:xfrm>
          <a:off x="5930222" y="1515064"/>
          <a:ext cx="2632751" cy="1242428"/>
        </a:xfrm>
        <a:prstGeom prst="rightArrow">
          <a:avLst>
            <a:gd name="adj1" fmla="val 50000"/>
            <a:gd name="adj2" fmla="val 5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97235"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bg1"/>
              </a:solidFill>
            </a:rPr>
            <a:t>Development Interventions</a:t>
          </a:r>
        </a:p>
      </dsp:txBody>
      <dsp:txXfrm>
        <a:off x="5930222" y="1825671"/>
        <a:ext cx="2322144" cy="621214"/>
      </dsp:txXfrm>
    </dsp:sp>
    <dsp:sp modelId="{1950169A-CAE5-4A76-9EE0-4FA9D50D60AD}">
      <dsp:nvSpPr>
        <dsp:cNvPr id="0" name=""/>
        <dsp:cNvSpPr/>
      </dsp:nvSpPr>
      <dsp:spPr>
        <a:xfrm>
          <a:off x="5930222" y="2475182"/>
          <a:ext cx="1985017" cy="228094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kern="1200" dirty="0">
              <a:solidFill>
                <a:prstClr val="black">
                  <a:hueOff val="0"/>
                  <a:satOff val="0"/>
                  <a:lumOff val="0"/>
                  <a:alphaOff val="0"/>
                </a:prstClr>
              </a:solidFill>
              <a:latin typeface="Calibri" panose="020F0502020204030204"/>
              <a:ea typeface="+mn-ea"/>
              <a:cs typeface="+mn-cs"/>
            </a:rPr>
            <a:t>Tips for development</a:t>
          </a:r>
        </a:p>
        <a:p>
          <a:pPr marL="0" lvl="0" indent="0" algn="l" defTabSz="622300">
            <a:lnSpc>
              <a:spcPct val="90000"/>
            </a:lnSpc>
            <a:spcBef>
              <a:spcPct val="0"/>
            </a:spcBef>
            <a:spcAft>
              <a:spcPct val="35000"/>
            </a:spcAft>
            <a:buNone/>
          </a:pPr>
          <a:r>
            <a:rPr lang="en-US" sz="1400" b="0" kern="1200" dirty="0">
              <a:solidFill>
                <a:prstClr val="black">
                  <a:hueOff val="0"/>
                  <a:satOff val="0"/>
                  <a:lumOff val="0"/>
                  <a:alphaOff val="0"/>
                </a:prstClr>
              </a:solidFill>
              <a:latin typeface="Calibri" panose="020F0502020204030204"/>
              <a:ea typeface="+mn-ea"/>
              <a:cs typeface="+mn-cs"/>
            </a:rPr>
            <a:t>Job Assignments for Improvement</a:t>
          </a:r>
        </a:p>
        <a:p>
          <a:pPr marL="0" lvl="0" indent="0" algn="l" defTabSz="622300">
            <a:lnSpc>
              <a:spcPct val="90000"/>
            </a:lnSpc>
            <a:spcBef>
              <a:spcPct val="0"/>
            </a:spcBef>
            <a:spcAft>
              <a:spcPct val="35000"/>
            </a:spcAft>
            <a:buNone/>
          </a:pPr>
          <a:endParaRPr lang="en-US" sz="1400" b="0" kern="1200" dirty="0">
            <a:solidFill>
              <a:prstClr val="black">
                <a:hueOff val="0"/>
                <a:satOff val="0"/>
                <a:lumOff val="0"/>
                <a:alphaOff val="0"/>
              </a:prstClr>
            </a:solidFill>
            <a:latin typeface="Calibri" panose="020F0502020204030204"/>
            <a:ea typeface="+mn-ea"/>
            <a:cs typeface="+mn-cs"/>
          </a:endParaRPr>
        </a:p>
      </dsp:txBody>
      <dsp:txXfrm>
        <a:off x="5930222" y="2475182"/>
        <a:ext cx="1985017" cy="228094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1176990" y="258952"/>
          <a:ext cx="3346461" cy="3346461"/>
        </a:xfrm>
        <a:prstGeom prst="pie">
          <a:avLst>
            <a:gd name="adj1" fmla="val 16200000"/>
            <a:gd name="adj2" fmla="val 18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Activate Innovation</a:t>
          </a:r>
        </a:p>
      </dsp:txBody>
      <dsp:txXfrm>
        <a:off x="2940655" y="968083"/>
        <a:ext cx="1195164" cy="995970"/>
      </dsp:txXfrm>
    </dsp:sp>
    <dsp:sp modelId="{CAF8EFCF-8B2C-4A17-9AAE-F762589E3E85}">
      <dsp:nvSpPr>
        <dsp:cNvPr id="0" name=""/>
        <dsp:cNvSpPr/>
      </dsp:nvSpPr>
      <dsp:spPr>
        <a:xfrm>
          <a:off x="1108069" y="378468"/>
          <a:ext cx="3346461" cy="3346461"/>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Inspire our People</a:t>
          </a:r>
        </a:p>
      </dsp:txBody>
      <dsp:txXfrm>
        <a:off x="1904845" y="2549685"/>
        <a:ext cx="1792747" cy="876454"/>
      </dsp:txXfrm>
    </dsp:sp>
    <dsp:sp modelId="{EC155582-6CAF-4FDD-B16D-3ECF4C6A22F9}">
      <dsp:nvSpPr>
        <dsp:cNvPr id="0" name=""/>
        <dsp:cNvSpPr/>
      </dsp:nvSpPr>
      <dsp:spPr>
        <a:xfrm>
          <a:off x="1039147" y="258952"/>
          <a:ext cx="3346461" cy="3346461"/>
        </a:xfrm>
        <a:prstGeom prst="pie">
          <a:avLst>
            <a:gd name="adj1" fmla="val 9000000"/>
            <a:gd name="adj2" fmla="val 16200000"/>
          </a:avLst>
        </a:prstGeom>
        <a:solidFill>
          <a:srgbClr val="4472C4"/>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Grow our Business</a:t>
          </a:r>
        </a:p>
      </dsp:txBody>
      <dsp:txXfrm>
        <a:off x="1426779" y="968083"/>
        <a:ext cx="1195164" cy="995970"/>
      </dsp:txXfrm>
    </dsp:sp>
    <dsp:sp modelId="{C0572668-C668-4F16-BB8D-F9D30FB15295}">
      <dsp:nvSpPr>
        <dsp:cNvPr id="0" name=""/>
        <dsp:cNvSpPr/>
      </dsp:nvSpPr>
      <dsp:spPr>
        <a:xfrm>
          <a:off x="970104" y="51790"/>
          <a:ext cx="3760785" cy="3760785"/>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900907" y="171095"/>
          <a:ext cx="3760785" cy="3760785"/>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831709" y="51790"/>
          <a:ext cx="3760785" cy="3760785"/>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256313" y="37523"/>
          <a:ext cx="484916" cy="484916"/>
        </a:xfrm>
        <a:prstGeom prst="pie">
          <a:avLst>
            <a:gd name="adj1" fmla="val 16200000"/>
            <a:gd name="adj2" fmla="val 18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t>Activate Innovation</a:t>
          </a:r>
        </a:p>
      </dsp:txBody>
      <dsp:txXfrm>
        <a:off x="511875" y="140279"/>
        <a:ext cx="173184" cy="144320"/>
      </dsp:txXfrm>
    </dsp:sp>
    <dsp:sp modelId="{CAF8EFCF-8B2C-4A17-9AAE-F762589E3E85}">
      <dsp:nvSpPr>
        <dsp:cNvPr id="0" name=""/>
        <dsp:cNvSpPr/>
      </dsp:nvSpPr>
      <dsp:spPr>
        <a:xfrm>
          <a:off x="246326" y="54841"/>
          <a:ext cx="484916" cy="484916"/>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361782" y="369460"/>
        <a:ext cx="259776" cy="127002"/>
      </dsp:txXfrm>
    </dsp:sp>
    <dsp:sp modelId="{EC155582-6CAF-4FDD-B16D-3ECF4C6A22F9}">
      <dsp:nvSpPr>
        <dsp:cNvPr id="0" name=""/>
        <dsp:cNvSpPr/>
      </dsp:nvSpPr>
      <dsp:spPr>
        <a:xfrm>
          <a:off x="236339" y="37523"/>
          <a:ext cx="484916" cy="484916"/>
        </a:xfrm>
        <a:prstGeom prst="pie">
          <a:avLst>
            <a:gd name="adj1" fmla="val 9000000"/>
            <a:gd name="adj2" fmla="val 16200000"/>
          </a:avLst>
        </a:prstGeom>
        <a:solidFill>
          <a:srgbClr val="4472C4"/>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solidFill>
                <a:schemeClr val="bg1"/>
              </a:solidFill>
            </a:rPr>
            <a:t>Grow our Business</a:t>
          </a:r>
        </a:p>
      </dsp:txBody>
      <dsp:txXfrm>
        <a:off x="292508" y="140279"/>
        <a:ext cx="173184" cy="144320"/>
      </dsp:txXfrm>
    </dsp:sp>
    <dsp:sp modelId="{C0572668-C668-4F16-BB8D-F9D30FB15295}">
      <dsp:nvSpPr>
        <dsp:cNvPr id="0" name=""/>
        <dsp:cNvSpPr/>
      </dsp:nvSpPr>
      <dsp:spPr>
        <a:xfrm>
          <a:off x="226334" y="7504"/>
          <a:ext cx="544954" cy="544954"/>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16307" y="24792"/>
          <a:ext cx="544954" cy="544954"/>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206280" y="7504"/>
          <a:ext cx="544954" cy="544954"/>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256313" y="37523"/>
          <a:ext cx="484916" cy="484916"/>
        </a:xfrm>
        <a:prstGeom prst="pie">
          <a:avLst>
            <a:gd name="adj1" fmla="val 16200000"/>
            <a:gd name="adj2" fmla="val 18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t>Activate Innovation</a:t>
          </a:r>
        </a:p>
      </dsp:txBody>
      <dsp:txXfrm>
        <a:off x="511875" y="140279"/>
        <a:ext cx="173184" cy="144320"/>
      </dsp:txXfrm>
    </dsp:sp>
    <dsp:sp modelId="{CAF8EFCF-8B2C-4A17-9AAE-F762589E3E85}">
      <dsp:nvSpPr>
        <dsp:cNvPr id="0" name=""/>
        <dsp:cNvSpPr/>
      </dsp:nvSpPr>
      <dsp:spPr>
        <a:xfrm>
          <a:off x="246326" y="54841"/>
          <a:ext cx="484916" cy="484916"/>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361782" y="369460"/>
        <a:ext cx="259776" cy="127002"/>
      </dsp:txXfrm>
    </dsp:sp>
    <dsp:sp modelId="{EC155582-6CAF-4FDD-B16D-3ECF4C6A22F9}">
      <dsp:nvSpPr>
        <dsp:cNvPr id="0" name=""/>
        <dsp:cNvSpPr/>
      </dsp:nvSpPr>
      <dsp:spPr>
        <a:xfrm>
          <a:off x="236339" y="37523"/>
          <a:ext cx="484916" cy="484916"/>
        </a:xfrm>
        <a:prstGeom prst="pie">
          <a:avLst>
            <a:gd name="adj1" fmla="val 9000000"/>
            <a:gd name="adj2" fmla="val 16200000"/>
          </a:avLst>
        </a:prstGeom>
        <a:solidFill>
          <a:srgbClr val="4472C4"/>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solidFill>
                <a:schemeClr val="bg1"/>
              </a:solidFill>
            </a:rPr>
            <a:t>Grow our Business</a:t>
          </a:r>
        </a:p>
      </dsp:txBody>
      <dsp:txXfrm>
        <a:off x="292508" y="140279"/>
        <a:ext cx="173184" cy="144320"/>
      </dsp:txXfrm>
    </dsp:sp>
    <dsp:sp modelId="{C0572668-C668-4F16-BB8D-F9D30FB15295}">
      <dsp:nvSpPr>
        <dsp:cNvPr id="0" name=""/>
        <dsp:cNvSpPr/>
      </dsp:nvSpPr>
      <dsp:spPr>
        <a:xfrm>
          <a:off x="226334" y="7504"/>
          <a:ext cx="544954" cy="544954"/>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16307" y="24792"/>
          <a:ext cx="544954" cy="544954"/>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206280" y="7504"/>
          <a:ext cx="544954" cy="544954"/>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256313" y="37523"/>
          <a:ext cx="484916" cy="484916"/>
        </a:xfrm>
        <a:prstGeom prst="pie">
          <a:avLst>
            <a:gd name="adj1" fmla="val 16200000"/>
            <a:gd name="adj2" fmla="val 18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t>Activate Innovation</a:t>
          </a:r>
        </a:p>
      </dsp:txBody>
      <dsp:txXfrm>
        <a:off x="511875" y="140279"/>
        <a:ext cx="173184" cy="144320"/>
      </dsp:txXfrm>
    </dsp:sp>
    <dsp:sp modelId="{CAF8EFCF-8B2C-4A17-9AAE-F762589E3E85}">
      <dsp:nvSpPr>
        <dsp:cNvPr id="0" name=""/>
        <dsp:cNvSpPr/>
      </dsp:nvSpPr>
      <dsp:spPr>
        <a:xfrm>
          <a:off x="246326" y="54841"/>
          <a:ext cx="484916" cy="484916"/>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361782" y="369460"/>
        <a:ext cx="259776" cy="127002"/>
      </dsp:txXfrm>
    </dsp:sp>
    <dsp:sp modelId="{EC155582-6CAF-4FDD-B16D-3ECF4C6A22F9}">
      <dsp:nvSpPr>
        <dsp:cNvPr id="0" name=""/>
        <dsp:cNvSpPr/>
      </dsp:nvSpPr>
      <dsp:spPr>
        <a:xfrm>
          <a:off x="236339" y="37523"/>
          <a:ext cx="484916" cy="484916"/>
        </a:xfrm>
        <a:prstGeom prst="pie">
          <a:avLst>
            <a:gd name="adj1" fmla="val 9000000"/>
            <a:gd name="adj2" fmla="val 16200000"/>
          </a:avLst>
        </a:prstGeom>
        <a:solidFill>
          <a:srgbClr val="4472C4"/>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solidFill>
                <a:schemeClr val="bg1"/>
              </a:solidFill>
            </a:rPr>
            <a:t>Grow our Business</a:t>
          </a:r>
        </a:p>
      </dsp:txBody>
      <dsp:txXfrm>
        <a:off x="292508" y="140279"/>
        <a:ext cx="173184" cy="144320"/>
      </dsp:txXfrm>
    </dsp:sp>
    <dsp:sp modelId="{C0572668-C668-4F16-BB8D-F9D30FB15295}">
      <dsp:nvSpPr>
        <dsp:cNvPr id="0" name=""/>
        <dsp:cNvSpPr/>
      </dsp:nvSpPr>
      <dsp:spPr>
        <a:xfrm>
          <a:off x="226334" y="7504"/>
          <a:ext cx="544954" cy="544954"/>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16307" y="24792"/>
          <a:ext cx="544954" cy="544954"/>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206280" y="7504"/>
          <a:ext cx="544954" cy="544954"/>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256313" y="37523"/>
          <a:ext cx="484916" cy="484916"/>
        </a:xfrm>
        <a:prstGeom prst="pie">
          <a:avLst>
            <a:gd name="adj1" fmla="val 16200000"/>
            <a:gd name="adj2" fmla="val 18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t>Activate Innovation</a:t>
          </a:r>
        </a:p>
      </dsp:txBody>
      <dsp:txXfrm>
        <a:off x="511875" y="140279"/>
        <a:ext cx="173184" cy="144320"/>
      </dsp:txXfrm>
    </dsp:sp>
    <dsp:sp modelId="{CAF8EFCF-8B2C-4A17-9AAE-F762589E3E85}">
      <dsp:nvSpPr>
        <dsp:cNvPr id="0" name=""/>
        <dsp:cNvSpPr/>
      </dsp:nvSpPr>
      <dsp:spPr>
        <a:xfrm>
          <a:off x="246326" y="54841"/>
          <a:ext cx="484916" cy="484916"/>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361782" y="369460"/>
        <a:ext cx="259776" cy="127002"/>
      </dsp:txXfrm>
    </dsp:sp>
    <dsp:sp modelId="{EC155582-6CAF-4FDD-B16D-3ECF4C6A22F9}">
      <dsp:nvSpPr>
        <dsp:cNvPr id="0" name=""/>
        <dsp:cNvSpPr/>
      </dsp:nvSpPr>
      <dsp:spPr>
        <a:xfrm>
          <a:off x="236339" y="37523"/>
          <a:ext cx="484916" cy="484916"/>
        </a:xfrm>
        <a:prstGeom prst="pie">
          <a:avLst>
            <a:gd name="adj1" fmla="val 9000000"/>
            <a:gd name="adj2" fmla="val 16200000"/>
          </a:avLst>
        </a:prstGeom>
        <a:solidFill>
          <a:srgbClr val="4472C4"/>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solidFill>
                <a:schemeClr val="bg1"/>
              </a:solidFill>
            </a:rPr>
            <a:t>Grow our Business</a:t>
          </a:r>
        </a:p>
      </dsp:txBody>
      <dsp:txXfrm>
        <a:off x="292508" y="140279"/>
        <a:ext cx="173184" cy="144320"/>
      </dsp:txXfrm>
    </dsp:sp>
    <dsp:sp modelId="{C0572668-C668-4F16-BB8D-F9D30FB15295}">
      <dsp:nvSpPr>
        <dsp:cNvPr id="0" name=""/>
        <dsp:cNvSpPr/>
      </dsp:nvSpPr>
      <dsp:spPr>
        <a:xfrm>
          <a:off x="226334" y="7504"/>
          <a:ext cx="544954" cy="544954"/>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16307" y="24792"/>
          <a:ext cx="544954" cy="544954"/>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206280" y="7504"/>
          <a:ext cx="544954" cy="544954"/>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256313" y="37523"/>
          <a:ext cx="484916" cy="484916"/>
        </a:xfrm>
        <a:prstGeom prst="pie">
          <a:avLst>
            <a:gd name="adj1" fmla="val 16200000"/>
            <a:gd name="adj2" fmla="val 18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t>Activate Innovation</a:t>
          </a:r>
        </a:p>
      </dsp:txBody>
      <dsp:txXfrm>
        <a:off x="511875" y="140279"/>
        <a:ext cx="173184" cy="144320"/>
      </dsp:txXfrm>
    </dsp:sp>
    <dsp:sp modelId="{CAF8EFCF-8B2C-4A17-9AAE-F762589E3E85}">
      <dsp:nvSpPr>
        <dsp:cNvPr id="0" name=""/>
        <dsp:cNvSpPr/>
      </dsp:nvSpPr>
      <dsp:spPr>
        <a:xfrm>
          <a:off x="246326" y="54841"/>
          <a:ext cx="484916" cy="484916"/>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361782" y="369460"/>
        <a:ext cx="259776" cy="127002"/>
      </dsp:txXfrm>
    </dsp:sp>
    <dsp:sp modelId="{EC155582-6CAF-4FDD-B16D-3ECF4C6A22F9}">
      <dsp:nvSpPr>
        <dsp:cNvPr id="0" name=""/>
        <dsp:cNvSpPr/>
      </dsp:nvSpPr>
      <dsp:spPr>
        <a:xfrm>
          <a:off x="236339" y="37523"/>
          <a:ext cx="484916" cy="484916"/>
        </a:xfrm>
        <a:prstGeom prst="pie">
          <a:avLst>
            <a:gd name="adj1" fmla="val 9000000"/>
            <a:gd name="adj2" fmla="val 16200000"/>
          </a:avLst>
        </a:prstGeom>
        <a:solidFill>
          <a:srgbClr val="4472C4"/>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solidFill>
                <a:schemeClr val="bg1"/>
              </a:solidFill>
            </a:rPr>
            <a:t>Grow our Business</a:t>
          </a:r>
        </a:p>
      </dsp:txBody>
      <dsp:txXfrm>
        <a:off x="292508" y="140279"/>
        <a:ext cx="173184" cy="144320"/>
      </dsp:txXfrm>
    </dsp:sp>
    <dsp:sp modelId="{C0572668-C668-4F16-BB8D-F9D30FB15295}">
      <dsp:nvSpPr>
        <dsp:cNvPr id="0" name=""/>
        <dsp:cNvSpPr/>
      </dsp:nvSpPr>
      <dsp:spPr>
        <a:xfrm>
          <a:off x="226334" y="7504"/>
          <a:ext cx="544954" cy="544954"/>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16307" y="24792"/>
          <a:ext cx="544954" cy="544954"/>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206280" y="7504"/>
          <a:ext cx="544954" cy="544954"/>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256313" y="37523"/>
          <a:ext cx="484916" cy="484916"/>
        </a:xfrm>
        <a:prstGeom prst="pie">
          <a:avLst>
            <a:gd name="adj1" fmla="val 16200000"/>
            <a:gd name="adj2" fmla="val 18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t>Activate Innovation</a:t>
          </a:r>
        </a:p>
      </dsp:txBody>
      <dsp:txXfrm>
        <a:off x="511875" y="140279"/>
        <a:ext cx="173184" cy="144320"/>
      </dsp:txXfrm>
    </dsp:sp>
    <dsp:sp modelId="{CAF8EFCF-8B2C-4A17-9AAE-F762589E3E85}">
      <dsp:nvSpPr>
        <dsp:cNvPr id="0" name=""/>
        <dsp:cNvSpPr/>
      </dsp:nvSpPr>
      <dsp:spPr>
        <a:xfrm>
          <a:off x="246326" y="54841"/>
          <a:ext cx="484916" cy="484916"/>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361782" y="369460"/>
        <a:ext cx="259776" cy="127002"/>
      </dsp:txXfrm>
    </dsp:sp>
    <dsp:sp modelId="{EC155582-6CAF-4FDD-B16D-3ECF4C6A22F9}">
      <dsp:nvSpPr>
        <dsp:cNvPr id="0" name=""/>
        <dsp:cNvSpPr/>
      </dsp:nvSpPr>
      <dsp:spPr>
        <a:xfrm>
          <a:off x="236339" y="37523"/>
          <a:ext cx="484916" cy="484916"/>
        </a:xfrm>
        <a:prstGeom prst="pie">
          <a:avLst>
            <a:gd name="adj1" fmla="val 9000000"/>
            <a:gd name="adj2" fmla="val 16200000"/>
          </a:avLst>
        </a:prstGeom>
        <a:solidFill>
          <a:srgbClr val="4472C4"/>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133350">
            <a:lnSpc>
              <a:spcPct val="90000"/>
            </a:lnSpc>
            <a:spcBef>
              <a:spcPct val="0"/>
            </a:spcBef>
            <a:spcAft>
              <a:spcPct val="35000"/>
            </a:spcAft>
            <a:buNone/>
          </a:pPr>
          <a:r>
            <a:rPr lang="en-US" sz="300" kern="1200" dirty="0">
              <a:solidFill>
                <a:schemeClr val="bg1"/>
              </a:solidFill>
            </a:rPr>
            <a:t>Grow our Business</a:t>
          </a:r>
        </a:p>
      </dsp:txBody>
      <dsp:txXfrm>
        <a:off x="292508" y="140279"/>
        <a:ext cx="173184" cy="144320"/>
      </dsp:txXfrm>
    </dsp:sp>
    <dsp:sp modelId="{C0572668-C668-4F16-BB8D-F9D30FB15295}">
      <dsp:nvSpPr>
        <dsp:cNvPr id="0" name=""/>
        <dsp:cNvSpPr/>
      </dsp:nvSpPr>
      <dsp:spPr>
        <a:xfrm>
          <a:off x="226334" y="7504"/>
          <a:ext cx="544954" cy="544954"/>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16307" y="24792"/>
          <a:ext cx="544954" cy="544954"/>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206280" y="7504"/>
          <a:ext cx="544954" cy="544954"/>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1176990" y="258952"/>
          <a:ext cx="3346461" cy="3346461"/>
        </a:xfrm>
        <a:prstGeom prst="pie">
          <a:avLst>
            <a:gd name="adj1" fmla="val 16200000"/>
            <a:gd name="adj2" fmla="val 1800000"/>
          </a:avLst>
        </a:prstGeom>
        <a:solidFill>
          <a:srgbClr val="A86D4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Activate Innovation</a:t>
          </a:r>
        </a:p>
      </dsp:txBody>
      <dsp:txXfrm>
        <a:off x="2940655" y="968083"/>
        <a:ext cx="1195164" cy="995970"/>
      </dsp:txXfrm>
    </dsp:sp>
    <dsp:sp modelId="{CAF8EFCF-8B2C-4A17-9AAE-F762589E3E85}">
      <dsp:nvSpPr>
        <dsp:cNvPr id="0" name=""/>
        <dsp:cNvSpPr/>
      </dsp:nvSpPr>
      <dsp:spPr>
        <a:xfrm>
          <a:off x="1108069" y="378468"/>
          <a:ext cx="3346461" cy="3346461"/>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Inspire our People</a:t>
          </a:r>
        </a:p>
      </dsp:txBody>
      <dsp:txXfrm>
        <a:off x="1904845" y="2549685"/>
        <a:ext cx="1792747" cy="876454"/>
      </dsp:txXfrm>
    </dsp:sp>
    <dsp:sp modelId="{EC155582-6CAF-4FDD-B16D-3ECF4C6A22F9}">
      <dsp:nvSpPr>
        <dsp:cNvPr id="0" name=""/>
        <dsp:cNvSpPr/>
      </dsp:nvSpPr>
      <dsp:spPr>
        <a:xfrm>
          <a:off x="1039147" y="258952"/>
          <a:ext cx="3346461" cy="3346461"/>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Grow our Business</a:t>
          </a:r>
        </a:p>
      </dsp:txBody>
      <dsp:txXfrm>
        <a:off x="1426779" y="968083"/>
        <a:ext cx="1195164" cy="995970"/>
      </dsp:txXfrm>
    </dsp:sp>
    <dsp:sp modelId="{C0572668-C668-4F16-BB8D-F9D30FB15295}">
      <dsp:nvSpPr>
        <dsp:cNvPr id="0" name=""/>
        <dsp:cNvSpPr/>
      </dsp:nvSpPr>
      <dsp:spPr>
        <a:xfrm>
          <a:off x="970104" y="51790"/>
          <a:ext cx="3760785" cy="3760785"/>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900907" y="171095"/>
          <a:ext cx="3760785" cy="3760785"/>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831709" y="51790"/>
          <a:ext cx="3760785" cy="3760785"/>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77108" y="78464"/>
          <a:ext cx="665683" cy="665683"/>
        </a:xfrm>
        <a:prstGeom prst="pie">
          <a:avLst>
            <a:gd name="adj1" fmla="val 16200000"/>
            <a:gd name="adj2" fmla="val 1800000"/>
          </a:avLst>
        </a:prstGeom>
        <a:solidFill>
          <a:srgbClr val="A86D4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bg1"/>
              </a:solidFill>
            </a:rPr>
            <a:t>Activate Innovation</a:t>
          </a:r>
        </a:p>
      </dsp:txBody>
      <dsp:txXfrm>
        <a:off x="427939" y="219525"/>
        <a:ext cx="237744" cy="198119"/>
      </dsp:txXfrm>
    </dsp:sp>
    <dsp:sp modelId="{CAF8EFCF-8B2C-4A17-9AAE-F762589E3E85}">
      <dsp:nvSpPr>
        <dsp:cNvPr id="0" name=""/>
        <dsp:cNvSpPr/>
      </dsp:nvSpPr>
      <dsp:spPr>
        <a:xfrm>
          <a:off x="63398" y="102238"/>
          <a:ext cx="665683" cy="665683"/>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221894" y="534140"/>
        <a:ext cx="356615" cy="174345"/>
      </dsp:txXfrm>
    </dsp:sp>
    <dsp:sp modelId="{EC155582-6CAF-4FDD-B16D-3ECF4C6A22F9}">
      <dsp:nvSpPr>
        <dsp:cNvPr id="0" name=""/>
        <dsp:cNvSpPr/>
      </dsp:nvSpPr>
      <dsp:spPr>
        <a:xfrm>
          <a:off x="49688" y="78464"/>
          <a:ext cx="665683" cy="665683"/>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Grow our Business</a:t>
          </a:r>
        </a:p>
      </dsp:txBody>
      <dsp:txXfrm>
        <a:off x="126796" y="219525"/>
        <a:ext cx="237744" cy="198119"/>
      </dsp:txXfrm>
    </dsp:sp>
    <dsp:sp modelId="{C0572668-C668-4F16-BB8D-F9D30FB15295}">
      <dsp:nvSpPr>
        <dsp:cNvPr id="0" name=""/>
        <dsp:cNvSpPr/>
      </dsp:nvSpPr>
      <dsp:spPr>
        <a:xfrm>
          <a:off x="35954" y="37255"/>
          <a:ext cx="748101" cy="748101"/>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2189" y="60987"/>
          <a:ext cx="748101" cy="748101"/>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8424" y="37255"/>
          <a:ext cx="748101" cy="748101"/>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77108" y="78464"/>
          <a:ext cx="665683" cy="665683"/>
        </a:xfrm>
        <a:prstGeom prst="pie">
          <a:avLst>
            <a:gd name="adj1" fmla="val 16200000"/>
            <a:gd name="adj2" fmla="val 1800000"/>
          </a:avLst>
        </a:prstGeom>
        <a:solidFill>
          <a:srgbClr val="A86D4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bg1"/>
              </a:solidFill>
            </a:rPr>
            <a:t>Activate Innovation</a:t>
          </a:r>
        </a:p>
      </dsp:txBody>
      <dsp:txXfrm>
        <a:off x="427939" y="219525"/>
        <a:ext cx="237744" cy="198119"/>
      </dsp:txXfrm>
    </dsp:sp>
    <dsp:sp modelId="{CAF8EFCF-8B2C-4A17-9AAE-F762589E3E85}">
      <dsp:nvSpPr>
        <dsp:cNvPr id="0" name=""/>
        <dsp:cNvSpPr/>
      </dsp:nvSpPr>
      <dsp:spPr>
        <a:xfrm>
          <a:off x="63398" y="102238"/>
          <a:ext cx="665683" cy="665683"/>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221894" y="534140"/>
        <a:ext cx="356615" cy="174345"/>
      </dsp:txXfrm>
    </dsp:sp>
    <dsp:sp modelId="{EC155582-6CAF-4FDD-B16D-3ECF4C6A22F9}">
      <dsp:nvSpPr>
        <dsp:cNvPr id="0" name=""/>
        <dsp:cNvSpPr/>
      </dsp:nvSpPr>
      <dsp:spPr>
        <a:xfrm>
          <a:off x="49688" y="78464"/>
          <a:ext cx="665683" cy="665683"/>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Grow our Business</a:t>
          </a:r>
        </a:p>
      </dsp:txBody>
      <dsp:txXfrm>
        <a:off x="126796" y="219525"/>
        <a:ext cx="237744" cy="198119"/>
      </dsp:txXfrm>
    </dsp:sp>
    <dsp:sp modelId="{C0572668-C668-4F16-BB8D-F9D30FB15295}">
      <dsp:nvSpPr>
        <dsp:cNvPr id="0" name=""/>
        <dsp:cNvSpPr/>
      </dsp:nvSpPr>
      <dsp:spPr>
        <a:xfrm>
          <a:off x="35954" y="37255"/>
          <a:ext cx="748101" cy="748101"/>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2189" y="60987"/>
          <a:ext cx="748101" cy="748101"/>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8424" y="37255"/>
          <a:ext cx="748101" cy="748101"/>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77108" y="78464"/>
          <a:ext cx="665683" cy="665683"/>
        </a:xfrm>
        <a:prstGeom prst="pie">
          <a:avLst>
            <a:gd name="adj1" fmla="val 16200000"/>
            <a:gd name="adj2" fmla="val 1800000"/>
          </a:avLst>
        </a:prstGeom>
        <a:solidFill>
          <a:srgbClr val="A86D4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bg1"/>
              </a:solidFill>
            </a:rPr>
            <a:t>Activate Innovation</a:t>
          </a:r>
        </a:p>
      </dsp:txBody>
      <dsp:txXfrm>
        <a:off x="427939" y="219525"/>
        <a:ext cx="237744" cy="198119"/>
      </dsp:txXfrm>
    </dsp:sp>
    <dsp:sp modelId="{CAF8EFCF-8B2C-4A17-9AAE-F762589E3E85}">
      <dsp:nvSpPr>
        <dsp:cNvPr id="0" name=""/>
        <dsp:cNvSpPr/>
      </dsp:nvSpPr>
      <dsp:spPr>
        <a:xfrm>
          <a:off x="63398" y="102238"/>
          <a:ext cx="665683" cy="665683"/>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221894" y="534140"/>
        <a:ext cx="356615" cy="174345"/>
      </dsp:txXfrm>
    </dsp:sp>
    <dsp:sp modelId="{EC155582-6CAF-4FDD-B16D-3ECF4C6A22F9}">
      <dsp:nvSpPr>
        <dsp:cNvPr id="0" name=""/>
        <dsp:cNvSpPr/>
      </dsp:nvSpPr>
      <dsp:spPr>
        <a:xfrm>
          <a:off x="49688" y="78464"/>
          <a:ext cx="665683" cy="665683"/>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Grow our Business</a:t>
          </a:r>
        </a:p>
      </dsp:txBody>
      <dsp:txXfrm>
        <a:off x="126796" y="219525"/>
        <a:ext cx="237744" cy="198119"/>
      </dsp:txXfrm>
    </dsp:sp>
    <dsp:sp modelId="{C0572668-C668-4F16-BB8D-F9D30FB15295}">
      <dsp:nvSpPr>
        <dsp:cNvPr id="0" name=""/>
        <dsp:cNvSpPr/>
      </dsp:nvSpPr>
      <dsp:spPr>
        <a:xfrm>
          <a:off x="35954" y="37255"/>
          <a:ext cx="748101" cy="748101"/>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2189" y="60987"/>
          <a:ext cx="748101" cy="748101"/>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8424" y="37255"/>
          <a:ext cx="748101" cy="748101"/>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77108" y="78464"/>
          <a:ext cx="665683" cy="665683"/>
        </a:xfrm>
        <a:prstGeom prst="pie">
          <a:avLst>
            <a:gd name="adj1" fmla="val 16200000"/>
            <a:gd name="adj2" fmla="val 1800000"/>
          </a:avLst>
        </a:prstGeom>
        <a:solidFill>
          <a:srgbClr val="A86D4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bg1"/>
              </a:solidFill>
            </a:rPr>
            <a:t>Activate Innovation</a:t>
          </a:r>
        </a:p>
      </dsp:txBody>
      <dsp:txXfrm>
        <a:off x="427939" y="219525"/>
        <a:ext cx="237744" cy="198119"/>
      </dsp:txXfrm>
    </dsp:sp>
    <dsp:sp modelId="{CAF8EFCF-8B2C-4A17-9AAE-F762589E3E85}">
      <dsp:nvSpPr>
        <dsp:cNvPr id="0" name=""/>
        <dsp:cNvSpPr/>
      </dsp:nvSpPr>
      <dsp:spPr>
        <a:xfrm>
          <a:off x="63398" y="102238"/>
          <a:ext cx="665683" cy="665683"/>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221894" y="534140"/>
        <a:ext cx="356615" cy="174345"/>
      </dsp:txXfrm>
    </dsp:sp>
    <dsp:sp modelId="{EC155582-6CAF-4FDD-B16D-3ECF4C6A22F9}">
      <dsp:nvSpPr>
        <dsp:cNvPr id="0" name=""/>
        <dsp:cNvSpPr/>
      </dsp:nvSpPr>
      <dsp:spPr>
        <a:xfrm>
          <a:off x="49688" y="78464"/>
          <a:ext cx="665683" cy="665683"/>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Grow our Business</a:t>
          </a:r>
        </a:p>
      </dsp:txBody>
      <dsp:txXfrm>
        <a:off x="126796" y="219525"/>
        <a:ext cx="237744" cy="198119"/>
      </dsp:txXfrm>
    </dsp:sp>
    <dsp:sp modelId="{C0572668-C668-4F16-BB8D-F9D30FB15295}">
      <dsp:nvSpPr>
        <dsp:cNvPr id="0" name=""/>
        <dsp:cNvSpPr/>
      </dsp:nvSpPr>
      <dsp:spPr>
        <a:xfrm>
          <a:off x="35954" y="37255"/>
          <a:ext cx="748101" cy="748101"/>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2189" y="60987"/>
          <a:ext cx="748101" cy="748101"/>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8424" y="37255"/>
          <a:ext cx="748101" cy="748101"/>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77108" y="78464"/>
          <a:ext cx="665683" cy="665683"/>
        </a:xfrm>
        <a:prstGeom prst="pie">
          <a:avLst>
            <a:gd name="adj1" fmla="val 16200000"/>
            <a:gd name="adj2" fmla="val 1800000"/>
          </a:avLst>
        </a:prstGeom>
        <a:solidFill>
          <a:srgbClr val="A86D4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bg1"/>
              </a:solidFill>
            </a:rPr>
            <a:t>Activate Innovation</a:t>
          </a:r>
        </a:p>
      </dsp:txBody>
      <dsp:txXfrm>
        <a:off x="427939" y="219525"/>
        <a:ext cx="237744" cy="198119"/>
      </dsp:txXfrm>
    </dsp:sp>
    <dsp:sp modelId="{CAF8EFCF-8B2C-4A17-9AAE-F762589E3E85}">
      <dsp:nvSpPr>
        <dsp:cNvPr id="0" name=""/>
        <dsp:cNvSpPr/>
      </dsp:nvSpPr>
      <dsp:spPr>
        <a:xfrm>
          <a:off x="63398" y="102238"/>
          <a:ext cx="665683" cy="665683"/>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221894" y="534140"/>
        <a:ext cx="356615" cy="174345"/>
      </dsp:txXfrm>
    </dsp:sp>
    <dsp:sp modelId="{EC155582-6CAF-4FDD-B16D-3ECF4C6A22F9}">
      <dsp:nvSpPr>
        <dsp:cNvPr id="0" name=""/>
        <dsp:cNvSpPr/>
      </dsp:nvSpPr>
      <dsp:spPr>
        <a:xfrm>
          <a:off x="49688" y="78464"/>
          <a:ext cx="665683" cy="665683"/>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Grow our Business</a:t>
          </a:r>
        </a:p>
      </dsp:txBody>
      <dsp:txXfrm>
        <a:off x="126796" y="219525"/>
        <a:ext cx="237744" cy="198119"/>
      </dsp:txXfrm>
    </dsp:sp>
    <dsp:sp modelId="{C0572668-C668-4F16-BB8D-F9D30FB15295}">
      <dsp:nvSpPr>
        <dsp:cNvPr id="0" name=""/>
        <dsp:cNvSpPr/>
      </dsp:nvSpPr>
      <dsp:spPr>
        <a:xfrm>
          <a:off x="35954" y="37255"/>
          <a:ext cx="748101" cy="748101"/>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2189" y="60987"/>
          <a:ext cx="748101" cy="748101"/>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8424" y="37255"/>
          <a:ext cx="748101" cy="748101"/>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77108" y="78464"/>
          <a:ext cx="665683" cy="665683"/>
        </a:xfrm>
        <a:prstGeom prst="pie">
          <a:avLst>
            <a:gd name="adj1" fmla="val 16200000"/>
            <a:gd name="adj2" fmla="val 1800000"/>
          </a:avLst>
        </a:prstGeom>
        <a:solidFill>
          <a:srgbClr val="A86D4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bg1"/>
              </a:solidFill>
            </a:rPr>
            <a:t>Activate Innovation</a:t>
          </a:r>
        </a:p>
      </dsp:txBody>
      <dsp:txXfrm>
        <a:off x="427939" y="219525"/>
        <a:ext cx="237744" cy="198119"/>
      </dsp:txXfrm>
    </dsp:sp>
    <dsp:sp modelId="{CAF8EFCF-8B2C-4A17-9AAE-F762589E3E85}">
      <dsp:nvSpPr>
        <dsp:cNvPr id="0" name=""/>
        <dsp:cNvSpPr/>
      </dsp:nvSpPr>
      <dsp:spPr>
        <a:xfrm>
          <a:off x="63398" y="102238"/>
          <a:ext cx="665683" cy="665683"/>
        </a:xfrm>
        <a:prstGeom prst="pie">
          <a:avLst>
            <a:gd name="adj1" fmla="val 1800000"/>
            <a:gd name="adj2" fmla="val 900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221894" y="534140"/>
        <a:ext cx="356615" cy="174345"/>
      </dsp:txXfrm>
    </dsp:sp>
    <dsp:sp modelId="{EC155582-6CAF-4FDD-B16D-3ECF4C6A22F9}">
      <dsp:nvSpPr>
        <dsp:cNvPr id="0" name=""/>
        <dsp:cNvSpPr/>
      </dsp:nvSpPr>
      <dsp:spPr>
        <a:xfrm>
          <a:off x="49688" y="78464"/>
          <a:ext cx="665683" cy="665683"/>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Grow our Business</a:t>
          </a:r>
        </a:p>
      </dsp:txBody>
      <dsp:txXfrm>
        <a:off x="126796" y="219525"/>
        <a:ext cx="237744" cy="198119"/>
      </dsp:txXfrm>
    </dsp:sp>
    <dsp:sp modelId="{C0572668-C668-4F16-BB8D-F9D30FB15295}">
      <dsp:nvSpPr>
        <dsp:cNvPr id="0" name=""/>
        <dsp:cNvSpPr/>
      </dsp:nvSpPr>
      <dsp:spPr>
        <a:xfrm>
          <a:off x="35954" y="37255"/>
          <a:ext cx="748101" cy="748101"/>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2189" y="60987"/>
          <a:ext cx="748101" cy="748101"/>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8424" y="37255"/>
          <a:ext cx="748101" cy="748101"/>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1176990" y="258952"/>
          <a:ext cx="3346461" cy="3346461"/>
        </a:xfrm>
        <a:prstGeom prst="pie">
          <a:avLst>
            <a:gd name="adj1" fmla="val 16200000"/>
            <a:gd name="adj2" fmla="val 1800000"/>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Activate Innovation</a:t>
          </a:r>
        </a:p>
      </dsp:txBody>
      <dsp:txXfrm>
        <a:off x="2940655" y="968083"/>
        <a:ext cx="1195164" cy="995970"/>
      </dsp:txXfrm>
    </dsp:sp>
    <dsp:sp modelId="{CAF8EFCF-8B2C-4A17-9AAE-F762589E3E85}">
      <dsp:nvSpPr>
        <dsp:cNvPr id="0" name=""/>
        <dsp:cNvSpPr/>
      </dsp:nvSpPr>
      <dsp:spPr>
        <a:xfrm>
          <a:off x="1108069" y="378468"/>
          <a:ext cx="3346461" cy="3346461"/>
        </a:xfrm>
        <a:prstGeom prst="pie">
          <a:avLst>
            <a:gd name="adj1" fmla="val 1800000"/>
            <a:gd name="adj2" fmla="val 9000000"/>
          </a:avLst>
        </a:prstGeom>
        <a:solidFill>
          <a:srgbClr val="00B05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Inspire our People</a:t>
          </a:r>
        </a:p>
      </dsp:txBody>
      <dsp:txXfrm>
        <a:off x="1904845" y="2549685"/>
        <a:ext cx="1792747" cy="876454"/>
      </dsp:txXfrm>
    </dsp:sp>
    <dsp:sp modelId="{EC155582-6CAF-4FDD-B16D-3ECF4C6A22F9}">
      <dsp:nvSpPr>
        <dsp:cNvPr id="0" name=""/>
        <dsp:cNvSpPr/>
      </dsp:nvSpPr>
      <dsp:spPr>
        <a:xfrm>
          <a:off x="1039147" y="258952"/>
          <a:ext cx="3346461" cy="3346461"/>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Grow our Business</a:t>
          </a:r>
        </a:p>
      </dsp:txBody>
      <dsp:txXfrm>
        <a:off x="1426779" y="968083"/>
        <a:ext cx="1195164" cy="995970"/>
      </dsp:txXfrm>
    </dsp:sp>
    <dsp:sp modelId="{C0572668-C668-4F16-BB8D-F9D30FB15295}">
      <dsp:nvSpPr>
        <dsp:cNvPr id="0" name=""/>
        <dsp:cNvSpPr/>
      </dsp:nvSpPr>
      <dsp:spPr>
        <a:xfrm>
          <a:off x="970104" y="51790"/>
          <a:ext cx="3760785" cy="3760785"/>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900907" y="171095"/>
          <a:ext cx="3760785" cy="3760785"/>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831709" y="51790"/>
          <a:ext cx="3760785" cy="3760785"/>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271011" y="49731"/>
          <a:ext cx="642689" cy="642689"/>
        </a:xfrm>
        <a:prstGeom prst="pie">
          <a:avLst>
            <a:gd name="adj1" fmla="val 16200000"/>
            <a:gd name="adj2" fmla="val 1800000"/>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Activate Innovation</a:t>
          </a:r>
        </a:p>
      </dsp:txBody>
      <dsp:txXfrm>
        <a:off x="609724" y="185920"/>
        <a:ext cx="229531" cy="191276"/>
      </dsp:txXfrm>
    </dsp:sp>
    <dsp:sp modelId="{CAF8EFCF-8B2C-4A17-9AAE-F762589E3E85}">
      <dsp:nvSpPr>
        <dsp:cNvPr id="0" name=""/>
        <dsp:cNvSpPr/>
      </dsp:nvSpPr>
      <dsp:spPr>
        <a:xfrm>
          <a:off x="257775" y="72685"/>
          <a:ext cx="642689" cy="642689"/>
        </a:xfrm>
        <a:prstGeom prst="pie">
          <a:avLst>
            <a:gd name="adj1" fmla="val 1800000"/>
            <a:gd name="adj2" fmla="val 9000000"/>
          </a:avLst>
        </a:prstGeom>
        <a:solidFill>
          <a:srgbClr val="00B05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410796" y="489667"/>
        <a:ext cx="344297" cy="168323"/>
      </dsp:txXfrm>
    </dsp:sp>
    <dsp:sp modelId="{EC155582-6CAF-4FDD-B16D-3ECF4C6A22F9}">
      <dsp:nvSpPr>
        <dsp:cNvPr id="0" name=""/>
        <dsp:cNvSpPr/>
      </dsp:nvSpPr>
      <dsp:spPr>
        <a:xfrm>
          <a:off x="244539" y="49731"/>
          <a:ext cx="642689" cy="642689"/>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Grow our Business</a:t>
          </a:r>
        </a:p>
      </dsp:txBody>
      <dsp:txXfrm>
        <a:off x="318983" y="185920"/>
        <a:ext cx="229531" cy="191276"/>
      </dsp:txXfrm>
    </dsp:sp>
    <dsp:sp modelId="{C0572668-C668-4F16-BB8D-F9D30FB15295}">
      <dsp:nvSpPr>
        <dsp:cNvPr id="0" name=""/>
        <dsp:cNvSpPr/>
      </dsp:nvSpPr>
      <dsp:spPr>
        <a:xfrm>
          <a:off x="231279" y="9946"/>
          <a:ext cx="722260" cy="722260"/>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17989" y="32858"/>
          <a:ext cx="722260" cy="722260"/>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204700" y="9946"/>
          <a:ext cx="722260" cy="722260"/>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271011" y="49731"/>
          <a:ext cx="642689" cy="642689"/>
        </a:xfrm>
        <a:prstGeom prst="pie">
          <a:avLst>
            <a:gd name="adj1" fmla="val 16200000"/>
            <a:gd name="adj2" fmla="val 1800000"/>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Activate Innovation</a:t>
          </a:r>
        </a:p>
      </dsp:txBody>
      <dsp:txXfrm>
        <a:off x="609724" y="185920"/>
        <a:ext cx="229531" cy="191276"/>
      </dsp:txXfrm>
    </dsp:sp>
    <dsp:sp modelId="{CAF8EFCF-8B2C-4A17-9AAE-F762589E3E85}">
      <dsp:nvSpPr>
        <dsp:cNvPr id="0" name=""/>
        <dsp:cNvSpPr/>
      </dsp:nvSpPr>
      <dsp:spPr>
        <a:xfrm>
          <a:off x="257775" y="72685"/>
          <a:ext cx="642689" cy="642689"/>
        </a:xfrm>
        <a:prstGeom prst="pie">
          <a:avLst>
            <a:gd name="adj1" fmla="val 1800000"/>
            <a:gd name="adj2" fmla="val 9000000"/>
          </a:avLst>
        </a:prstGeom>
        <a:solidFill>
          <a:srgbClr val="00B05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410796" y="489667"/>
        <a:ext cx="344297" cy="168323"/>
      </dsp:txXfrm>
    </dsp:sp>
    <dsp:sp modelId="{EC155582-6CAF-4FDD-B16D-3ECF4C6A22F9}">
      <dsp:nvSpPr>
        <dsp:cNvPr id="0" name=""/>
        <dsp:cNvSpPr/>
      </dsp:nvSpPr>
      <dsp:spPr>
        <a:xfrm>
          <a:off x="244539" y="49731"/>
          <a:ext cx="642689" cy="642689"/>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Grow our Business</a:t>
          </a:r>
        </a:p>
      </dsp:txBody>
      <dsp:txXfrm>
        <a:off x="318983" y="185920"/>
        <a:ext cx="229531" cy="191276"/>
      </dsp:txXfrm>
    </dsp:sp>
    <dsp:sp modelId="{C0572668-C668-4F16-BB8D-F9D30FB15295}">
      <dsp:nvSpPr>
        <dsp:cNvPr id="0" name=""/>
        <dsp:cNvSpPr/>
      </dsp:nvSpPr>
      <dsp:spPr>
        <a:xfrm>
          <a:off x="231279" y="9946"/>
          <a:ext cx="722260" cy="722260"/>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17989" y="32858"/>
          <a:ext cx="722260" cy="722260"/>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204700" y="9946"/>
          <a:ext cx="722260" cy="722260"/>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271011" y="49731"/>
          <a:ext cx="642689" cy="642689"/>
        </a:xfrm>
        <a:prstGeom prst="pie">
          <a:avLst>
            <a:gd name="adj1" fmla="val 16200000"/>
            <a:gd name="adj2" fmla="val 1800000"/>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Activate Innovation</a:t>
          </a:r>
        </a:p>
      </dsp:txBody>
      <dsp:txXfrm>
        <a:off x="609724" y="185920"/>
        <a:ext cx="229531" cy="191276"/>
      </dsp:txXfrm>
    </dsp:sp>
    <dsp:sp modelId="{CAF8EFCF-8B2C-4A17-9AAE-F762589E3E85}">
      <dsp:nvSpPr>
        <dsp:cNvPr id="0" name=""/>
        <dsp:cNvSpPr/>
      </dsp:nvSpPr>
      <dsp:spPr>
        <a:xfrm>
          <a:off x="257775" y="72685"/>
          <a:ext cx="642689" cy="642689"/>
        </a:xfrm>
        <a:prstGeom prst="pie">
          <a:avLst>
            <a:gd name="adj1" fmla="val 1800000"/>
            <a:gd name="adj2" fmla="val 9000000"/>
          </a:avLst>
        </a:prstGeom>
        <a:solidFill>
          <a:srgbClr val="00B05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410796" y="489667"/>
        <a:ext cx="344297" cy="168323"/>
      </dsp:txXfrm>
    </dsp:sp>
    <dsp:sp modelId="{EC155582-6CAF-4FDD-B16D-3ECF4C6A22F9}">
      <dsp:nvSpPr>
        <dsp:cNvPr id="0" name=""/>
        <dsp:cNvSpPr/>
      </dsp:nvSpPr>
      <dsp:spPr>
        <a:xfrm>
          <a:off x="244539" y="49731"/>
          <a:ext cx="642689" cy="642689"/>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Grow our Business</a:t>
          </a:r>
        </a:p>
      </dsp:txBody>
      <dsp:txXfrm>
        <a:off x="318983" y="185920"/>
        <a:ext cx="229531" cy="191276"/>
      </dsp:txXfrm>
    </dsp:sp>
    <dsp:sp modelId="{C0572668-C668-4F16-BB8D-F9D30FB15295}">
      <dsp:nvSpPr>
        <dsp:cNvPr id="0" name=""/>
        <dsp:cNvSpPr/>
      </dsp:nvSpPr>
      <dsp:spPr>
        <a:xfrm>
          <a:off x="231279" y="9946"/>
          <a:ext cx="722260" cy="722260"/>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17989" y="32858"/>
          <a:ext cx="722260" cy="722260"/>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204700" y="9946"/>
          <a:ext cx="722260" cy="722260"/>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D598F-6EC3-4409-A3E0-5EBC2E36E8AF}">
      <dsp:nvSpPr>
        <dsp:cNvPr id="0" name=""/>
        <dsp:cNvSpPr/>
      </dsp:nvSpPr>
      <dsp:spPr>
        <a:xfrm>
          <a:off x="271011" y="49731"/>
          <a:ext cx="642689" cy="642689"/>
        </a:xfrm>
        <a:prstGeom prst="pie">
          <a:avLst>
            <a:gd name="adj1" fmla="val 16200000"/>
            <a:gd name="adj2" fmla="val 1800000"/>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Activate Innovation</a:t>
          </a:r>
        </a:p>
      </dsp:txBody>
      <dsp:txXfrm>
        <a:off x="609724" y="185920"/>
        <a:ext cx="229531" cy="191276"/>
      </dsp:txXfrm>
    </dsp:sp>
    <dsp:sp modelId="{CAF8EFCF-8B2C-4A17-9AAE-F762589E3E85}">
      <dsp:nvSpPr>
        <dsp:cNvPr id="0" name=""/>
        <dsp:cNvSpPr/>
      </dsp:nvSpPr>
      <dsp:spPr>
        <a:xfrm>
          <a:off x="257775" y="72685"/>
          <a:ext cx="642689" cy="642689"/>
        </a:xfrm>
        <a:prstGeom prst="pie">
          <a:avLst>
            <a:gd name="adj1" fmla="val 1800000"/>
            <a:gd name="adj2" fmla="val 9000000"/>
          </a:avLst>
        </a:prstGeom>
        <a:solidFill>
          <a:srgbClr val="00B05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t>Inspire our People</a:t>
          </a:r>
        </a:p>
      </dsp:txBody>
      <dsp:txXfrm>
        <a:off x="410796" y="489667"/>
        <a:ext cx="344297" cy="168323"/>
      </dsp:txXfrm>
    </dsp:sp>
    <dsp:sp modelId="{EC155582-6CAF-4FDD-B16D-3ECF4C6A22F9}">
      <dsp:nvSpPr>
        <dsp:cNvPr id="0" name=""/>
        <dsp:cNvSpPr/>
      </dsp:nvSpPr>
      <dsp:spPr>
        <a:xfrm>
          <a:off x="244539" y="49731"/>
          <a:ext cx="642689" cy="642689"/>
        </a:xfrm>
        <a:prstGeom prst="pie">
          <a:avLst>
            <a:gd name="adj1" fmla="val 9000000"/>
            <a:gd name="adj2" fmla="val 16200000"/>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tx1"/>
              </a:solidFill>
            </a:rPr>
            <a:t>Grow our Business</a:t>
          </a:r>
        </a:p>
      </dsp:txBody>
      <dsp:txXfrm>
        <a:off x="318983" y="185920"/>
        <a:ext cx="229531" cy="191276"/>
      </dsp:txXfrm>
    </dsp:sp>
    <dsp:sp modelId="{C0572668-C668-4F16-BB8D-F9D30FB15295}">
      <dsp:nvSpPr>
        <dsp:cNvPr id="0" name=""/>
        <dsp:cNvSpPr/>
      </dsp:nvSpPr>
      <dsp:spPr>
        <a:xfrm>
          <a:off x="231279" y="9946"/>
          <a:ext cx="722260" cy="722260"/>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2721D-24D6-4395-B32D-212CD70A60DD}">
      <dsp:nvSpPr>
        <dsp:cNvPr id="0" name=""/>
        <dsp:cNvSpPr/>
      </dsp:nvSpPr>
      <dsp:spPr>
        <a:xfrm>
          <a:off x="217989" y="32858"/>
          <a:ext cx="722260" cy="722260"/>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C0EECA-ECBF-4383-A1AD-590B329F106E}">
      <dsp:nvSpPr>
        <dsp:cNvPr id="0" name=""/>
        <dsp:cNvSpPr/>
      </dsp:nvSpPr>
      <dsp:spPr>
        <a:xfrm>
          <a:off x="204700" y="9946"/>
          <a:ext cx="722260" cy="722260"/>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5.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6.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7.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8.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0.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B1B3512A-295B-44C7-A9B8-96CAD565036A}" type="datetimeFigureOut">
              <a:rPr lang="en-US" smtClean="0"/>
              <a:t>27/03/2023</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01E4A9E0-8A94-4D93-9186-C11828197F8B}" type="slidenum">
              <a:rPr lang="en-US" smtClean="0"/>
              <a:t>‹#›</a:t>
            </a:fld>
            <a:endParaRPr lang="en-US"/>
          </a:p>
        </p:txBody>
      </p:sp>
    </p:spTree>
    <p:extLst>
      <p:ext uri="{BB962C8B-B14F-4D97-AF65-F5344CB8AC3E}">
        <p14:creationId xmlns:p14="http://schemas.microsoft.com/office/powerpoint/2010/main" val="16267747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7EEDE85-1F7E-4C42-A8B1-AC0C556B6032}" type="datetimeFigureOut">
              <a:rPr lang="en-US" smtClean="0"/>
              <a:t>27/03/2023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C588EB77-884B-4CC2-BCA6-34453238944B}" type="slidenum">
              <a:rPr lang="en-US" smtClean="0"/>
              <a:t>‹#›</a:t>
            </a:fld>
            <a:endParaRPr lang="en-US"/>
          </a:p>
        </p:txBody>
      </p:sp>
    </p:spTree>
    <p:extLst>
      <p:ext uri="{BB962C8B-B14F-4D97-AF65-F5344CB8AC3E}">
        <p14:creationId xmlns:p14="http://schemas.microsoft.com/office/powerpoint/2010/main" val="95403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1</a:t>
            </a:fld>
            <a:endParaRPr lang="en-US"/>
          </a:p>
        </p:txBody>
      </p:sp>
    </p:spTree>
    <p:extLst>
      <p:ext uri="{BB962C8B-B14F-4D97-AF65-F5344CB8AC3E}">
        <p14:creationId xmlns:p14="http://schemas.microsoft.com/office/powerpoint/2010/main" val="2660828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2</a:t>
            </a:fld>
            <a:endParaRPr lang="en-US"/>
          </a:p>
        </p:txBody>
      </p:sp>
    </p:spTree>
    <p:extLst>
      <p:ext uri="{BB962C8B-B14F-4D97-AF65-F5344CB8AC3E}">
        <p14:creationId xmlns:p14="http://schemas.microsoft.com/office/powerpoint/2010/main" val="1953839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3</a:t>
            </a:fld>
            <a:endParaRPr lang="en-US"/>
          </a:p>
        </p:txBody>
      </p:sp>
    </p:spTree>
    <p:extLst>
      <p:ext uri="{BB962C8B-B14F-4D97-AF65-F5344CB8AC3E}">
        <p14:creationId xmlns:p14="http://schemas.microsoft.com/office/powerpoint/2010/main" val="2746804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This model lays the foundation for several associated tools that will enable us to more effectively select, develop, evaluate, retain, and promote leadership. Leadership competencies will be further associated and integrated as an evaluation and development tool for performance management, 360 feedback, proficiency and leadership development journeys, Promotion and progression, career guidance for employees, recruitment selection and interview process. </a:t>
            </a:r>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4</a:t>
            </a:fld>
            <a:endParaRPr lang="en-US"/>
          </a:p>
        </p:txBody>
      </p:sp>
    </p:spTree>
    <p:extLst>
      <p:ext uri="{BB962C8B-B14F-4D97-AF65-F5344CB8AC3E}">
        <p14:creationId xmlns:p14="http://schemas.microsoft.com/office/powerpoint/2010/main" val="1921765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solidFill>
                  <a:srgbClr val="494949"/>
                </a:solidFill>
                <a:effectLst/>
                <a:latin typeface="Helvetica" panose="020B0604020202020204" pitchFamily="34" charset="0"/>
                <a:ea typeface="Calibri" panose="020F0502020204030204" pitchFamily="34" charset="0"/>
                <a:cs typeface="Times New Roman" panose="02020603050405020304" pitchFamily="18" charset="0"/>
              </a:rPr>
              <a:t>Traditional leadership competency models are no longer effective in today’s evolving market. To stay competitive, organizations need a new, concise method that employees can easily interpret and apply to their roles. Our </a:t>
            </a:r>
            <a:r>
              <a:rPr lang="en-US" sz="1100" dirty="0">
                <a:solidFill>
                  <a:srgbClr val="494949"/>
                </a:solidFill>
                <a:effectLst/>
                <a:latin typeface="Helvetica" panose="020B0604020202020204" pitchFamily="34" charset="0"/>
                <a:ea typeface="Calibri" panose="020F0502020204030204" pitchFamily="34" charset="0"/>
                <a:cs typeface="Times New Roman" panose="02020603050405020304" pitchFamily="18" charset="0"/>
              </a:rPr>
              <a:t>condensed, eight-part </a:t>
            </a:r>
            <a:r>
              <a:rPr lang="en-US" sz="1200" dirty="0">
                <a:solidFill>
                  <a:srgbClr val="494949"/>
                </a:solidFill>
                <a:effectLst/>
                <a:latin typeface="Helvetica" panose="020B0604020202020204" pitchFamily="34" charset="0"/>
                <a:ea typeface="Calibri" panose="020F0502020204030204" pitchFamily="34" charset="0"/>
                <a:cs typeface="Times New Roman" panose="02020603050405020304" pitchFamily="18" charset="0"/>
              </a:rPr>
              <a:t>leadership competency model clearly and simply describes the competencies required to be strong leaders.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alibri" panose="020F0502020204030204" pitchFamily="34" charset="0"/>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Leadership Capability Model</a:t>
            </a:r>
          </a:p>
          <a:p>
            <a:pPr marL="342900" marR="0" lvl="0" indent="-342900">
              <a:lnSpc>
                <a:spcPct val="107000"/>
              </a:lnSpc>
              <a:spcBef>
                <a:spcPts val="0"/>
              </a:spcBef>
              <a:spcAft>
                <a:spcPts val="800"/>
              </a:spcAft>
              <a:buFont typeface="Calibri" panose="020F0502020204030204" pitchFamily="34" charset="0"/>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Competency Library to Home Grown Model</a:t>
            </a:r>
          </a:p>
          <a:p>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200" dirty="0">
                <a:effectLst/>
                <a:latin typeface="Calibri" panose="020F0502020204030204" pitchFamily="34" charset="0"/>
                <a:ea typeface="Calibri" panose="020F0502020204030204" pitchFamily="34" charset="0"/>
                <a:cs typeface="Times New Roman" panose="02020603050405020304" pitchFamily="18" charset="0"/>
              </a:rPr>
              <a:t>Our LDA identifies and describes the 8 Leadership competencies and behaviors considered most important for the Leadership development of employees Bands G and above</a:t>
            </a:r>
            <a:br>
              <a:rPr lang="en-US" sz="1200" dirty="0">
                <a:effectLst/>
                <a:latin typeface="Calibri" panose="020F0502020204030204" pitchFamily="34" charset="0"/>
                <a:ea typeface="Calibri" panose="020F0502020204030204" pitchFamily="34" charset="0"/>
                <a:cs typeface="Times New Roman" panose="02020603050405020304" pitchFamily="18" charset="0"/>
              </a:rPr>
            </a:br>
            <a:br>
              <a:rPr lang="en-US" sz="1200" dirty="0">
                <a:effectLst/>
                <a:latin typeface="Calibri" panose="020F0502020204030204" pitchFamily="34" charset="0"/>
                <a:ea typeface="Calibri" panose="020F0502020204030204" pitchFamily="34" charset="0"/>
                <a:cs typeface="Times New Roman" panose="02020603050405020304" pitchFamily="18" charset="0"/>
              </a:rPr>
            </a:br>
            <a:r>
              <a:rPr lang="en-US" sz="1200" dirty="0">
                <a:effectLst/>
                <a:latin typeface="Calibri" panose="020F0502020204030204" pitchFamily="34" charset="0"/>
                <a:ea typeface="Calibri" panose="020F0502020204030204" pitchFamily="34" charset="0"/>
                <a:cs typeface="Times New Roman" panose="02020603050405020304" pitchFamily="18" charset="0"/>
              </a:rPr>
              <a:t>Our leadership framework is the category-level architecture, where we have clustered our Leadership competencies into 3 main clusters or expectations (Grow your Business, Activate Innovation &amp; Inspire our people. And out Leadership Behavioral Anchors have been drafted as an outcome of our co-creation workshops with our L&amp;D colleagues.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5</a:t>
            </a:fld>
            <a:endParaRPr lang="en-US"/>
          </a:p>
        </p:txBody>
      </p:sp>
    </p:spTree>
    <p:extLst>
      <p:ext uri="{BB962C8B-B14F-4D97-AF65-F5344CB8AC3E}">
        <p14:creationId xmlns:p14="http://schemas.microsoft.com/office/powerpoint/2010/main" val="911362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6</a:t>
            </a:fld>
            <a:endParaRPr lang="en-US"/>
          </a:p>
        </p:txBody>
      </p:sp>
    </p:spTree>
    <p:extLst>
      <p:ext uri="{BB962C8B-B14F-4D97-AF65-F5344CB8AC3E}">
        <p14:creationId xmlns:p14="http://schemas.microsoft.com/office/powerpoint/2010/main" val="805334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What makes an effective Leader?</a:t>
            </a:r>
          </a:p>
          <a:p>
            <a:pPr marL="0" marR="0">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banding was co-created with representation from each division. </a:t>
            </a:r>
            <a:br>
              <a:rPr lang="en-US" sz="1100" dirty="0">
                <a:effectLst/>
                <a:latin typeface="Calibri" panose="020F0502020204030204" pitchFamily="34" charset="0"/>
                <a:ea typeface="Calibri" panose="020F0502020204030204" pitchFamily="34" charset="0"/>
                <a:cs typeface="Times New Roman" panose="02020603050405020304" pitchFamily="18" charset="0"/>
              </a:rPr>
            </a:br>
            <a:r>
              <a:rPr lang="en-US" sz="1100" dirty="0">
                <a:effectLst/>
                <a:latin typeface="Calibri" panose="020F0502020204030204" pitchFamily="34" charset="0"/>
                <a:ea typeface="Calibri" panose="020F0502020204030204" pitchFamily="34" charset="0"/>
                <a:cs typeface="Times New Roman" panose="02020603050405020304" pitchFamily="18" charset="0"/>
              </a:rPr>
              <a:t>The initial proposed framework was pressure tested across  the divisions, with the objective of</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dirty="0">
                <a:effectLst/>
                <a:latin typeface="Calibri" panose="020F0502020204030204" pitchFamily="34" charset="0"/>
                <a:ea typeface="Calibri" panose="020F0502020204030204" pitchFamily="34" charset="0"/>
                <a:cs typeface="Times New Roman" panose="02020603050405020304" pitchFamily="18" charset="0"/>
              </a:rPr>
              <a:t>Bringing in diverse perspectives from the reality on the ground within different Divisions and Bands.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dirty="0">
                <a:effectLst/>
                <a:latin typeface="Calibri" panose="020F0502020204030204" pitchFamily="34" charset="0"/>
                <a:ea typeface="Calibri" panose="020F0502020204030204" pitchFamily="34" charset="0"/>
                <a:cs typeface="Times New Roman" panose="02020603050405020304" pitchFamily="18" charset="0"/>
              </a:rPr>
              <a:t>Ensuring alignment on the progressive proficiency across levels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dirty="0">
                <a:effectLst/>
                <a:latin typeface="Calibri" panose="020F0502020204030204" pitchFamily="34" charset="0"/>
                <a:ea typeface="Calibri" panose="020F0502020204030204" pitchFamily="34" charset="0"/>
                <a:cs typeface="Times New Roman" panose="02020603050405020304" pitchFamily="18" charset="0"/>
              </a:rPr>
              <a:t>Aligning that each proficiency level is cumulative, that means behavioral indicators from lower levels will not be repeated at higher levels although they still apply.</a:t>
            </a:r>
          </a:p>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7</a:t>
            </a:fld>
            <a:endParaRPr lang="en-US"/>
          </a:p>
        </p:txBody>
      </p:sp>
    </p:spTree>
    <p:extLst>
      <p:ext uri="{BB962C8B-B14F-4D97-AF65-F5344CB8AC3E}">
        <p14:creationId xmlns:p14="http://schemas.microsoft.com/office/powerpoint/2010/main" val="1427793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8</a:t>
            </a:fld>
            <a:endParaRPr lang="en-US"/>
          </a:p>
        </p:txBody>
      </p:sp>
    </p:spTree>
    <p:extLst>
      <p:ext uri="{BB962C8B-B14F-4D97-AF65-F5344CB8AC3E}">
        <p14:creationId xmlns:p14="http://schemas.microsoft.com/office/powerpoint/2010/main" val="142154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9</a:t>
            </a:fld>
            <a:endParaRPr lang="en-US"/>
          </a:p>
        </p:txBody>
      </p:sp>
    </p:spTree>
    <p:extLst>
      <p:ext uri="{BB962C8B-B14F-4D97-AF65-F5344CB8AC3E}">
        <p14:creationId xmlns:p14="http://schemas.microsoft.com/office/powerpoint/2010/main" val="1896158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10</a:t>
            </a:fld>
            <a:endParaRPr lang="en-US"/>
          </a:p>
        </p:txBody>
      </p:sp>
    </p:spTree>
    <p:extLst>
      <p:ext uri="{BB962C8B-B14F-4D97-AF65-F5344CB8AC3E}">
        <p14:creationId xmlns:p14="http://schemas.microsoft.com/office/powerpoint/2010/main" val="2970960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11</a:t>
            </a:fld>
            <a:endParaRPr lang="en-US"/>
          </a:p>
        </p:txBody>
      </p:sp>
    </p:spTree>
    <p:extLst>
      <p:ext uri="{BB962C8B-B14F-4D97-AF65-F5344CB8AC3E}">
        <p14:creationId xmlns:p14="http://schemas.microsoft.com/office/powerpoint/2010/main" val="78222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12</a:t>
            </a:fld>
            <a:endParaRPr lang="en-US"/>
          </a:p>
        </p:txBody>
      </p:sp>
    </p:spTree>
    <p:extLst>
      <p:ext uri="{BB962C8B-B14F-4D97-AF65-F5344CB8AC3E}">
        <p14:creationId xmlns:p14="http://schemas.microsoft.com/office/powerpoint/2010/main" val="2320481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C588EB77-884B-4CC2-BCA6-34453238944B}" type="slidenum">
              <a:rPr lang="en-US" smtClean="0"/>
              <a:t>13</a:t>
            </a:fld>
            <a:endParaRPr lang="en-US"/>
          </a:p>
        </p:txBody>
      </p:sp>
    </p:spTree>
    <p:extLst>
      <p:ext uri="{BB962C8B-B14F-4D97-AF65-F5344CB8AC3E}">
        <p14:creationId xmlns:p14="http://schemas.microsoft.com/office/powerpoint/2010/main" val="2819928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14</a:t>
            </a:fld>
            <a:endParaRPr lang="en-US"/>
          </a:p>
        </p:txBody>
      </p:sp>
    </p:spTree>
    <p:extLst>
      <p:ext uri="{BB962C8B-B14F-4D97-AF65-F5344CB8AC3E}">
        <p14:creationId xmlns:p14="http://schemas.microsoft.com/office/powerpoint/2010/main" val="3957323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C588EB77-884B-4CC2-BCA6-34453238944B}" type="slidenum">
              <a:rPr lang="en-US" smtClean="0"/>
              <a:t>15</a:t>
            </a:fld>
            <a:endParaRPr lang="en-US"/>
          </a:p>
        </p:txBody>
      </p:sp>
    </p:spTree>
    <p:extLst>
      <p:ext uri="{BB962C8B-B14F-4D97-AF65-F5344CB8AC3E}">
        <p14:creationId xmlns:p14="http://schemas.microsoft.com/office/powerpoint/2010/main" val="974826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16</a:t>
            </a:fld>
            <a:endParaRPr lang="en-US"/>
          </a:p>
        </p:txBody>
      </p:sp>
    </p:spTree>
    <p:extLst>
      <p:ext uri="{BB962C8B-B14F-4D97-AF65-F5344CB8AC3E}">
        <p14:creationId xmlns:p14="http://schemas.microsoft.com/office/powerpoint/2010/main" val="38043476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C588EB77-884B-4CC2-BCA6-34453238944B}" type="slidenum">
              <a:rPr lang="en-US" smtClean="0"/>
              <a:t>17</a:t>
            </a:fld>
            <a:endParaRPr lang="en-US"/>
          </a:p>
        </p:txBody>
      </p:sp>
    </p:spTree>
    <p:extLst>
      <p:ext uri="{BB962C8B-B14F-4D97-AF65-F5344CB8AC3E}">
        <p14:creationId xmlns:p14="http://schemas.microsoft.com/office/powerpoint/2010/main" val="1328001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18</a:t>
            </a:fld>
            <a:endParaRPr lang="en-US"/>
          </a:p>
        </p:txBody>
      </p:sp>
    </p:spTree>
    <p:extLst>
      <p:ext uri="{BB962C8B-B14F-4D97-AF65-F5344CB8AC3E}">
        <p14:creationId xmlns:p14="http://schemas.microsoft.com/office/powerpoint/2010/main" val="33870117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19</a:t>
            </a:fld>
            <a:endParaRPr lang="en-US"/>
          </a:p>
        </p:txBody>
      </p:sp>
    </p:spTree>
    <p:extLst>
      <p:ext uri="{BB962C8B-B14F-4D97-AF65-F5344CB8AC3E}">
        <p14:creationId xmlns:p14="http://schemas.microsoft.com/office/powerpoint/2010/main" val="2600400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20</a:t>
            </a:fld>
            <a:endParaRPr lang="en-US"/>
          </a:p>
        </p:txBody>
      </p:sp>
    </p:spTree>
    <p:extLst>
      <p:ext uri="{BB962C8B-B14F-4D97-AF65-F5344CB8AC3E}">
        <p14:creationId xmlns:p14="http://schemas.microsoft.com/office/powerpoint/2010/main" val="18009387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21</a:t>
            </a:fld>
            <a:endParaRPr lang="en-US"/>
          </a:p>
        </p:txBody>
      </p:sp>
    </p:spTree>
    <p:extLst>
      <p:ext uri="{BB962C8B-B14F-4D97-AF65-F5344CB8AC3E}">
        <p14:creationId xmlns:p14="http://schemas.microsoft.com/office/powerpoint/2010/main" val="2173900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22</a:t>
            </a:fld>
            <a:endParaRPr lang="en-US"/>
          </a:p>
        </p:txBody>
      </p:sp>
    </p:spTree>
    <p:extLst>
      <p:ext uri="{BB962C8B-B14F-4D97-AF65-F5344CB8AC3E}">
        <p14:creationId xmlns:p14="http://schemas.microsoft.com/office/powerpoint/2010/main" val="21070869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23</a:t>
            </a:fld>
            <a:endParaRPr lang="en-US"/>
          </a:p>
        </p:txBody>
      </p:sp>
    </p:spTree>
    <p:extLst>
      <p:ext uri="{BB962C8B-B14F-4D97-AF65-F5344CB8AC3E}">
        <p14:creationId xmlns:p14="http://schemas.microsoft.com/office/powerpoint/2010/main" val="25804168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24</a:t>
            </a:fld>
            <a:endParaRPr lang="en-US"/>
          </a:p>
        </p:txBody>
      </p:sp>
    </p:spTree>
    <p:extLst>
      <p:ext uri="{BB962C8B-B14F-4D97-AF65-F5344CB8AC3E}">
        <p14:creationId xmlns:p14="http://schemas.microsoft.com/office/powerpoint/2010/main" val="18844299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25</a:t>
            </a:fld>
            <a:endParaRPr lang="en-US"/>
          </a:p>
        </p:txBody>
      </p:sp>
    </p:spTree>
    <p:extLst>
      <p:ext uri="{BB962C8B-B14F-4D97-AF65-F5344CB8AC3E}">
        <p14:creationId xmlns:p14="http://schemas.microsoft.com/office/powerpoint/2010/main" val="21844461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26</a:t>
            </a:fld>
            <a:endParaRPr lang="en-US"/>
          </a:p>
        </p:txBody>
      </p:sp>
    </p:spTree>
    <p:extLst>
      <p:ext uri="{BB962C8B-B14F-4D97-AF65-F5344CB8AC3E}">
        <p14:creationId xmlns:p14="http://schemas.microsoft.com/office/powerpoint/2010/main" val="11037355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27</a:t>
            </a:fld>
            <a:endParaRPr lang="en-US"/>
          </a:p>
        </p:txBody>
      </p:sp>
    </p:spTree>
    <p:extLst>
      <p:ext uri="{BB962C8B-B14F-4D97-AF65-F5344CB8AC3E}">
        <p14:creationId xmlns:p14="http://schemas.microsoft.com/office/powerpoint/2010/main" val="22027170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88EB77-884B-4CC2-BCA6-34453238944B}" type="slidenum">
              <a:rPr lang="en-US" smtClean="0"/>
              <a:t>28</a:t>
            </a:fld>
            <a:endParaRPr lang="en-US"/>
          </a:p>
        </p:txBody>
      </p:sp>
    </p:spTree>
    <p:extLst>
      <p:ext uri="{BB962C8B-B14F-4D97-AF65-F5344CB8AC3E}">
        <p14:creationId xmlns:p14="http://schemas.microsoft.com/office/powerpoint/2010/main" val="40778954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88EB77-884B-4CC2-BCA6-34453238944B}" type="slidenum">
              <a:rPr lang="en-US" smtClean="0"/>
              <a:t>29</a:t>
            </a:fld>
            <a:endParaRPr lang="en-US"/>
          </a:p>
        </p:txBody>
      </p:sp>
    </p:spTree>
    <p:extLst>
      <p:ext uri="{BB962C8B-B14F-4D97-AF65-F5344CB8AC3E}">
        <p14:creationId xmlns:p14="http://schemas.microsoft.com/office/powerpoint/2010/main" val="20680237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163481"/>
            <a:ext cx="7886700" cy="739056"/>
          </a:xfrm>
        </p:spPr>
        <p:txBody>
          <a:bodyPr>
            <a:normAutofit/>
          </a:bodyPr>
          <a:lstStyle>
            <a:lvl1pPr>
              <a:defRPr sz="2700"/>
            </a:lvl1pPr>
          </a:lstStyle>
          <a:p>
            <a:r>
              <a:rPr lang="en-US" dirty="0"/>
              <a:t>Click to edit Master title style</a:t>
            </a:r>
          </a:p>
        </p:txBody>
      </p:sp>
      <p:grpSp>
        <p:nvGrpSpPr>
          <p:cNvPr id="6" name="Group 5">
            <a:extLst>
              <a:ext uri="{FF2B5EF4-FFF2-40B4-BE49-F238E27FC236}">
                <a16:creationId xmlns:a16="http://schemas.microsoft.com/office/drawing/2014/main" id="{1E91CD03-3F67-4027-8593-90178174566B}"/>
              </a:ext>
            </a:extLst>
          </p:cNvPr>
          <p:cNvGrpSpPr/>
          <p:nvPr userDrawn="1"/>
        </p:nvGrpSpPr>
        <p:grpSpPr>
          <a:xfrm>
            <a:off x="9418523" y="2"/>
            <a:ext cx="1233035" cy="1816099"/>
            <a:chOff x="9433981" y="1"/>
            <a:chExt cx="1644047" cy="1816099"/>
          </a:xfrm>
        </p:grpSpPr>
        <p:sp>
          <p:nvSpPr>
            <p:cNvPr id="7" name="Rectangle: Folded Corner 6">
              <a:extLst>
                <a:ext uri="{FF2B5EF4-FFF2-40B4-BE49-F238E27FC236}">
                  <a16:creationId xmlns:a16="http://schemas.microsoft.com/office/drawing/2014/main" id="{9967EC7A-09F8-4E1B-AB8A-1A11DE75D851}"/>
                </a:ext>
              </a:extLst>
            </p:cNvPr>
            <p:cNvSpPr/>
            <p:nvPr userDrawn="1"/>
          </p:nvSpPr>
          <p:spPr>
            <a:xfrm>
              <a:off x="9433981" y="1"/>
              <a:ext cx="1644047" cy="1816099"/>
            </a:xfrm>
            <a:prstGeom prst="foldedCorner">
              <a:avLst/>
            </a:prstGeom>
            <a:ln>
              <a:noFill/>
            </a:ln>
            <a:effectLst>
              <a:outerShdw blurRad="101600" dist="635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Ins="0" rtlCol="0" anchor="t"/>
            <a:lstStyle/>
            <a:p>
              <a:r>
                <a:rPr lang="en-US" sz="1050" dirty="0">
                  <a:solidFill>
                    <a:schemeClr val="accent2">
                      <a:lumMod val="50000"/>
                    </a:schemeClr>
                  </a:solidFill>
                </a:rPr>
                <a:t>To insert Your own icons*:</a:t>
              </a:r>
            </a:p>
            <a:p>
              <a:endParaRPr lang="en-US" sz="1050" dirty="0">
                <a:solidFill>
                  <a:schemeClr val="accent2">
                    <a:lumMod val="50000"/>
                  </a:schemeClr>
                </a:solidFill>
              </a:endParaRPr>
            </a:p>
            <a:p>
              <a:r>
                <a:rPr lang="en-US" sz="1050" b="1" dirty="0">
                  <a:solidFill>
                    <a:schemeClr val="accent2">
                      <a:lumMod val="50000"/>
                    </a:schemeClr>
                  </a:solidFill>
                </a:rPr>
                <a:t>Insert</a:t>
              </a:r>
              <a:r>
                <a:rPr lang="en-US" sz="1050" dirty="0">
                  <a:solidFill>
                    <a:schemeClr val="accent2">
                      <a:lumMod val="50000"/>
                    </a:schemeClr>
                  </a:solidFill>
                </a:rPr>
                <a:t> &gt;&gt; </a:t>
              </a:r>
              <a:r>
                <a:rPr lang="en-US" sz="1050" b="1" dirty="0">
                  <a:solidFill>
                    <a:schemeClr val="accent2">
                      <a:lumMod val="50000"/>
                    </a:schemeClr>
                  </a:solidFill>
                </a:rPr>
                <a:t>Icons</a:t>
              </a:r>
            </a:p>
            <a:p>
              <a:endParaRPr lang="en-US" sz="1050" dirty="0">
                <a:solidFill>
                  <a:schemeClr val="accent2">
                    <a:lumMod val="50000"/>
                  </a:schemeClr>
                </a:solidFill>
              </a:endParaRPr>
            </a:p>
            <a:p>
              <a:r>
                <a:rPr lang="en-US" sz="900" i="1" dirty="0">
                  <a:solidFill>
                    <a:schemeClr val="accent2">
                      <a:lumMod val="50000"/>
                    </a:schemeClr>
                  </a:solidFill>
                </a:rPr>
                <a:t>(*Only available to Microsoft 365 subscribers)</a:t>
              </a:r>
            </a:p>
          </p:txBody>
        </p:sp>
        <p:pic>
          <p:nvPicPr>
            <p:cNvPr id="8" name="Picture 7">
              <a:extLst>
                <a:ext uri="{FF2B5EF4-FFF2-40B4-BE49-F238E27FC236}">
                  <a16:creationId xmlns:a16="http://schemas.microsoft.com/office/drawing/2014/main" id="{1BB72257-1851-43E6-BD0E-7525A0ADEFDA}"/>
                </a:ext>
              </a:extLst>
            </p:cNvPr>
            <p:cNvPicPr>
              <a:picLocks noChangeAspect="1"/>
            </p:cNvPicPr>
            <p:nvPr userDrawn="1"/>
          </p:nvPicPr>
          <p:blipFill rotWithShape="1">
            <a:blip r:embed="rId2"/>
            <a:srcRect t="1" b="5479"/>
            <a:stretch/>
          </p:blipFill>
          <p:spPr>
            <a:xfrm>
              <a:off x="10677978" y="424090"/>
              <a:ext cx="400050" cy="657225"/>
            </a:xfrm>
            <a:prstGeom prst="rect">
              <a:avLst/>
            </a:prstGeom>
          </p:spPr>
        </p:pic>
      </p:grpSp>
    </p:spTree>
    <p:extLst>
      <p:ext uri="{BB962C8B-B14F-4D97-AF65-F5344CB8AC3E}">
        <p14:creationId xmlns:p14="http://schemas.microsoft.com/office/powerpoint/2010/main" val="3299693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97688-38AA-4CBC-886C-879A3FA3B53C}"/>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2508371-0B50-40BC-AF6B-806227F64C0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F5148BB-331A-434C-89F3-DCDF63D17800}"/>
              </a:ext>
            </a:extLst>
          </p:cNvPr>
          <p:cNvSpPr>
            <a:spLocks noGrp="1"/>
          </p:cNvSpPr>
          <p:nvPr>
            <p:ph type="dt" sz="half" idx="10"/>
          </p:nvPr>
        </p:nvSpPr>
        <p:spPr/>
        <p:txBody>
          <a:bodyPr/>
          <a:lstStyle/>
          <a:p>
            <a:fld id="{8CE36D3C-0A78-4DA8-947B-3D9356758207}" type="datetimeFigureOut">
              <a:rPr lang="en-US" smtClean="0"/>
              <a:t>27/03/2023</a:t>
            </a:fld>
            <a:endParaRPr lang="en-US"/>
          </a:p>
        </p:txBody>
      </p:sp>
      <p:sp>
        <p:nvSpPr>
          <p:cNvPr id="5" name="Footer Placeholder 4">
            <a:extLst>
              <a:ext uri="{FF2B5EF4-FFF2-40B4-BE49-F238E27FC236}">
                <a16:creationId xmlns:a16="http://schemas.microsoft.com/office/drawing/2014/main" id="{C1F34336-8615-4D52-9320-98A14AF451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146A44-5A9B-4DE0-80BD-5ED080496379}"/>
              </a:ext>
            </a:extLst>
          </p:cNvPr>
          <p:cNvSpPr>
            <a:spLocks noGrp="1"/>
          </p:cNvSpPr>
          <p:nvPr>
            <p:ph type="sldNum" sz="quarter" idx="12"/>
          </p:nvPr>
        </p:nvSpPr>
        <p:spPr/>
        <p:txBody>
          <a:bodyPr/>
          <a:lstStyle/>
          <a:p>
            <a:fld id="{ABF02D9C-A69A-4796-98AC-BC96C384CF14}" type="slidenum">
              <a:rPr lang="en-US" smtClean="0"/>
              <a:t>‹#›</a:t>
            </a:fld>
            <a:endParaRPr lang="en-US"/>
          </a:p>
        </p:txBody>
      </p:sp>
    </p:spTree>
    <p:extLst>
      <p:ext uri="{BB962C8B-B14F-4D97-AF65-F5344CB8AC3E}">
        <p14:creationId xmlns:p14="http://schemas.microsoft.com/office/powerpoint/2010/main" val="2301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163481"/>
            <a:ext cx="7886700" cy="739056"/>
          </a:xfrm>
        </p:spPr>
        <p:txBody>
          <a:bodyPr>
            <a:normAutofit/>
          </a:bodyPr>
          <a:lstStyle>
            <a:lvl1pPr>
              <a:defRPr sz="2700"/>
            </a:lvl1pPr>
          </a:lstStyle>
          <a:p>
            <a:r>
              <a:rPr lang="en-US" dirty="0"/>
              <a:t>Click to edit Master title style</a:t>
            </a:r>
          </a:p>
        </p:txBody>
      </p:sp>
      <p:grpSp>
        <p:nvGrpSpPr>
          <p:cNvPr id="6" name="Group 5">
            <a:extLst>
              <a:ext uri="{FF2B5EF4-FFF2-40B4-BE49-F238E27FC236}">
                <a16:creationId xmlns:a16="http://schemas.microsoft.com/office/drawing/2014/main" id="{1E91CD03-3F67-4027-8593-90178174566B}"/>
              </a:ext>
            </a:extLst>
          </p:cNvPr>
          <p:cNvGrpSpPr/>
          <p:nvPr userDrawn="1"/>
        </p:nvGrpSpPr>
        <p:grpSpPr>
          <a:xfrm>
            <a:off x="9418523" y="2"/>
            <a:ext cx="1233035" cy="1816099"/>
            <a:chOff x="9433981" y="1"/>
            <a:chExt cx="1644047" cy="1816099"/>
          </a:xfrm>
        </p:grpSpPr>
        <p:sp>
          <p:nvSpPr>
            <p:cNvPr id="7" name="Rectangle: Folded Corner 6">
              <a:extLst>
                <a:ext uri="{FF2B5EF4-FFF2-40B4-BE49-F238E27FC236}">
                  <a16:creationId xmlns:a16="http://schemas.microsoft.com/office/drawing/2014/main" id="{9967EC7A-09F8-4E1B-AB8A-1A11DE75D851}"/>
                </a:ext>
              </a:extLst>
            </p:cNvPr>
            <p:cNvSpPr/>
            <p:nvPr userDrawn="1"/>
          </p:nvSpPr>
          <p:spPr>
            <a:xfrm>
              <a:off x="9433981" y="1"/>
              <a:ext cx="1644047" cy="1816099"/>
            </a:xfrm>
            <a:prstGeom prst="foldedCorner">
              <a:avLst/>
            </a:prstGeom>
            <a:ln>
              <a:noFill/>
            </a:ln>
            <a:effectLst>
              <a:outerShdw blurRad="101600" dist="635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Ins="0" rtlCol="0" anchor="t"/>
            <a:lstStyle/>
            <a:p>
              <a:r>
                <a:rPr lang="en-US" sz="1050" dirty="0">
                  <a:solidFill>
                    <a:schemeClr val="accent2">
                      <a:lumMod val="50000"/>
                    </a:schemeClr>
                  </a:solidFill>
                </a:rPr>
                <a:t>To insert Your own icons*:</a:t>
              </a:r>
            </a:p>
            <a:p>
              <a:endParaRPr lang="en-US" sz="1050" dirty="0">
                <a:solidFill>
                  <a:schemeClr val="accent2">
                    <a:lumMod val="50000"/>
                  </a:schemeClr>
                </a:solidFill>
              </a:endParaRPr>
            </a:p>
            <a:p>
              <a:r>
                <a:rPr lang="en-US" sz="1050" b="1" dirty="0">
                  <a:solidFill>
                    <a:schemeClr val="accent2">
                      <a:lumMod val="50000"/>
                    </a:schemeClr>
                  </a:solidFill>
                </a:rPr>
                <a:t>Insert</a:t>
              </a:r>
              <a:r>
                <a:rPr lang="en-US" sz="1050" dirty="0">
                  <a:solidFill>
                    <a:schemeClr val="accent2">
                      <a:lumMod val="50000"/>
                    </a:schemeClr>
                  </a:solidFill>
                </a:rPr>
                <a:t> &gt;&gt; </a:t>
              </a:r>
              <a:r>
                <a:rPr lang="en-US" sz="1050" b="1" dirty="0">
                  <a:solidFill>
                    <a:schemeClr val="accent2">
                      <a:lumMod val="50000"/>
                    </a:schemeClr>
                  </a:solidFill>
                </a:rPr>
                <a:t>Icons</a:t>
              </a:r>
            </a:p>
            <a:p>
              <a:endParaRPr lang="en-US" sz="1050" dirty="0">
                <a:solidFill>
                  <a:schemeClr val="accent2">
                    <a:lumMod val="50000"/>
                  </a:schemeClr>
                </a:solidFill>
              </a:endParaRPr>
            </a:p>
            <a:p>
              <a:r>
                <a:rPr lang="en-US" sz="900" i="1" dirty="0">
                  <a:solidFill>
                    <a:schemeClr val="accent2">
                      <a:lumMod val="50000"/>
                    </a:schemeClr>
                  </a:solidFill>
                </a:rPr>
                <a:t>(*Only available to Microsoft 365 subscribers)</a:t>
              </a:r>
            </a:p>
          </p:txBody>
        </p:sp>
        <p:pic>
          <p:nvPicPr>
            <p:cNvPr id="8" name="Picture 7">
              <a:extLst>
                <a:ext uri="{FF2B5EF4-FFF2-40B4-BE49-F238E27FC236}">
                  <a16:creationId xmlns:a16="http://schemas.microsoft.com/office/drawing/2014/main" id="{1BB72257-1851-43E6-BD0E-7525A0ADEFDA}"/>
                </a:ext>
              </a:extLst>
            </p:cNvPr>
            <p:cNvPicPr>
              <a:picLocks noChangeAspect="1"/>
            </p:cNvPicPr>
            <p:nvPr userDrawn="1"/>
          </p:nvPicPr>
          <p:blipFill rotWithShape="1">
            <a:blip r:embed="rId2"/>
            <a:srcRect t="1" b="5479"/>
            <a:stretch/>
          </p:blipFill>
          <p:spPr>
            <a:xfrm>
              <a:off x="10677978" y="424090"/>
              <a:ext cx="400050" cy="657225"/>
            </a:xfrm>
            <a:prstGeom prst="rect">
              <a:avLst/>
            </a:prstGeom>
          </p:spPr>
        </p:pic>
      </p:grpSp>
    </p:spTree>
    <p:extLst>
      <p:ext uri="{BB962C8B-B14F-4D97-AF65-F5344CB8AC3E}">
        <p14:creationId xmlns:p14="http://schemas.microsoft.com/office/powerpoint/2010/main" val="145090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E129A7-11FE-4E48-95D2-1247529127C5}" type="datetime1">
              <a:rPr lang="en-US" smtClean="0"/>
              <a:t>27/03/2023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r>
              <a:rPr lang="en-US"/>
              <a:t>-1-</a:t>
            </a:r>
          </a:p>
        </p:txBody>
      </p:sp>
      <p:pic>
        <p:nvPicPr>
          <p:cNvPr id="5" name="Picture 4">
            <a:extLst>
              <a:ext uri="{FF2B5EF4-FFF2-40B4-BE49-F238E27FC236}">
                <a16:creationId xmlns:a16="http://schemas.microsoft.com/office/drawing/2014/main" id="{FC3389F5-C605-4AD5-94EC-9746542509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721482"/>
            <a:ext cx="9144000" cy="136525"/>
          </a:xfrm>
          <a:prstGeom prst="rect">
            <a:avLst/>
          </a:prstGeom>
        </p:spPr>
      </p:pic>
      <p:pic>
        <p:nvPicPr>
          <p:cNvPr id="6" name="Picture 5">
            <a:extLst>
              <a:ext uri="{FF2B5EF4-FFF2-40B4-BE49-F238E27FC236}">
                <a16:creationId xmlns:a16="http://schemas.microsoft.com/office/drawing/2014/main" id="{70A4E6B6-5864-4D7F-BD93-9EED0D8745C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1684" r="17599"/>
          <a:stretch/>
        </p:blipFill>
        <p:spPr>
          <a:xfrm>
            <a:off x="6934200" y="0"/>
            <a:ext cx="2133600" cy="876616"/>
          </a:xfrm>
          <a:prstGeom prst="rect">
            <a:avLst/>
          </a:prstGeom>
          <a:solidFill>
            <a:schemeClr val="bg1"/>
          </a:solidFill>
        </p:spPr>
      </p:pic>
    </p:spTree>
    <p:extLst>
      <p:ext uri="{BB962C8B-B14F-4D97-AF65-F5344CB8AC3E}">
        <p14:creationId xmlns:p14="http://schemas.microsoft.com/office/powerpoint/2010/main" val="419759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8" name="Rectangle 7"/>
          <p:cNvSpPr/>
          <p:nvPr userDrawn="1"/>
        </p:nvSpPr>
        <p:spPr>
          <a:xfrm>
            <a:off x="0" y="6366293"/>
            <a:ext cx="9144000" cy="49170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800"/>
          </a:p>
        </p:txBody>
      </p:sp>
      <p:sp>
        <p:nvSpPr>
          <p:cNvPr id="6" name="Slide Number Placeholder 5"/>
          <p:cNvSpPr>
            <a:spLocks noGrp="1"/>
          </p:cNvSpPr>
          <p:nvPr>
            <p:ph type="sldNum" sz="quarter" idx="12"/>
          </p:nvPr>
        </p:nvSpPr>
        <p:spPr>
          <a:xfrm>
            <a:off x="6457950" y="6356353"/>
            <a:ext cx="2057400" cy="365125"/>
          </a:xfrm>
          <a:prstGeom prst="rect">
            <a:avLst/>
          </a:prstGeom>
        </p:spPr>
        <p:txBody>
          <a:bodyPr/>
          <a:lstStyle>
            <a:lvl1pPr algn="r">
              <a:defRPr>
                <a:solidFill>
                  <a:schemeClr val="bg1"/>
                </a:solidFill>
                <a:latin typeface="+mn-lt"/>
              </a:defRPr>
            </a:lvl1pPr>
          </a:lstStyle>
          <a:p>
            <a:fld id="{9A33D136-5D24-4071-AC84-E84CB7917EB0}" type="slidenum">
              <a:rPr lang="en-ZA" smtClean="0"/>
              <a:pPr/>
              <a:t>‹#›</a:t>
            </a:fld>
            <a:endParaRPr lang="en-ZA"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01230" y="248552"/>
            <a:ext cx="1866111" cy="397423"/>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48080" y="207401"/>
            <a:ext cx="3309870" cy="531239"/>
          </a:xfrm>
          <a:prstGeom prst="rect">
            <a:avLst/>
          </a:prstGeom>
        </p:spPr>
      </p:pic>
      <p:cxnSp>
        <p:nvCxnSpPr>
          <p:cNvPr id="13" name="Straight Connector 12"/>
          <p:cNvCxnSpPr/>
          <p:nvPr userDrawn="1"/>
        </p:nvCxnSpPr>
        <p:spPr>
          <a:xfrm>
            <a:off x="0" y="687122"/>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9441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457950" y="6356353"/>
            <a:ext cx="2057400" cy="365125"/>
          </a:xfrm>
          <a:prstGeom prst="rect">
            <a:avLst/>
          </a:prstGeom>
        </p:spPr>
        <p:txBody>
          <a:bodyPr/>
          <a:lstStyle>
            <a:lvl1pPr>
              <a:defRPr>
                <a:solidFill>
                  <a:schemeClr val="bg1"/>
                </a:solidFill>
              </a:defRPr>
            </a:lvl1pPr>
          </a:lstStyle>
          <a:p>
            <a:fld id="{00FE92D9-49B6-4249-9D63-816AD03F2FB2}" type="slidenum">
              <a:rPr lang="en-US" smtClean="0"/>
              <a:pPr/>
              <a:t>‹#›</a:t>
            </a:fld>
            <a:endParaRPr lang="en-US" dirty="0"/>
          </a:p>
        </p:txBody>
      </p:sp>
      <p:sp>
        <p:nvSpPr>
          <p:cNvPr id="8" name="Rectangle: Rounded Corners 7">
            <a:extLst>
              <a:ext uri="{FF2B5EF4-FFF2-40B4-BE49-F238E27FC236}">
                <a16:creationId xmlns:a16="http://schemas.microsoft.com/office/drawing/2014/main" id="{15D60CAE-373A-42C3-988A-B0FB40BFB287}"/>
              </a:ext>
            </a:extLst>
          </p:cNvPr>
          <p:cNvSpPr/>
          <p:nvPr userDrawn="1"/>
        </p:nvSpPr>
        <p:spPr>
          <a:xfrm>
            <a:off x="-88627" y="347472"/>
            <a:ext cx="177253" cy="66751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62"/>
          </a:p>
        </p:txBody>
      </p:sp>
      <p:sp>
        <p:nvSpPr>
          <p:cNvPr id="10" name="Text Placeholder 9">
            <a:extLst>
              <a:ext uri="{FF2B5EF4-FFF2-40B4-BE49-F238E27FC236}">
                <a16:creationId xmlns:a16="http://schemas.microsoft.com/office/drawing/2014/main" id="{15BB2291-3957-4967-B057-65A765296FCE}"/>
              </a:ext>
            </a:extLst>
          </p:cNvPr>
          <p:cNvSpPr>
            <a:spLocks noGrp="1"/>
          </p:cNvSpPr>
          <p:nvPr>
            <p:ph type="body" sz="quarter" idx="13" hasCustomPrompt="1"/>
          </p:nvPr>
        </p:nvSpPr>
        <p:spPr>
          <a:xfrm>
            <a:off x="244721" y="347663"/>
            <a:ext cx="8651631" cy="666750"/>
          </a:xfrm>
          <a:prstGeom prst="rect">
            <a:avLst/>
          </a:prstGeom>
        </p:spPr>
        <p:txBody>
          <a:bodyPr anchor="ctr"/>
          <a:lstStyle>
            <a:lvl1pPr>
              <a:buNone/>
              <a:defRPr>
                <a:solidFill>
                  <a:schemeClr val="accent4"/>
                </a:solidFill>
                <a:latin typeface="Century Gothic" panose="020B0502020202020204" pitchFamily="34" charset="0"/>
              </a:defRPr>
            </a:lvl1pPr>
            <a:lvl2pPr>
              <a:buNone/>
              <a:defRPr>
                <a:latin typeface="Century Gothic" panose="020B0502020202020204" pitchFamily="34" charset="0"/>
              </a:defRPr>
            </a:lvl2pPr>
            <a:lvl3pPr>
              <a:buNone/>
              <a:defRPr>
                <a:latin typeface="Century Gothic" panose="020B0502020202020204" pitchFamily="34" charset="0"/>
              </a:defRPr>
            </a:lvl3pPr>
            <a:lvl4pPr>
              <a:buNone/>
              <a:defRPr>
                <a:latin typeface="Century Gothic" panose="020B0502020202020204" pitchFamily="34" charset="0"/>
              </a:defRPr>
            </a:lvl4pPr>
            <a:lvl5pPr>
              <a:buNone/>
              <a:defRPr>
                <a:latin typeface="Century Gothic" panose="020B0502020202020204" pitchFamily="34" charset="0"/>
              </a:defRPr>
            </a:lvl5pPr>
          </a:lstStyle>
          <a:p>
            <a:pPr lvl="0"/>
            <a:r>
              <a:rPr lang="en-US" dirty="0"/>
              <a:t>CLICK TO EDIT MASTER TEXT STYLES</a:t>
            </a:r>
          </a:p>
        </p:txBody>
      </p:sp>
      <p:sp>
        <p:nvSpPr>
          <p:cNvPr id="3" name="Text Placeholder 2">
            <a:extLst>
              <a:ext uri="{FF2B5EF4-FFF2-40B4-BE49-F238E27FC236}">
                <a16:creationId xmlns:a16="http://schemas.microsoft.com/office/drawing/2014/main" id="{C448F67E-2DAE-4EB0-BB84-D939EDB55CA9}"/>
              </a:ext>
            </a:extLst>
          </p:cNvPr>
          <p:cNvSpPr>
            <a:spLocks noGrp="1"/>
          </p:cNvSpPr>
          <p:nvPr>
            <p:ph type="body" sz="quarter" idx="14"/>
          </p:nvPr>
        </p:nvSpPr>
        <p:spPr>
          <a:xfrm>
            <a:off x="244721" y="1225553"/>
            <a:ext cx="8651631" cy="4691063"/>
          </a:xfrm>
          <a:prstGeom prst="rect">
            <a:avLst/>
          </a:prstGeom>
        </p:spPr>
        <p:txBody>
          <a:bodyPr/>
          <a:lstStyle>
            <a:lvl1pPr>
              <a:buNone/>
              <a:defRPr sz="1477">
                <a:solidFill>
                  <a:schemeClr val="accent6">
                    <a:lumMod val="75000"/>
                  </a:schemeClr>
                </a:solidFill>
                <a:latin typeface="Century Gothic" panose="020B0502020202020204" pitchFamily="34" charset="0"/>
              </a:defRPr>
            </a:lvl1pPr>
            <a:lvl2pPr>
              <a:buNone/>
              <a:defRPr sz="1477">
                <a:solidFill>
                  <a:schemeClr val="accent6">
                    <a:lumMod val="75000"/>
                  </a:schemeClr>
                </a:solidFill>
                <a:latin typeface="Century Gothic" panose="020B0502020202020204" pitchFamily="34" charset="0"/>
              </a:defRPr>
            </a:lvl2pPr>
            <a:lvl3pPr>
              <a:buNone/>
              <a:defRPr sz="1477">
                <a:solidFill>
                  <a:schemeClr val="accent6">
                    <a:lumMod val="75000"/>
                  </a:schemeClr>
                </a:solidFill>
                <a:latin typeface="Century Gothic" panose="020B0502020202020204" pitchFamily="34" charset="0"/>
              </a:defRPr>
            </a:lvl3pPr>
            <a:lvl4pPr>
              <a:buNone/>
              <a:defRPr sz="1477">
                <a:solidFill>
                  <a:schemeClr val="accent6">
                    <a:lumMod val="75000"/>
                  </a:schemeClr>
                </a:solidFill>
                <a:latin typeface="Century Gothic" panose="020B0502020202020204" pitchFamily="34" charset="0"/>
              </a:defRPr>
            </a:lvl4pPr>
            <a:lvl5pPr>
              <a:buNone/>
              <a:defRPr sz="1477">
                <a:solidFill>
                  <a:schemeClr val="accent6">
                    <a:lumMod val="75000"/>
                  </a:schemeClr>
                </a:solidFill>
                <a:latin typeface="Century Gothic" panose="020B0502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655639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_Contents slide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310CAF-B32B-4D94-8AD8-4DF8C6F239C0}"/>
              </a:ext>
            </a:extLst>
          </p:cNvPr>
          <p:cNvPicPr>
            <a:picLocks noChangeAspect="1"/>
          </p:cNvPicPr>
          <p:nvPr userDrawn="1"/>
        </p:nvPicPr>
        <p:blipFill rotWithShape="1">
          <a:blip r:embed="rId2"/>
          <a:srcRect l="73222" t="22131" r="16727" b="73195"/>
          <a:stretch/>
        </p:blipFill>
        <p:spPr>
          <a:xfrm>
            <a:off x="7947233" y="29564"/>
            <a:ext cx="1159496" cy="404338"/>
          </a:xfrm>
          <a:prstGeom prst="rect">
            <a:avLst/>
          </a:prstGeom>
        </p:spPr>
      </p:pic>
      <p:sp>
        <p:nvSpPr>
          <p:cNvPr id="3" name="Title Placeholder 1">
            <a:extLst>
              <a:ext uri="{FF2B5EF4-FFF2-40B4-BE49-F238E27FC236}">
                <a16:creationId xmlns:a16="http://schemas.microsoft.com/office/drawing/2014/main" id="{3AD6F7C3-7DB0-4A24-A5F0-DFA4AF53D050}"/>
              </a:ext>
            </a:extLst>
          </p:cNvPr>
          <p:cNvSpPr>
            <a:spLocks noGrp="1"/>
          </p:cNvSpPr>
          <p:nvPr>
            <p:ph type="title" hasCustomPrompt="1"/>
          </p:nvPr>
        </p:nvSpPr>
        <p:spPr>
          <a:xfrm>
            <a:off x="229639" y="142639"/>
            <a:ext cx="7318583" cy="582526"/>
          </a:xfrm>
          <a:prstGeom prst="rect">
            <a:avLst/>
          </a:prstGeom>
        </p:spPr>
        <p:txBody>
          <a:bodyPr vert="horz" lIns="91440" tIns="45720" rIns="91440" bIns="45720" rtlCol="0" anchor="ctr">
            <a:normAutofit/>
          </a:bodyPr>
          <a:lstStyle>
            <a:lvl1pPr marL="0" algn="l" defTabSz="685800" rtl="0" eaLnBrk="1" latinLnBrk="0" hangingPunct="1">
              <a:defRPr lang="en-US" sz="2400" b="1" kern="1200" dirty="0">
                <a:solidFill>
                  <a:schemeClr val="tx1">
                    <a:lumMod val="65000"/>
                    <a:lumOff val="35000"/>
                  </a:schemeClr>
                </a:solidFill>
                <a:latin typeface="Calibri" panose="020F0502020204030204" pitchFamily="34" charset="0"/>
                <a:ea typeface="+mn-ea"/>
                <a:cs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2448646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F8B7A-C8BF-594F-9230-401E9062247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156E0421-848F-7C4A-9992-9C48876E2FA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4DF6801-4C08-9A42-BF21-BA1AABC2BEE0}"/>
              </a:ext>
            </a:extLst>
          </p:cNvPr>
          <p:cNvSpPr>
            <a:spLocks noGrp="1"/>
          </p:cNvSpPr>
          <p:nvPr>
            <p:ph type="dt" sz="half" idx="10"/>
          </p:nvPr>
        </p:nvSpPr>
        <p:spPr/>
        <p:txBody>
          <a:bodyPr/>
          <a:lstStyle/>
          <a:p>
            <a:fld id="{A353823A-DC9D-264F-98B3-3429F33385EB}" type="datetimeFigureOut">
              <a:rPr lang="en-US" smtClean="0"/>
              <a:t>27/03/2023</a:t>
            </a:fld>
            <a:endParaRPr lang="en-US"/>
          </a:p>
        </p:txBody>
      </p:sp>
      <p:sp>
        <p:nvSpPr>
          <p:cNvPr id="5" name="Footer Placeholder 4">
            <a:extLst>
              <a:ext uri="{FF2B5EF4-FFF2-40B4-BE49-F238E27FC236}">
                <a16:creationId xmlns:a16="http://schemas.microsoft.com/office/drawing/2014/main" id="{9D379466-844F-DB43-B29A-5AEB5854FB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919BC9-1CF5-064C-8E3B-26A84EE0E205}"/>
              </a:ext>
            </a:extLst>
          </p:cNvPr>
          <p:cNvSpPr>
            <a:spLocks noGrp="1"/>
          </p:cNvSpPr>
          <p:nvPr>
            <p:ph type="sldNum" sz="quarter" idx="12"/>
          </p:nvPr>
        </p:nvSpPr>
        <p:spPr/>
        <p:txBody>
          <a:bodyPr/>
          <a:lstStyle/>
          <a:p>
            <a:fld id="{2E20A959-EC38-6F45-B802-D41C9867F655}" type="slidenum">
              <a:rPr lang="en-US" smtClean="0"/>
              <a:t>‹#›</a:t>
            </a:fld>
            <a:endParaRPr lang="en-US"/>
          </a:p>
        </p:txBody>
      </p:sp>
    </p:spTree>
    <p:extLst>
      <p:ext uri="{BB962C8B-B14F-4D97-AF65-F5344CB8AC3E}">
        <p14:creationId xmlns:p14="http://schemas.microsoft.com/office/powerpoint/2010/main" val="3243437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94B1-459F-E649-9FCE-F527CC3FC8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27AD5A-B6DB-E648-9FE1-32538632FB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F57F62-C2EE-9C47-937C-F3104B946D18}"/>
              </a:ext>
            </a:extLst>
          </p:cNvPr>
          <p:cNvSpPr>
            <a:spLocks noGrp="1"/>
          </p:cNvSpPr>
          <p:nvPr>
            <p:ph type="dt" sz="half" idx="10"/>
          </p:nvPr>
        </p:nvSpPr>
        <p:spPr/>
        <p:txBody>
          <a:bodyPr/>
          <a:lstStyle/>
          <a:p>
            <a:fld id="{A353823A-DC9D-264F-98B3-3429F33385EB}" type="datetimeFigureOut">
              <a:rPr lang="en-US" smtClean="0"/>
              <a:t>27/03/2023</a:t>
            </a:fld>
            <a:endParaRPr lang="en-US"/>
          </a:p>
        </p:txBody>
      </p:sp>
      <p:sp>
        <p:nvSpPr>
          <p:cNvPr id="5" name="Footer Placeholder 4">
            <a:extLst>
              <a:ext uri="{FF2B5EF4-FFF2-40B4-BE49-F238E27FC236}">
                <a16:creationId xmlns:a16="http://schemas.microsoft.com/office/drawing/2014/main" id="{DB7D3B21-D92C-3A41-9927-98DEE6357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74EACB-12D8-2A40-9401-90ABF1925DDE}"/>
              </a:ext>
            </a:extLst>
          </p:cNvPr>
          <p:cNvSpPr>
            <a:spLocks noGrp="1"/>
          </p:cNvSpPr>
          <p:nvPr>
            <p:ph type="sldNum" sz="quarter" idx="12"/>
          </p:nvPr>
        </p:nvSpPr>
        <p:spPr/>
        <p:txBody>
          <a:bodyPr/>
          <a:lstStyle/>
          <a:p>
            <a:fld id="{2E20A959-EC38-6F45-B802-D41C9867F655}" type="slidenum">
              <a:rPr lang="en-US" smtClean="0"/>
              <a:t>‹#›</a:t>
            </a:fld>
            <a:endParaRPr lang="en-US"/>
          </a:p>
        </p:txBody>
      </p:sp>
    </p:spTree>
    <p:extLst>
      <p:ext uri="{BB962C8B-B14F-4D97-AF65-F5344CB8AC3E}">
        <p14:creationId xmlns:p14="http://schemas.microsoft.com/office/powerpoint/2010/main" val="308150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F33F7-E530-C941-8F03-1F0256014D9C}"/>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EB8EBE3-7E35-4947-99CB-ECF6BC851090}"/>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087C24-6C83-7543-873A-9E44A61EAF1B}"/>
              </a:ext>
            </a:extLst>
          </p:cNvPr>
          <p:cNvSpPr>
            <a:spLocks noGrp="1"/>
          </p:cNvSpPr>
          <p:nvPr>
            <p:ph type="dt" sz="half" idx="10"/>
          </p:nvPr>
        </p:nvSpPr>
        <p:spPr/>
        <p:txBody>
          <a:bodyPr/>
          <a:lstStyle/>
          <a:p>
            <a:fld id="{A353823A-DC9D-264F-98B3-3429F33385EB}" type="datetimeFigureOut">
              <a:rPr lang="en-US" smtClean="0"/>
              <a:t>27/03/2023</a:t>
            </a:fld>
            <a:endParaRPr lang="en-US"/>
          </a:p>
        </p:txBody>
      </p:sp>
      <p:sp>
        <p:nvSpPr>
          <p:cNvPr id="5" name="Footer Placeholder 4">
            <a:extLst>
              <a:ext uri="{FF2B5EF4-FFF2-40B4-BE49-F238E27FC236}">
                <a16:creationId xmlns:a16="http://schemas.microsoft.com/office/drawing/2014/main" id="{9003DEA8-97A3-364F-8C80-0D56DC4B46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58622E-FC0B-E748-B47E-971EB7600EBF}"/>
              </a:ext>
            </a:extLst>
          </p:cNvPr>
          <p:cNvSpPr>
            <a:spLocks noGrp="1"/>
          </p:cNvSpPr>
          <p:nvPr>
            <p:ph type="sldNum" sz="quarter" idx="12"/>
          </p:nvPr>
        </p:nvSpPr>
        <p:spPr/>
        <p:txBody>
          <a:bodyPr/>
          <a:lstStyle/>
          <a:p>
            <a:fld id="{2E20A959-EC38-6F45-B802-D41C9867F655}" type="slidenum">
              <a:rPr lang="en-US" smtClean="0"/>
              <a:t>‹#›</a:t>
            </a:fld>
            <a:endParaRPr lang="en-US"/>
          </a:p>
        </p:txBody>
      </p:sp>
    </p:spTree>
    <p:extLst>
      <p:ext uri="{BB962C8B-B14F-4D97-AF65-F5344CB8AC3E}">
        <p14:creationId xmlns:p14="http://schemas.microsoft.com/office/powerpoint/2010/main" val="105896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E947A-BCE7-8448-9DA8-705F199BD4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FBFC09-7EF8-414A-BDFB-7BD8740BC7C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F39561-4C16-C247-9450-A9B79919603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1D54D7-FA35-D844-BF78-02E52E756A89}"/>
              </a:ext>
            </a:extLst>
          </p:cNvPr>
          <p:cNvSpPr>
            <a:spLocks noGrp="1"/>
          </p:cNvSpPr>
          <p:nvPr>
            <p:ph type="dt" sz="half" idx="10"/>
          </p:nvPr>
        </p:nvSpPr>
        <p:spPr/>
        <p:txBody>
          <a:bodyPr/>
          <a:lstStyle/>
          <a:p>
            <a:fld id="{A353823A-DC9D-264F-98B3-3429F33385EB}" type="datetimeFigureOut">
              <a:rPr lang="en-US" smtClean="0"/>
              <a:t>27/03/2023</a:t>
            </a:fld>
            <a:endParaRPr lang="en-US"/>
          </a:p>
        </p:txBody>
      </p:sp>
      <p:sp>
        <p:nvSpPr>
          <p:cNvPr id="6" name="Footer Placeholder 5">
            <a:extLst>
              <a:ext uri="{FF2B5EF4-FFF2-40B4-BE49-F238E27FC236}">
                <a16:creationId xmlns:a16="http://schemas.microsoft.com/office/drawing/2014/main" id="{0D786D49-41EE-1D42-922B-CBA669FB9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D600E4-95F4-F140-9301-4EB6E863A876}"/>
              </a:ext>
            </a:extLst>
          </p:cNvPr>
          <p:cNvSpPr>
            <a:spLocks noGrp="1"/>
          </p:cNvSpPr>
          <p:nvPr>
            <p:ph type="sldNum" sz="quarter" idx="12"/>
          </p:nvPr>
        </p:nvSpPr>
        <p:spPr/>
        <p:txBody>
          <a:bodyPr/>
          <a:lstStyle/>
          <a:p>
            <a:fld id="{2E20A959-EC38-6F45-B802-D41C9867F655}" type="slidenum">
              <a:rPr lang="en-US" smtClean="0"/>
              <a:t>‹#›</a:t>
            </a:fld>
            <a:endParaRPr lang="en-US"/>
          </a:p>
        </p:txBody>
      </p:sp>
    </p:spTree>
    <p:extLst>
      <p:ext uri="{BB962C8B-B14F-4D97-AF65-F5344CB8AC3E}">
        <p14:creationId xmlns:p14="http://schemas.microsoft.com/office/powerpoint/2010/main" val="3042534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85DE3-01A0-0E4B-8CBB-F5FCBFFAA700}"/>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9C9D27-7E7A-7645-8697-0CA1FC8DECC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33D9FE1-1411-854E-8420-8DA95FBC6E5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05E4B9-0EA4-A04A-B8D5-FF8C4870950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BE7074F-B9F8-4948-B5F9-4B9B51524C6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FC2385-49A9-4C4A-B523-4887E37567A0}"/>
              </a:ext>
            </a:extLst>
          </p:cNvPr>
          <p:cNvSpPr>
            <a:spLocks noGrp="1"/>
          </p:cNvSpPr>
          <p:nvPr>
            <p:ph type="dt" sz="half" idx="10"/>
          </p:nvPr>
        </p:nvSpPr>
        <p:spPr/>
        <p:txBody>
          <a:bodyPr/>
          <a:lstStyle/>
          <a:p>
            <a:fld id="{A353823A-DC9D-264F-98B3-3429F33385EB}" type="datetimeFigureOut">
              <a:rPr lang="en-US" smtClean="0"/>
              <a:t>27/03/2023</a:t>
            </a:fld>
            <a:endParaRPr lang="en-US"/>
          </a:p>
        </p:txBody>
      </p:sp>
      <p:sp>
        <p:nvSpPr>
          <p:cNvPr id="8" name="Footer Placeholder 7">
            <a:extLst>
              <a:ext uri="{FF2B5EF4-FFF2-40B4-BE49-F238E27FC236}">
                <a16:creationId xmlns:a16="http://schemas.microsoft.com/office/drawing/2014/main" id="{591030EC-B636-6E48-A711-556C053D11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9645D6-7320-2244-95B3-DD38E2F35930}"/>
              </a:ext>
            </a:extLst>
          </p:cNvPr>
          <p:cNvSpPr>
            <a:spLocks noGrp="1"/>
          </p:cNvSpPr>
          <p:nvPr>
            <p:ph type="sldNum" sz="quarter" idx="12"/>
          </p:nvPr>
        </p:nvSpPr>
        <p:spPr/>
        <p:txBody>
          <a:bodyPr/>
          <a:lstStyle/>
          <a:p>
            <a:fld id="{2E20A959-EC38-6F45-B802-D41C9867F655}" type="slidenum">
              <a:rPr lang="en-US" smtClean="0"/>
              <a:t>‹#›</a:t>
            </a:fld>
            <a:endParaRPr lang="en-US"/>
          </a:p>
        </p:txBody>
      </p:sp>
    </p:spTree>
    <p:extLst>
      <p:ext uri="{BB962C8B-B14F-4D97-AF65-F5344CB8AC3E}">
        <p14:creationId xmlns:p14="http://schemas.microsoft.com/office/powerpoint/2010/main" val="800324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D6A9F-47CE-B84F-AD11-A8BA75E7B7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CD12D3-F74F-8D47-A1DF-41477C80C191}"/>
              </a:ext>
            </a:extLst>
          </p:cNvPr>
          <p:cNvSpPr>
            <a:spLocks noGrp="1"/>
          </p:cNvSpPr>
          <p:nvPr>
            <p:ph type="dt" sz="half" idx="10"/>
          </p:nvPr>
        </p:nvSpPr>
        <p:spPr/>
        <p:txBody>
          <a:bodyPr/>
          <a:lstStyle/>
          <a:p>
            <a:fld id="{A353823A-DC9D-264F-98B3-3429F33385EB}" type="datetimeFigureOut">
              <a:rPr lang="en-US" smtClean="0"/>
              <a:t>27/03/2023</a:t>
            </a:fld>
            <a:endParaRPr lang="en-US"/>
          </a:p>
        </p:txBody>
      </p:sp>
      <p:sp>
        <p:nvSpPr>
          <p:cNvPr id="4" name="Footer Placeholder 3">
            <a:extLst>
              <a:ext uri="{FF2B5EF4-FFF2-40B4-BE49-F238E27FC236}">
                <a16:creationId xmlns:a16="http://schemas.microsoft.com/office/drawing/2014/main" id="{7B655DEC-7C6D-6947-9645-E84E95099F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A10C2C-0F64-F847-B999-99CC69D5E3F1}"/>
              </a:ext>
            </a:extLst>
          </p:cNvPr>
          <p:cNvSpPr>
            <a:spLocks noGrp="1"/>
          </p:cNvSpPr>
          <p:nvPr>
            <p:ph type="sldNum" sz="quarter" idx="12"/>
          </p:nvPr>
        </p:nvSpPr>
        <p:spPr/>
        <p:txBody>
          <a:bodyPr/>
          <a:lstStyle/>
          <a:p>
            <a:fld id="{2E20A959-EC38-6F45-B802-D41C9867F655}" type="slidenum">
              <a:rPr lang="en-US" smtClean="0"/>
              <a:t>‹#›</a:t>
            </a:fld>
            <a:endParaRPr lang="en-US"/>
          </a:p>
        </p:txBody>
      </p:sp>
    </p:spTree>
    <p:extLst>
      <p:ext uri="{BB962C8B-B14F-4D97-AF65-F5344CB8AC3E}">
        <p14:creationId xmlns:p14="http://schemas.microsoft.com/office/powerpoint/2010/main" val="1290980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76E711-FB02-7E43-9438-4C6FF2B278C3}"/>
              </a:ext>
            </a:extLst>
          </p:cNvPr>
          <p:cNvSpPr>
            <a:spLocks noGrp="1"/>
          </p:cNvSpPr>
          <p:nvPr>
            <p:ph type="dt" sz="half" idx="10"/>
          </p:nvPr>
        </p:nvSpPr>
        <p:spPr/>
        <p:txBody>
          <a:bodyPr/>
          <a:lstStyle/>
          <a:p>
            <a:fld id="{A353823A-DC9D-264F-98B3-3429F33385EB}" type="datetimeFigureOut">
              <a:rPr lang="en-US" smtClean="0"/>
              <a:t>27/03/2023</a:t>
            </a:fld>
            <a:endParaRPr lang="en-US"/>
          </a:p>
        </p:txBody>
      </p:sp>
      <p:sp>
        <p:nvSpPr>
          <p:cNvPr id="3" name="Footer Placeholder 2">
            <a:extLst>
              <a:ext uri="{FF2B5EF4-FFF2-40B4-BE49-F238E27FC236}">
                <a16:creationId xmlns:a16="http://schemas.microsoft.com/office/drawing/2014/main" id="{FE09D291-300A-7B44-80AB-1750D78385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E164D3-54A3-504D-AFE3-1FFE183559DF}"/>
              </a:ext>
            </a:extLst>
          </p:cNvPr>
          <p:cNvSpPr>
            <a:spLocks noGrp="1"/>
          </p:cNvSpPr>
          <p:nvPr>
            <p:ph type="sldNum" sz="quarter" idx="12"/>
          </p:nvPr>
        </p:nvSpPr>
        <p:spPr/>
        <p:txBody>
          <a:bodyPr/>
          <a:lstStyle/>
          <a:p>
            <a:fld id="{2E20A959-EC38-6F45-B802-D41C9867F655}" type="slidenum">
              <a:rPr lang="en-US" smtClean="0"/>
              <a:t>‹#›</a:t>
            </a:fld>
            <a:endParaRPr lang="en-US"/>
          </a:p>
        </p:txBody>
      </p:sp>
    </p:spTree>
    <p:extLst>
      <p:ext uri="{BB962C8B-B14F-4D97-AF65-F5344CB8AC3E}">
        <p14:creationId xmlns:p14="http://schemas.microsoft.com/office/powerpoint/2010/main" val="30050837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D7081-96ED-5D48-8926-CB4BD5F0655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532A4A1-806F-284F-976E-26D45BE20B3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CA691D-9484-1B4B-8592-16AE94A9DBB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D1C11DD-263D-D746-9D54-0B25A88A6F47}"/>
              </a:ext>
            </a:extLst>
          </p:cNvPr>
          <p:cNvSpPr>
            <a:spLocks noGrp="1"/>
          </p:cNvSpPr>
          <p:nvPr>
            <p:ph type="dt" sz="half" idx="10"/>
          </p:nvPr>
        </p:nvSpPr>
        <p:spPr/>
        <p:txBody>
          <a:bodyPr/>
          <a:lstStyle/>
          <a:p>
            <a:fld id="{A353823A-DC9D-264F-98B3-3429F33385EB}" type="datetimeFigureOut">
              <a:rPr lang="en-US" smtClean="0"/>
              <a:t>27/03/2023</a:t>
            </a:fld>
            <a:endParaRPr lang="en-US"/>
          </a:p>
        </p:txBody>
      </p:sp>
      <p:sp>
        <p:nvSpPr>
          <p:cNvPr id="6" name="Footer Placeholder 5">
            <a:extLst>
              <a:ext uri="{FF2B5EF4-FFF2-40B4-BE49-F238E27FC236}">
                <a16:creationId xmlns:a16="http://schemas.microsoft.com/office/drawing/2014/main" id="{E5BA3A28-3B72-344C-9940-1478522054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48B996-B240-0D4F-9A78-2C33E597FB7F}"/>
              </a:ext>
            </a:extLst>
          </p:cNvPr>
          <p:cNvSpPr>
            <a:spLocks noGrp="1"/>
          </p:cNvSpPr>
          <p:nvPr>
            <p:ph type="sldNum" sz="quarter" idx="12"/>
          </p:nvPr>
        </p:nvSpPr>
        <p:spPr/>
        <p:txBody>
          <a:bodyPr/>
          <a:lstStyle/>
          <a:p>
            <a:fld id="{2E20A959-EC38-6F45-B802-D41C9867F655}" type="slidenum">
              <a:rPr lang="en-US" smtClean="0"/>
              <a:t>‹#›</a:t>
            </a:fld>
            <a:endParaRPr lang="en-US"/>
          </a:p>
        </p:txBody>
      </p:sp>
    </p:spTree>
    <p:extLst>
      <p:ext uri="{BB962C8B-B14F-4D97-AF65-F5344CB8AC3E}">
        <p14:creationId xmlns:p14="http://schemas.microsoft.com/office/powerpoint/2010/main" val="472673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0F9CC-4C36-A449-B487-5F9B5AFBF14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06107866-2834-6046-9303-CBFF4AED501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B744556F-93EB-0B46-BD4A-7BC80194D1C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FB3890A-7E37-CE4A-9FBC-3371A78E7E3B}"/>
              </a:ext>
            </a:extLst>
          </p:cNvPr>
          <p:cNvSpPr>
            <a:spLocks noGrp="1"/>
          </p:cNvSpPr>
          <p:nvPr>
            <p:ph type="dt" sz="half" idx="10"/>
          </p:nvPr>
        </p:nvSpPr>
        <p:spPr/>
        <p:txBody>
          <a:bodyPr/>
          <a:lstStyle/>
          <a:p>
            <a:fld id="{A353823A-DC9D-264F-98B3-3429F33385EB}" type="datetimeFigureOut">
              <a:rPr lang="en-US" smtClean="0"/>
              <a:t>27/03/2023</a:t>
            </a:fld>
            <a:endParaRPr lang="en-US"/>
          </a:p>
        </p:txBody>
      </p:sp>
      <p:sp>
        <p:nvSpPr>
          <p:cNvPr id="6" name="Footer Placeholder 5">
            <a:extLst>
              <a:ext uri="{FF2B5EF4-FFF2-40B4-BE49-F238E27FC236}">
                <a16:creationId xmlns:a16="http://schemas.microsoft.com/office/drawing/2014/main" id="{7000C362-5AAA-2D4F-88A1-F5F70FE80A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B59B9D-6D0F-2743-8BAF-9AA4073DBAB7}"/>
              </a:ext>
            </a:extLst>
          </p:cNvPr>
          <p:cNvSpPr>
            <a:spLocks noGrp="1"/>
          </p:cNvSpPr>
          <p:nvPr>
            <p:ph type="sldNum" sz="quarter" idx="12"/>
          </p:nvPr>
        </p:nvSpPr>
        <p:spPr/>
        <p:txBody>
          <a:bodyPr/>
          <a:lstStyle/>
          <a:p>
            <a:fld id="{2E20A959-EC38-6F45-B802-D41C9867F655}" type="slidenum">
              <a:rPr lang="en-US" smtClean="0"/>
              <a:t>‹#›</a:t>
            </a:fld>
            <a:endParaRPr lang="en-US"/>
          </a:p>
        </p:txBody>
      </p:sp>
    </p:spTree>
    <p:extLst>
      <p:ext uri="{BB962C8B-B14F-4D97-AF65-F5344CB8AC3E}">
        <p14:creationId xmlns:p14="http://schemas.microsoft.com/office/powerpoint/2010/main" val="12769897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21BEF-D680-9B45-8F3E-7C6C75DBA4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9D4AC0-C70E-C145-97ED-B6B475A5EF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DA9E34-DB76-AE4C-BFBF-CF0817B06142}"/>
              </a:ext>
            </a:extLst>
          </p:cNvPr>
          <p:cNvSpPr>
            <a:spLocks noGrp="1"/>
          </p:cNvSpPr>
          <p:nvPr>
            <p:ph type="dt" sz="half" idx="10"/>
          </p:nvPr>
        </p:nvSpPr>
        <p:spPr/>
        <p:txBody>
          <a:bodyPr/>
          <a:lstStyle/>
          <a:p>
            <a:fld id="{A353823A-DC9D-264F-98B3-3429F33385EB}" type="datetimeFigureOut">
              <a:rPr lang="en-US" smtClean="0"/>
              <a:t>27/03/2023</a:t>
            </a:fld>
            <a:endParaRPr lang="en-US"/>
          </a:p>
        </p:txBody>
      </p:sp>
      <p:sp>
        <p:nvSpPr>
          <p:cNvPr id="5" name="Footer Placeholder 4">
            <a:extLst>
              <a:ext uri="{FF2B5EF4-FFF2-40B4-BE49-F238E27FC236}">
                <a16:creationId xmlns:a16="http://schemas.microsoft.com/office/drawing/2014/main" id="{DCADD18F-C876-384E-BB3D-6378674223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67BFF4-5B9B-3C42-BCA5-518BD6F5B41E}"/>
              </a:ext>
            </a:extLst>
          </p:cNvPr>
          <p:cNvSpPr>
            <a:spLocks noGrp="1"/>
          </p:cNvSpPr>
          <p:nvPr>
            <p:ph type="sldNum" sz="quarter" idx="12"/>
          </p:nvPr>
        </p:nvSpPr>
        <p:spPr/>
        <p:txBody>
          <a:bodyPr/>
          <a:lstStyle/>
          <a:p>
            <a:fld id="{2E20A959-EC38-6F45-B802-D41C9867F655}" type="slidenum">
              <a:rPr lang="en-US" smtClean="0"/>
              <a:t>‹#›</a:t>
            </a:fld>
            <a:endParaRPr lang="en-US"/>
          </a:p>
        </p:txBody>
      </p:sp>
    </p:spTree>
    <p:extLst>
      <p:ext uri="{BB962C8B-B14F-4D97-AF65-F5344CB8AC3E}">
        <p14:creationId xmlns:p14="http://schemas.microsoft.com/office/powerpoint/2010/main" val="38077916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553988-5C8E-5F45-9FCA-F0676E097E3B}"/>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3C1970-1AA5-7542-B1B4-2C2DA1FA429D}"/>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147BA6-C4D6-C040-AA96-23B7AFB8918D}"/>
              </a:ext>
            </a:extLst>
          </p:cNvPr>
          <p:cNvSpPr>
            <a:spLocks noGrp="1"/>
          </p:cNvSpPr>
          <p:nvPr>
            <p:ph type="dt" sz="half" idx="10"/>
          </p:nvPr>
        </p:nvSpPr>
        <p:spPr/>
        <p:txBody>
          <a:bodyPr/>
          <a:lstStyle/>
          <a:p>
            <a:fld id="{A353823A-DC9D-264F-98B3-3429F33385EB}" type="datetimeFigureOut">
              <a:rPr lang="en-US" smtClean="0"/>
              <a:t>27/03/2023</a:t>
            </a:fld>
            <a:endParaRPr lang="en-US"/>
          </a:p>
        </p:txBody>
      </p:sp>
      <p:sp>
        <p:nvSpPr>
          <p:cNvPr id="5" name="Footer Placeholder 4">
            <a:extLst>
              <a:ext uri="{FF2B5EF4-FFF2-40B4-BE49-F238E27FC236}">
                <a16:creationId xmlns:a16="http://schemas.microsoft.com/office/drawing/2014/main" id="{5B258521-CC63-694A-B337-BC1D38A74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9CF4DB-E42D-6046-A979-9F96A74BCCE1}"/>
              </a:ext>
            </a:extLst>
          </p:cNvPr>
          <p:cNvSpPr>
            <a:spLocks noGrp="1"/>
          </p:cNvSpPr>
          <p:nvPr>
            <p:ph type="sldNum" sz="quarter" idx="12"/>
          </p:nvPr>
        </p:nvSpPr>
        <p:spPr/>
        <p:txBody>
          <a:bodyPr/>
          <a:lstStyle/>
          <a:p>
            <a:fld id="{2E20A959-EC38-6F45-B802-D41C9867F655}" type="slidenum">
              <a:rPr lang="en-US" smtClean="0"/>
              <a:t>‹#›</a:t>
            </a:fld>
            <a:endParaRPr lang="en-US"/>
          </a:p>
        </p:txBody>
      </p:sp>
    </p:spTree>
    <p:extLst>
      <p:ext uri="{BB962C8B-B14F-4D97-AF65-F5344CB8AC3E}">
        <p14:creationId xmlns:p14="http://schemas.microsoft.com/office/powerpoint/2010/main" val="36993302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1_Contents slide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310CAF-B32B-4D94-8AD8-4DF8C6F239C0}"/>
              </a:ext>
            </a:extLst>
          </p:cNvPr>
          <p:cNvPicPr>
            <a:picLocks noChangeAspect="1"/>
          </p:cNvPicPr>
          <p:nvPr userDrawn="1"/>
        </p:nvPicPr>
        <p:blipFill rotWithShape="1">
          <a:blip r:embed="rId2"/>
          <a:srcRect l="73222" t="22131" r="16727" b="73195"/>
          <a:stretch/>
        </p:blipFill>
        <p:spPr>
          <a:xfrm>
            <a:off x="7947233" y="29564"/>
            <a:ext cx="1159496" cy="404338"/>
          </a:xfrm>
          <a:prstGeom prst="rect">
            <a:avLst/>
          </a:prstGeom>
        </p:spPr>
      </p:pic>
      <p:sp>
        <p:nvSpPr>
          <p:cNvPr id="3" name="Title Placeholder 1">
            <a:extLst>
              <a:ext uri="{FF2B5EF4-FFF2-40B4-BE49-F238E27FC236}">
                <a16:creationId xmlns:a16="http://schemas.microsoft.com/office/drawing/2014/main" id="{3AD6F7C3-7DB0-4A24-A5F0-DFA4AF53D050}"/>
              </a:ext>
            </a:extLst>
          </p:cNvPr>
          <p:cNvSpPr>
            <a:spLocks noGrp="1"/>
          </p:cNvSpPr>
          <p:nvPr>
            <p:ph type="title" hasCustomPrompt="1"/>
          </p:nvPr>
        </p:nvSpPr>
        <p:spPr>
          <a:xfrm>
            <a:off x="229639" y="142639"/>
            <a:ext cx="7318583" cy="582526"/>
          </a:xfrm>
          <a:prstGeom prst="rect">
            <a:avLst/>
          </a:prstGeom>
        </p:spPr>
        <p:txBody>
          <a:bodyPr vert="horz" lIns="91440" tIns="45720" rIns="91440" bIns="45720" rtlCol="0" anchor="ctr">
            <a:normAutofit/>
          </a:bodyPr>
          <a:lstStyle>
            <a:lvl1pPr marL="0" algn="l" defTabSz="685800" rtl="0" eaLnBrk="1" latinLnBrk="0" hangingPunct="1">
              <a:defRPr lang="en-US" sz="2400" b="1" kern="1200" dirty="0">
                <a:solidFill>
                  <a:schemeClr val="tx1">
                    <a:lumMod val="65000"/>
                    <a:lumOff val="35000"/>
                  </a:schemeClr>
                </a:solidFill>
                <a:latin typeface="Calibri" panose="020F0502020204030204" pitchFamily="34" charset="0"/>
                <a:ea typeface="+mn-ea"/>
                <a:cs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258863586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hyperlink" Target="http://www.presentationgo.com/" TargetMode="Externa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5.xml"/><Relationship Id="rId7" Type="http://schemas.openxmlformats.org/officeDocument/2006/relationships/hyperlink" Target="http://www.presentationgo.com/" TargetMode="Externa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theme" Target="../theme/theme3.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323A45"/>
            </a:gs>
            <a:gs pos="35000">
              <a:srgbClr val="323A45"/>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63482"/>
            <a:ext cx="7886700" cy="739056"/>
          </a:xfrm>
          <a:prstGeom prst="rect">
            <a:avLst/>
          </a:prstGeom>
        </p:spPr>
        <p:txBody>
          <a:bodyPr rIns="0">
            <a:normAutofit/>
          </a:bodyPr>
          <a:lstStyle/>
          <a:p>
            <a:pPr marL="0" lvl="0"/>
            <a:r>
              <a:rPr lang="en-US"/>
              <a:t>Click to edit Master title style</a:t>
            </a:r>
          </a:p>
        </p:txBody>
      </p:sp>
      <p:sp>
        <p:nvSpPr>
          <p:cNvPr id="3" name="Text Placeholder 2"/>
          <p:cNvSpPr>
            <a:spLocks noGrp="1"/>
          </p:cNvSpPr>
          <p:nvPr>
            <p:ph type="body" idx="1"/>
          </p:nvPr>
        </p:nvSpPr>
        <p:spPr>
          <a:xfrm>
            <a:off x="628650" y="1219200"/>
            <a:ext cx="7886700" cy="4957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p:cNvSpPr/>
          <p:nvPr userDrawn="1"/>
        </p:nvSpPr>
        <p:spPr>
          <a:xfrm rot="5400000">
            <a:off x="22197" y="244953"/>
            <a:ext cx="369496" cy="428177"/>
          </a:xfrm>
          <a:custGeom>
            <a:avLst/>
            <a:gdLst>
              <a:gd name="connsiteX0" fmla="*/ 210916 w 1034764"/>
              <a:gd name="connsiteY0" fmla="*/ 535701 h 1598797"/>
              <a:gd name="connsiteX1" fmla="*/ 331908 w 1034764"/>
              <a:gd name="connsiteY1" fmla="*/ 284049 h 1598797"/>
              <a:gd name="connsiteX2" fmla="*/ 741774 w 1034764"/>
              <a:gd name="connsiteY2" fmla="*/ 315409 h 1598797"/>
              <a:gd name="connsiteX3" fmla="*/ 403935 w 1034764"/>
              <a:gd name="connsiteY3" fmla="*/ 375418 h 1598797"/>
              <a:gd name="connsiteX4" fmla="*/ 266699 w 1034764"/>
              <a:gd name="connsiteY4" fmla="*/ 689905 h 1598797"/>
              <a:gd name="connsiteX5" fmla="*/ 266698 w 1034764"/>
              <a:gd name="connsiteY5" fmla="*/ 689907 h 1598797"/>
              <a:gd name="connsiteX6" fmla="*/ 210916 w 1034764"/>
              <a:gd name="connsiteY6" fmla="*/ 535701 h 1598797"/>
              <a:gd name="connsiteX7" fmla="*/ 134938 w 1034764"/>
              <a:gd name="connsiteY7" fmla="*/ 517381 h 1598797"/>
              <a:gd name="connsiteX8" fmla="*/ 517383 w 1034764"/>
              <a:gd name="connsiteY8" fmla="*/ 899826 h 1598797"/>
              <a:gd name="connsiteX9" fmla="*/ 899828 w 1034764"/>
              <a:gd name="connsiteY9" fmla="*/ 517381 h 1598797"/>
              <a:gd name="connsiteX10" fmla="*/ 517383 w 1034764"/>
              <a:gd name="connsiteY10" fmla="*/ 134936 h 1598797"/>
              <a:gd name="connsiteX11" fmla="*/ 134938 w 1034764"/>
              <a:gd name="connsiteY11" fmla="*/ 517381 h 1598797"/>
              <a:gd name="connsiteX12" fmla="*/ 0 w 1034764"/>
              <a:gd name="connsiteY12" fmla="*/ 517382 h 1598797"/>
              <a:gd name="connsiteX13" fmla="*/ 517382 w 1034764"/>
              <a:gd name="connsiteY13" fmla="*/ 0 h 1598797"/>
              <a:gd name="connsiteX14" fmla="*/ 1034764 w 1034764"/>
              <a:gd name="connsiteY14" fmla="*/ 517382 h 1598797"/>
              <a:gd name="connsiteX15" fmla="*/ 621653 w 1034764"/>
              <a:gd name="connsiteY15" fmla="*/ 1024253 h 1598797"/>
              <a:gd name="connsiteX16" fmla="*/ 620527 w 1034764"/>
              <a:gd name="connsiteY16" fmla="*/ 1024366 h 1598797"/>
              <a:gd name="connsiteX17" fmla="*/ 662992 w 1034764"/>
              <a:gd name="connsiteY17" fmla="*/ 1598797 h 1598797"/>
              <a:gd name="connsiteX18" fmla="*/ 371775 w 1034764"/>
              <a:gd name="connsiteY18" fmla="*/ 1598797 h 1598797"/>
              <a:gd name="connsiteX19" fmla="*/ 414241 w 1034764"/>
              <a:gd name="connsiteY19" fmla="*/ 1024367 h 1598797"/>
              <a:gd name="connsiteX20" fmla="*/ 413112 w 1034764"/>
              <a:gd name="connsiteY20" fmla="*/ 1024253 h 1598797"/>
              <a:gd name="connsiteX21" fmla="*/ 0 w 1034764"/>
              <a:gd name="connsiteY21" fmla="*/ 517382 h 159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34764" h="1598797">
                <a:moveTo>
                  <a:pt x="210916" y="535701"/>
                </a:moveTo>
                <a:cubicBezTo>
                  <a:pt x="207764" y="443901"/>
                  <a:pt x="249915" y="348683"/>
                  <a:pt x="331908" y="284049"/>
                </a:cubicBezTo>
                <a:cubicBezTo>
                  <a:pt x="463097" y="180634"/>
                  <a:pt x="646600" y="194675"/>
                  <a:pt x="741774" y="315409"/>
                </a:cubicBezTo>
                <a:cubicBezTo>
                  <a:pt x="631231" y="275026"/>
                  <a:pt x="502220" y="297941"/>
                  <a:pt x="403935" y="375418"/>
                </a:cubicBezTo>
                <a:cubicBezTo>
                  <a:pt x="305650" y="452895"/>
                  <a:pt x="253243" y="572989"/>
                  <a:pt x="266699" y="689905"/>
                </a:cubicBezTo>
                <a:lnTo>
                  <a:pt x="266698" y="689907"/>
                </a:lnTo>
                <a:cubicBezTo>
                  <a:pt x="231008" y="644631"/>
                  <a:pt x="212807" y="590781"/>
                  <a:pt x="210916" y="535701"/>
                </a:cubicBezTo>
                <a:close/>
                <a:moveTo>
                  <a:pt x="134938" y="517381"/>
                </a:moveTo>
                <a:cubicBezTo>
                  <a:pt x="134938" y="728600"/>
                  <a:pt x="306164" y="899826"/>
                  <a:pt x="517383" y="899826"/>
                </a:cubicBezTo>
                <a:cubicBezTo>
                  <a:pt x="728602" y="899826"/>
                  <a:pt x="899828" y="728600"/>
                  <a:pt x="899828" y="517381"/>
                </a:cubicBezTo>
                <a:cubicBezTo>
                  <a:pt x="899828" y="306162"/>
                  <a:pt x="728602" y="134936"/>
                  <a:pt x="517383" y="134936"/>
                </a:cubicBezTo>
                <a:cubicBezTo>
                  <a:pt x="306164" y="134936"/>
                  <a:pt x="134938" y="306162"/>
                  <a:pt x="134938" y="517381"/>
                </a:cubicBezTo>
                <a:close/>
                <a:moveTo>
                  <a:pt x="0" y="517382"/>
                </a:moveTo>
                <a:cubicBezTo>
                  <a:pt x="0" y="231640"/>
                  <a:pt x="231640" y="0"/>
                  <a:pt x="517382" y="0"/>
                </a:cubicBezTo>
                <a:cubicBezTo>
                  <a:pt x="803124" y="0"/>
                  <a:pt x="1034764" y="231640"/>
                  <a:pt x="1034764" y="517382"/>
                </a:cubicBezTo>
                <a:cubicBezTo>
                  <a:pt x="1034764" y="767406"/>
                  <a:pt x="857415" y="976008"/>
                  <a:pt x="621653" y="1024253"/>
                </a:cubicBezTo>
                <a:lnTo>
                  <a:pt x="620527" y="1024366"/>
                </a:lnTo>
                <a:lnTo>
                  <a:pt x="662992" y="1598797"/>
                </a:lnTo>
                <a:lnTo>
                  <a:pt x="371775" y="1598797"/>
                </a:lnTo>
                <a:lnTo>
                  <a:pt x="414241" y="1024367"/>
                </a:lnTo>
                <a:lnTo>
                  <a:pt x="413112" y="1024253"/>
                </a:lnTo>
                <a:cubicBezTo>
                  <a:pt x="177349" y="976008"/>
                  <a:pt x="0" y="767406"/>
                  <a:pt x="0" y="517382"/>
                </a:cubicBezTo>
                <a:close/>
              </a:path>
            </a:pathLst>
          </a:custGeom>
          <a:solidFill>
            <a:schemeClr val="bg1">
              <a:alpha val="20000"/>
            </a:schemeClr>
          </a:solidFill>
          <a:ln>
            <a:noFill/>
          </a:ln>
          <a:effectLst>
            <a:outerShdw blurRad="12700" dist="127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350" dirty="0"/>
          </a:p>
        </p:txBody>
      </p:sp>
      <p:sp>
        <p:nvSpPr>
          <p:cNvPr id="18" name="Rectangle 17"/>
          <p:cNvSpPr/>
          <p:nvPr userDrawn="1"/>
        </p:nvSpPr>
        <p:spPr>
          <a:xfrm>
            <a:off x="-9527" y="6959604"/>
            <a:ext cx="1245854" cy="219291"/>
          </a:xfrm>
          <a:prstGeom prst="rect">
            <a:avLst/>
          </a:prstGeom>
        </p:spPr>
        <p:txBody>
          <a:bodyPr wrap="none">
            <a:spAutoFit/>
          </a:bodyPr>
          <a:lstStyle/>
          <a:p>
            <a:r>
              <a:rPr lang="en-US" sz="825" b="0" i="0" dirty="0">
                <a:solidFill>
                  <a:srgbClr val="555555"/>
                </a:solidFill>
                <a:effectLst/>
                <a:latin typeface="Open Sans" panose="020B0606030504020204" pitchFamily="34" charset="0"/>
              </a:rPr>
              <a:t>© </a:t>
            </a:r>
            <a:r>
              <a:rPr lang="en-US" sz="825" b="0" i="0" u="none" strike="noStrike" dirty="0">
                <a:solidFill>
                  <a:srgbClr val="A5CD28"/>
                </a:solidFill>
                <a:effectLst/>
                <a:latin typeface="Open Sans" panose="020B0606030504020204" pitchFamily="34" charset="0"/>
                <a:hlinkClick r:id="rId4" tooltip="PresentationGo!"/>
              </a:rPr>
              <a:t>presentationgo.com</a:t>
            </a:r>
            <a:endParaRPr lang="en-US" sz="825" dirty="0"/>
          </a:p>
        </p:txBody>
      </p:sp>
    </p:spTree>
    <p:extLst>
      <p:ext uri="{BB962C8B-B14F-4D97-AF65-F5344CB8AC3E}">
        <p14:creationId xmlns:p14="http://schemas.microsoft.com/office/powerpoint/2010/main" val="3389882968"/>
      </p:ext>
    </p:extLst>
  </p:cSld>
  <p:clrMap bg1="lt1" tx1="dk1" bg2="lt2" tx2="dk2" accent1="accent1" accent2="accent2" accent3="accent3" accent4="accent4" accent5="accent5" accent6="accent6" hlink="hlink" folHlink="folHlink"/>
  <p:sldLayoutIdLst>
    <p:sldLayoutId id="2147483730" r:id="rId1"/>
    <p:sldLayoutId id="2147483731" r:id="rId2"/>
  </p:sldLayoutIdLst>
  <p:txStyles>
    <p:titleStyle>
      <a:lvl1pPr algn="l" defTabSz="685800" rtl="0" eaLnBrk="1" latinLnBrk="0" hangingPunct="1">
        <a:lnSpc>
          <a:spcPct val="90000"/>
        </a:lnSpc>
        <a:spcBef>
          <a:spcPct val="0"/>
        </a:spcBef>
        <a:buNone/>
        <a:defRPr lang="en-US" sz="2700" b="1" kern="1200">
          <a:solidFill>
            <a:schemeClr val="bg1"/>
          </a:solidFill>
          <a:latin typeface="Helvetica" panose="020B0500000000000000"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j-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j-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j-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63482"/>
            <a:ext cx="7886700" cy="739056"/>
          </a:xfrm>
          <a:prstGeom prst="rect">
            <a:avLst/>
          </a:prstGeom>
        </p:spPr>
        <p:txBody>
          <a:bodyPr rIns="0">
            <a:normAutofit/>
          </a:bodyPr>
          <a:lstStyle/>
          <a:p>
            <a:pPr marL="0" lvl="0"/>
            <a:r>
              <a:rPr lang="en-US"/>
              <a:t>Click to edit Master title style</a:t>
            </a:r>
          </a:p>
        </p:txBody>
      </p:sp>
      <p:sp>
        <p:nvSpPr>
          <p:cNvPr id="3" name="Text Placeholder 2"/>
          <p:cNvSpPr>
            <a:spLocks noGrp="1"/>
          </p:cNvSpPr>
          <p:nvPr>
            <p:ph type="body" idx="1"/>
          </p:nvPr>
        </p:nvSpPr>
        <p:spPr>
          <a:xfrm>
            <a:off x="628650" y="1219200"/>
            <a:ext cx="7886700" cy="4957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Rectangle 17"/>
          <p:cNvSpPr/>
          <p:nvPr userDrawn="1"/>
        </p:nvSpPr>
        <p:spPr>
          <a:xfrm>
            <a:off x="-9527" y="6959604"/>
            <a:ext cx="1245854" cy="219291"/>
          </a:xfrm>
          <a:prstGeom prst="rect">
            <a:avLst/>
          </a:prstGeom>
        </p:spPr>
        <p:txBody>
          <a:bodyPr wrap="none">
            <a:spAutoFit/>
          </a:bodyPr>
          <a:lstStyle/>
          <a:p>
            <a:r>
              <a:rPr lang="en-US" sz="825" b="0" i="0" dirty="0">
                <a:solidFill>
                  <a:srgbClr val="555555"/>
                </a:solidFill>
                <a:effectLst/>
                <a:latin typeface="Open Sans" panose="020B0606030504020204" pitchFamily="34" charset="0"/>
              </a:rPr>
              <a:t>© </a:t>
            </a:r>
            <a:r>
              <a:rPr lang="en-US" sz="825" b="0" i="0" u="none" strike="noStrike" dirty="0">
                <a:solidFill>
                  <a:srgbClr val="A5CD28"/>
                </a:solidFill>
                <a:effectLst/>
                <a:latin typeface="Open Sans" panose="020B0606030504020204" pitchFamily="34" charset="0"/>
                <a:hlinkClick r:id="rId7" tooltip="PresentationGo!"/>
              </a:rPr>
              <a:t>presentationgo.com</a:t>
            </a:r>
            <a:endParaRPr lang="en-US" sz="825" dirty="0"/>
          </a:p>
        </p:txBody>
      </p:sp>
      <p:pic>
        <p:nvPicPr>
          <p:cNvPr id="11" name="Picture 10">
            <a:extLst>
              <a:ext uri="{FF2B5EF4-FFF2-40B4-BE49-F238E27FC236}">
                <a16:creationId xmlns:a16="http://schemas.microsoft.com/office/drawing/2014/main" id="{882C4FAC-1277-47E6-AEBE-9F3C730EE9F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6721478"/>
            <a:ext cx="9144000" cy="136525"/>
          </a:xfrm>
          <a:prstGeom prst="rect">
            <a:avLst/>
          </a:prstGeom>
        </p:spPr>
      </p:pic>
    </p:spTree>
    <p:extLst>
      <p:ext uri="{BB962C8B-B14F-4D97-AF65-F5344CB8AC3E}">
        <p14:creationId xmlns:p14="http://schemas.microsoft.com/office/powerpoint/2010/main" val="149246335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25" r:id="rId3"/>
    <p:sldLayoutId id="2147483728" r:id="rId4"/>
    <p:sldLayoutId id="2147483735" r:id="rId5"/>
  </p:sldLayoutIdLst>
  <p:txStyles>
    <p:titleStyle>
      <a:lvl1pPr algn="l" defTabSz="685800" rtl="0" eaLnBrk="1" latinLnBrk="0" hangingPunct="1">
        <a:lnSpc>
          <a:spcPct val="90000"/>
        </a:lnSpc>
        <a:spcBef>
          <a:spcPct val="0"/>
        </a:spcBef>
        <a:buNone/>
        <a:defRPr lang="en-US" sz="2700" b="1" kern="1200">
          <a:solidFill>
            <a:schemeClr val="bg1"/>
          </a:solidFill>
          <a:latin typeface="Helvetica" panose="020B0500000000000000"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j-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j-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j-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AB8066-1B8E-D741-9593-6B54057020A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019305-C9CD-1549-9BD6-D274BD18691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669A3E-3B3D-6749-8D3B-A85A9FF60B1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353823A-DC9D-264F-98B3-3429F33385EB}" type="datetimeFigureOut">
              <a:rPr lang="en-US" smtClean="0"/>
              <a:t>27/03/2023</a:t>
            </a:fld>
            <a:endParaRPr lang="en-US"/>
          </a:p>
        </p:txBody>
      </p:sp>
      <p:sp>
        <p:nvSpPr>
          <p:cNvPr id="5" name="Footer Placeholder 4">
            <a:extLst>
              <a:ext uri="{FF2B5EF4-FFF2-40B4-BE49-F238E27FC236}">
                <a16:creationId xmlns:a16="http://schemas.microsoft.com/office/drawing/2014/main" id="{80661AB6-96AF-B545-8794-50A818D4E418}"/>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6ECD7CA-A770-534A-B3DC-F46C67DEB34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E20A959-EC38-6F45-B802-D41C9867F655}" type="slidenum">
              <a:rPr lang="en-US" smtClean="0"/>
              <a:t>‹#›</a:t>
            </a:fld>
            <a:endParaRPr lang="en-US"/>
          </a:p>
        </p:txBody>
      </p:sp>
    </p:spTree>
    <p:extLst>
      <p:ext uri="{BB962C8B-B14F-4D97-AF65-F5344CB8AC3E}">
        <p14:creationId xmlns:p14="http://schemas.microsoft.com/office/powerpoint/2010/main" val="303839121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7.jpe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7.png"/><Relationship Id="rId7" Type="http://schemas.openxmlformats.org/officeDocument/2006/relationships/diagramColors" Target="../diagrams/colors4.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8.jpeg"/><Relationship Id="rId7" Type="http://schemas.openxmlformats.org/officeDocument/2006/relationships/diagramColors" Target="../diagrams/colors6.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hyperlink" Target="https://www.forbes.com/sites/forbescoachescouncil/2021/01/15/a-proven-formula-for-successfully-reaching-your-2021-goals/?sh=6337ecdafd55" TargetMode="External"/><Relationship Id="rId18" Type="http://schemas.openxmlformats.org/officeDocument/2006/relationships/diagramColors" Target="../diagrams/colors8.xml"/><Relationship Id="rId3" Type="http://schemas.openxmlformats.org/officeDocument/2006/relationships/image" Target="../media/image19.jpg"/><Relationship Id="rId7" Type="http://schemas.openxmlformats.org/officeDocument/2006/relationships/image" Target="../media/image23.png"/><Relationship Id="rId12" Type="http://schemas.openxmlformats.org/officeDocument/2006/relationships/hyperlink" Target="https://positivepsychology.com/goal-setting/" TargetMode="External"/><Relationship Id="rId17" Type="http://schemas.openxmlformats.org/officeDocument/2006/relationships/diagramQuickStyle" Target="../diagrams/quickStyle8.xml"/><Relationship Id="rId2" Type="http://schemas.openxmlformats.org/officeDocument/2006/relationships/notesSlide" Target="../notesSlides/notesSlide13.xml"/><Relationship Id="rId16" Type="http://schemas.openxmlformats.org/officeDocument/2006/relationships/diagramLayout" Target="../diagrams/layout8.xml"/><Relationship Id="rId1" Type="http://schemas.openxmlformats.org/officeDocument/2006/relationships/slideLayout" Target="../slideLayouts/slideLayout4.xml"/><Relationship Id="rId6" Type="http://schemas.openxmlformats.org/officeDocument/2006/relationships/image" Target="../media/image22.png"/><Relationship Id="rId11" Type="http://schemas.openxmlformats.org/officeDocument/2006/relationships/hyperlink" Target="https://www.kornferry.com/insights/articles/purpose-goal-setting-okrs" TargetMode="External"/><Relationship Id="rId5" Type="http://schemas.openxmlformats.org/officeDocument/2006/relationships/image" Target="../media/image21.png"/><Relationship Id="rId15" Type="http://schemas.openxmlformats.org/officeDocument/2006/relationships/diagramData" Target="../diagrams/data8.xml"/><Relationship Id="rId10" Type="http://schemas.openxmlformats.org/officeDocument/2006/relationships/hyperlink" Target="https://www.indeed.com/career-advice/career-development/being-goal-oriented-at-work" TargetMode="External"/><Relationship Id="rId19" Type="http://schemas.microsoft.com/office/2007/relationships/diagramDrawing" Target="../diagrams/drawing8.xml"/><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6.jpg"/></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hyperlink" Target="https://psychologyatwork.blog/2020/08/24/developing-a-commercial-mindset/" TargetMode="External"/><Relationship Id="rId18" Type="http://schemas.openxmlformats.org/officeDocument/2006/relationships/diagramColors" Target="../diagrams/colors10.xml"/><Relationship Id="rId3" Type="http://schemas.openxmlformats.org/officeDocument/2006/relationships/image" Target="../media/image19.jpg"/><Relationship Id="rId7" Type="http://schemas.openxmlformats.org/officeDocument/2006/relationships/image" Target="../media/image23.png"/><Relationship Id="rId12" Type="http://schemas.openxmlformats.org/officeDocument/2006/relationships/hyperlink" Target="https://www.exed.hbs.edu/driving-profitable-growth/" TargetMode="External"/><Relationship Id="rId17" Type="http://schemas.openxmlformats.org/officeDocument/2006/relationships/diagramQuickStyle" Target="../diagrams/quickStyle10.xml"/><Relationship Id="rId2" Type="http://schemas.openxmlformats.org/officeDocument/2006/relationships/notesSlide" Target="../notesSlides/notesSlide15.xml"/><Relationship Id="rId16" Type="http://schemas.openxmlformats.org/officeDocument/2006/relationships/diagramLayout" Target="../diagrams/layout10.xml"/><Relationship Id="rId1" Type="http://schemas.openxmlformats.org/officeDocument/2006/relationships/slideLayout" Target="../slideLayouts/slideLayout4.xml"/><Relationship Id="rId6" Type="http://schemas.openxmlformats.org/officeDocument/2006/relationships/image" Target="../media/image22.png"/><Relationship Id="rId11" Type="http://schemas.openxmlformats.org/officeDocument/2006/relationships/hyperlink" Target="https://peopleprofession.cipd.org/profession-map/core-behaviours/commercial-drive" TargetMode="External"/><Relationship Id="rId5" Type="http://schemas.openxmlformats.org/officeDocument/2006/relationships/image" Target="../media/image21.png"/><Relationship Id="rId15" Type="http://schemas.openxmlformats.org/officeDocument/2006/relationships/diagramData" Target="../diagrams/data10.xml"/><Relationship Id="rId10" Type="http://schemas.openxmlformats.org/officeDocument/2006/relationships/hyperlink" Target="https://www.mckinsey.com/business-functions/marketing-and-sales/our-insights/commercial-excellence-your-path-to-growth" TargetMode="External"/><Relationship Id="rId19" Type="http://schemas.microsoft.com/office/2007/relationships/diagramDrawing" Target="../diagrams/drawing10.xml"/><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7.jp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hyperlink" Target="https://www.forbes.com/sites/forbesbooksauthors/2019/08/06/managing-complexity-with-simplicity/?sh=4e8387973123" TargetMode="External"/><Relationship Id="rId18" Type="http://schemas.openxmlformats.org/officeDocument/2006/relationships/diagramColors" Target="../diagrams/colors12.xml"/><Relationship Id="rId3" Type="http://schemas.openxmlformats.org/officeDocument/2006/relationships/image" Target="../media/image19.jpg"/><Relationship Id="rId7" Type="http://schemas.openxmlformats.org/officeDocument/2006/relationships/image" Target="../media/image23.png"/><Relationship Id="rId12" Type="http://schemas.openxmlformats.org/officeDocument/2006/relationships/hyperlink" Target="https://www.mckinsey.com/~/media/mckinsey/industries/chemicals/our%20insights/organizing%20to%20enable%20the%20shift%20from%20volume%20to%20value/how_do_i_manage_complexity_in_my_organization.ashx" TargetMode="External"/><Relationship Id="rId17" Type="http://schemas.openxmlformats.org/officeDocument/2006/relationships/diagramQuickStyle" Target="../diagrams/quickStyle12.xml"/><Relationship Id="rId2" Type="http://schemas.openxmlformats.org/officeDocument/2006/relationships/notesSlide" Target="../notesSlides/notesSlide17.xml"/><Relationship Id="rId16" Type="http://schemas.openxmlformats.org/officeDocument/2006/relationships/diagramLayout" Target="../diagrams/layout12.xml"/><Relationship Id="rId1" Type="http://schemas.openxmlformats.org/officeDocument/2006/relationships/slideLayout" Target="../slideLayouts/slideLayout4.xml"/><Relationship Id="rId6" Type="http://schemas.openxmlformats.org/officeDocument/2006/relationships/image" Target="../media/image22.png"/><Relationship Id="rId11" Type="http://schemas.openxmlformats.org/officeDocument/2006/relationships/hyperlink" Target="https://www.executestrategy.net/blog/complexity-in-strategy" TargetMode="External"/><Relationship Id="rId5" Type="http://schemas.openxmlformats.org/officeDocument/2006/relationships/image" Target="../media/image21.png"/><Relationship Id="rId15" Type="http://schemas.openxmlformats.org/officeDocument/2006/relationships/diagramData" Target="../diagrams/data12.xml"/><Relationship Id="rId10" Type="http://schemas.openxmlformats.org/officeDocument/2006/relationships/hyperlink" Target="https://hbr.org/2020/01/taming-complexity" TargetMode="External"/><Relationship Id="rId19" Type="http://schemas.microsoft.com/office/2007/relationships/diagramDrawing" Target="../diagrams/drawing12.xml"/><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7.jpg"/></Relationships>
</file>

<file path=ppt/slides/_rels/slide18.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8.jpeg"/><Relationship Id="rId7" Type="http://schemas.openxmlformats.org/officeDocument/2006/relationships/diagramColors" Target="../diagrams/colors13.xm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0.xml.rels><?xml version="1.0" encoding="UTF-8" standalone="yes"?>
<Relationships xmlns="http://schemas.openxmlformats.org/package/2006/relationships"><Relationship Id="rId8" Type="http://schemas.openxmlformats.org/officeDocument/2006/relationships/image" Target="../media/image19.jpg"/><Relationship Id="rId13" Type="http://schemas.openxmlformats.org/officeDocument/2006/relationships/hyperlink" Target="https://www.mckinsey.com/business-functions/growth-marketing-and-sales/our-insights/prediction-the-future-of-cx" TargetMode="External"/><Relationship Id="rId18" Type="http://schemas.microsoft.com/office/2007/relationships/diagramDrawing" Target="../diagrams/drawing15.xml"/><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hyperlink" Target="https://www.gallup.com/workplace/391766/break-nps-plateau-create-culture-customer-experience.aspx" TargetMode="External"/><Relationship Id="rId17" Type="http://schemas.openxmlformats.org/officeDocument/2006/relationships/diagramColors" Target="../diagrams/colors15.xml"/><Relationship Id="rId2" Type="http://schemas.openxmlformats.org/officeDocument/2006/relationships/notesSlide" Target="../notesSlides/notesSlide20.xml"/><Relationship Id="rId16" Type="http://schemas.openxmlformats.org/officeDocument/2006/relationships/diagramQuickStyle" Target="../diagrams/quickStyle15.xml"/><Relationship Id="rId1" Type="http://schemas.openxmlformats.org/officeDocument/2006/relationships/slideLayout" Target="../slideLayouts/slideLayout4.xml"/><Relationship Id="rId6" Type="http://schemas.openxmlformats.org/officeDocument/2006/relationships/image" Target="../media/image23.png"/><Relationship Id="rId11" Type="http://schemas.openxmlformats.org/officeDocument/2006/relationships/hyperlink" Target="https://assets.kpmg/content/dam/kpmg/be/pdf/Markets/customer-first.pdf" TargetMode="External"/><Relationship Id="rId5" Type="http://schemas.openxmlformats.org/officeDocument/2006/relationships/image" Target="../media/image22.png"/><Relationship Id="rId15" Type="http://schemas.openxmlformats.org/officeDocument/2006/relationships/diagramLayout" Target="../diagrams/layout15.xml"/><Relationship Id="rId10" Type="http://schemas.openxmlformats.org/officeDocument/2006/relationships/hyperlink" Target="https://social.hays.com/2019/06/11/improve-customer-centricity-leadership-team/" TargetMode="External"/><Relationship Id="rId4" Type="http://schemas.openxmlformats.org/officeDocument/2006/relationships/image" Target="../media/image21.png"/><Relationship Id="rId9" Type="http://schemas.openxmlformats.org/officeDocument/2006/relationships/image" Target="../media/image25.png"/><Relationship Id="rId14" Type="http://schemas.openxmlformats.org/officeDocument/2006/relationships/diagramData" Target="../diagrams/data1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2.xml.rels><?xml version="1.0" encoding="UTF-8" standalone="yes"?>
<Relationships xmlns="http://schemas.openxmlformats.org/package/2006/relationships"><Relationship Id="rId8" Type="http://schemas.openxmlformats.org/officeDocument/2006/relationships/hyperlink" Target="https://www.forbes.com/sites/forbescoachescouncil/2019/06/19/how-to-future-proof-your-organization/#2be119605308" TargetMode="External"/><Relationship Id="rId13" Type="http://schemas.openxmlformats.org/officeDocument/2006/relationships/diagramData" Target="../diagrams/data17.xml"/><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jpg"/><Relationship Id="rId17" Type="http://schemas.microsoft.com/office/2007/relationships/diagramDrawing" Target="../diagrams/drawing17.xml"/><Relationship Id="rId2" Type="http://schemas.openxmlformats.org/officeDocument/2006/relationships/notesSlide" Target="../notesSlides/notesSlide22.xml"/><Relationship Id="rId16" Type="http://schemas.openxmlformats.org/officeDocument/2006/relationships/diagramColors" Target="../diagrams/colors17.xml"/><Relationship Id="rId1" Type="http://schemas.openxmlformats.org/officeDocument/2006/relationships/slideLayout" Target="../slideLayouts/slideLayout4.xml"/><Relationship Id="rId6" Type="http://schemas.openxmlformats.org/officeDocument/2006/relationships/image" Target="../media/image23.png"/><Relationship Id="rId11" Type="http://schemas.openxmlformats.org/officeDocument/2006/relationships/hyperlink" Target="https://media-publications.bcg.com/BCG-Executive-Perspectives-2022-Future-of-Marketing-and-Sales.pdf" TargetMode="External"/><Relationship Id="rId5" Type="http://schemas.openxmlformats.org/officeDocument/2006/relationships/image" Target="../media/image22.png"/><Relationship Id="rId15" Type="http://schemas.openxmlformats.org/officeDocument/2006/relationships/diagramQuickStyle" Target="../diagrams/quickStyle17.xml"/><Relationship Id="rId10" Type="http://schemas.openxmlformats.org/officeDocument/2006/relationships/hyperlink" Target="https://www.mckinsey.com/business-functions/organization/our-insights/getting-ready-for-the-future-of-work" TargetMode="External"/><Relationship Id="rId4" Type="http://schemas.openxmlformats.org/officeDocument/2006/relationships/image" Target="../media/image21.png"/><Relationship Id="rId9" Type="http://schemas.openxmlformats.org/officeDocument/2006/relationships/hyperlink" Target="https://www.michaelpage.ie/minisite/future-leadership/" TargetMode="External"/><Relationship Id="rId14" Type="http://schemas.openxmlformats.org/officeDocument/2006/relationships/diagramLayout" Target="../diagrams/layout17.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4.xml.rels><?xml version="1.0" encoding="UTF-8" standalone="yes"?>
<Relationships xmlns="http://schemas.openxmlformats.org/package/2006/relationships"><Relationship Id="rId8" Type="http://schemas.openxmlformats.org/officeDocument/2006/relationships/hyperlink" Target="https://www.mckinsey.com/~/media/McKinsey/Business%20Functions/Organization/Our%20Insights/Leading%20agile%20transformation%20The%20new%20capabilities%20leaders%20need%20to%20build/Leading-agile-transformation-executive-summary.ashx" TargetMode="External"/><Relationship Id="rId13" Type="http://schemas.openxmlformats.org/officeDocument/2006/relationships/diagramData" Target="../diagrams/data19.xml"/><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30.jpg"/><Relationship Id="rId17" Type="http://schemas.microsoft.com/office/2007/relationships/diagramDrawing" Target="../diagrams/drawing19.xml"/><Relationship Id="rId2" Type="http://schemas.openxmlformats.org/officeDocument/2006/relationships/notesSlide" Target="../notesSlides/notesSlide24.xml"/><Relationship Id="rId16" Type="http://schemas.openxmlformats.org/officeDocument/2006/relationships/diagramColors" Target="../diagrams/colors19.xml"/><Relationship Id="rId1" Type="http://schemas.openxmlformats.org/officeDocument/2006/relationships/slideLayout" Target="../slideLayouts/slideLayout4.xml"/><Relationship Id="rId6" Type="http://schemas.openxmlformats.org/officeDocument/2006/relationships/image" Target="../media/image23.png"/><Relationship Id="rId11" Type="http://schemas.openxmlformats.org/officeDocument/2006/relationships/hyperlink" Target="https://www.prosci.com/hubfs/2.downloads/webinars/Prosci-How-to-Build-Change-Capability-with-Structure-and-Intent-Slides-2022.pdf" TargetMode="External"/><Relationship Id="rId5" Type="http://schemas.openxmlformats.org/officeDocument/2006/relationships/image" Target="../media/image22.png"/><Relationship Id="rId15" Type="http://schemas.openxmlformats.org/officeDocument/2006/relationships/diagramQuickStyle" Target="../diagrams/quickStyle19.xml"/><Relationship Id="rId10" Type="http://schemas.openxmlformats.org/officeDocument/2006/relationships/hyperlink" Target="https://www.dukece.com/insights/leadership-agility-factor/" TargetMode="External"/><Relationship Id="rId4" Type="http://schemas.openxmlformats.org/officeDocument/2006/relationships/image" Target="../media/image21.png"/><Relationship Id="rId9" Type="http://schemas.openxmlformats.org/officeDocument/2006/relationships/hyperlink" Target="https://www.bcg.com/publications/2019/courage-to-be-agile-leader.aspx" TargetMode="External"/><Relationship Id="rId14" Type="http://schemas.openxmlformats.org/officeDocument/2006/relationships/diagramLayout" Target="../diagrams/layout19.xml"/></Relationships>
</file>

<file path=ppt/slides/_rels/slide25.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7.xml.rels><?xml version="1.0" encoding="UTF-8" standalone="yes"?>
<Relationships xmlns="http://schemas.openxmlformats.org/package/2006/relationships"><Relationship Id="rId8" Type="http://schemas.openxmlformats.org/officeDocument/2006/relationships/hyperlink" Target="https://hbr.org/tip/2020/03/adapt-your-leadership-style-to-your-situation" TargetMode="External"/><Relationship Id="rId13" Type="http://schemas.openxmlformats.org/officeDocument/2006/relationships/diagramLayout" Target="../diagrams/layout22.xml"/><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diagramData" Target="../diagrams/data22.xml"/><Relationship Id="rId2" Type="http://schemas.openxmlformats.org/officeDocument/2006/relationships/notesSlide" Target="../notesSlides/notesSlide27.xml"/><Relationship Id="rId16" Type="http://schemas.microsoft.com/office/2007/relationships/diagramDrawing" Target="../diagrams/drawing22.xml"/><Relationship Id="rId1" Type="http://schemas.openxmlformats.org/officeDocument/2006/relationships/slideLayout" Target="../slideLayouts/slideLayout4.xml"/><Relationship Id="rId6" Type="http://schemas.openxmlformats.org/officeDocument/2006/relationships/image" Target="../media/image23.png"/><Relationship Id="rId11" Type="http://schemas.openxmlformats.org/officeDocument/2006/relationships/image" Target="../media/image32.jpeg"/><Relationship Id="rId5" Type="http://schemas.openxmlformats.org/officeDocument/2006/relationships/image" Target="../media/image22.png"/><Relationship Id="rId15" Type="http://schemas.openxmlformats.org/officeDocument/2006/relationships/diagramColors" Target="../diagrams/colors22.xml"/><Relationship Id="rId10" Type="http://schemas.openxmlformats.org/officeDocument/2006/relationships/hyperlink" Target="https://singularityhub.com/2017/01/11/how-the-most-successful-leaders-will-thrive-in-an-exponential-world/" TargetMode="External"/><Relationship Id="rId4" Type="http://schemas.openxmlformats.org/officeDocument/2006/relationships/image" Target="../media/image21.png"/><Relationship Id="rId9" Type="http://schemas.openxmlformats.org/officeDocument/2006/relationships/hyperlink" Target="https://www.forbes.com/sites/forbesbusinesscouncil/2020/12/07/15-ways-to-promote-psychological-safety-at-work/?sh=79f1075423b2" TargetMode="External"/><Relationship Id="rId14" Type="http://schemas.openxmlformats.org/officeDocument/2006/relationships/diagramQuickStyle" Target="../diagrams/quickStyle2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9.xml.rels><?xml version="1.0" encoding="UTF-8" standalone="yes"?>
<Relationships xmlns="http://schemas.openxmlformats.org/package/2006/relationships"><Relationship Id="rId8" Type="http://schemas.openxmlformats.org/officeDocument/2006/relationships/hyperlink" Target="https://www.linkedin.com/pulse/5-key-traits-persuasive-leaders-dave-koll/?trk=read_related_article-card_title" TargetMode="External"/><Relationship Id="rId13" Type="http://schemas.openxmlformats.org/officeDocument/2006/relationships/diagramData" Target="../diagrams/data24.xml"/><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32.jpeg"/><Relationship Id="rId17" Type="http://schemas.microsoft.com/office/2007/relationships/diagramDrawing" Target="../diagrams/drawing24.xml"/><Relationship Id="rId2" Type="http://schemas.openxmlformats.org/officeDocument/2006/relationships/notesSlide" Target="../notesSlides/notesSlide29.xml"/><Relationship Id="rId16" Type="http://schemas.openxmlformats.org/officeDocument/2006/relationships/diagramColors" Target="../diagrams/colors24.xml"/><Relationship Id="rId1" Type="http://schemas.openxmlformats.org/officeDocument/2006/relationships/slideLayout" Target="../slideLayouts/slideLayout4.xml"/><Relationship Id="rId6" Type="http://schemas.openxmlformats.org/officeDocument/2006/relationships/image" Target="../media/image23.png"/><Relationship Id="rId11" Type="http://schemas.openxmlformats.org/officeDocument/2006/relationships/hyperlink" Target="https://www.forbes.com/sites/chriswestfall/2022/01/16/how-to-establish-credibility-4-strategies-leaders-always-use/?sh=33b1df9e9fd0" TargetMode="External"/><Relationship Id="rId5" Type="http://schemas.openxmlformats.org/officeDocument/2006/relationships/image" Target="../media/image22.png"/><Relationship Id="rId15" Type="http://schemas.openxmlformats.org/officeDocument/2006/relationships/diagramQuickStyle" Target="../diagrams/quickStyle24.xml"/><Relationship Id="rId10" Type="http://schemas.openxmlformats.org/officeDocument/2006/relationships/hyperlink" Target="https://www.forbes.com/sites/francoisbotha/2019/08/22/mentorship-as-a-tool-to-engage-and-inspire-the-next-generation/?sh=1103d0fe60fb" TargetMode="External"/><Relationship Id="rId4" Type="http://schemas.openxmlformats.org/officeDocument/2006/relationships/image" Target="../media/image21.png"/><Relationship Id="rId9" Type="http://schemas.openxmlformats.org/officeDocument/2006/relationships/hyperlink" Target="https://www.forbes.com/sites/carolinecastrillon/2021/07/14/how-to-develop-and-master-executive-presence/?sh=593b21743f48" TargetMode="External"/><Relationship Id="rId14" Type="http://schemas.openxmlformats.org/officeDocument/2006/relationships/diagramLayout" Target="../diagrams/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6623" y="900814"/>
            <a:ext cx="569713"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8327" y="633165"/>
            <a:ext cx="36199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Shape 13">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965" y="636723"/>
            <a:ext cx="3000047"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1B23FB-9481-4CE0-BA11-9D6ECAE89BC9}"/>
              </a:ext>
            </a:extLst>
          </p:cNvPr>
          <p:cNvSpPr>
            <a:spLocks noGrp="1"/>
          </p:cNvSpPr>
          <p:nvPr>
            <p:ph type="title"/>
          </p:nvPr>
        </p:nvSpPr>
        <p:spPr>
          <a:xfrm>
            <a:off x="701153" y="982272"/>
            <a:ext cx="2685167" cy="4560970"/>
          </a:xfrm>
        </p:spPr>
        <p:txBody>
          <a:bodyPr vert="horz" lIns="91440" tIns="45720" rIns="91440" bIns="45720" rtlCol="0" anchor="ctr">
            <a:normAutofit/>
          </a:bodyPr>
          <a:lstStyle/>
          <a:p>
            <a:pPr defTabSz="914400"/>
            <a:br>
              <a:rPr lang="en-US" sz="4000" kern="1200">
                <a:solidFill>
                  <a:srgbClr val="FFFF00"/>
                </a:solidFill>
                <a:latin typeface="+mj-lt"/>
                <a:ea typeface="+mj-ea"/>
                <a:cs typeface="+mj-cs"/>
              </a:rPr>
            </a:br>
            <a:r>
              <a:rPr lang="en-US" sz="4000" kern="1200">
                <a:solidFill>
                  <a:schemeClr val="bg1"/>
                </a:solidFill>
                <a:latin typeface="+mj-lt"/>
                <a:ea typeface="+mj-ea"/>
                <a:cs typeface="+mj-cs"/>
              </a:rPr>
              <a:t>L</a:t>
            </a:r>
            <a:r>
              <a:rPr lang="en-US" sz="3500" kern="1200">
                <a:solidFill>
                  <a:schemeClr val="bg1"/>
                </a:solidFill>
                <a:latin typeface="+mj-lt"/>
                <a:ea typeface="+mj-ea"/>
                <a:cs typeface="+mj-cs"/>
              </a:rPr>
              <a:t>eadership   </a:t>
            </a:r>
            <a:r>
              <a:rPr lang="en-US" sz="4000" kern="1200" dirty="0">
                <a:solidFill>
                  <a:schemeClr val="bg1"/>
                </a:solidFill>
                <a:latin typeface="+mj-lt"/>
                <a:ea typeface="+mj-ea"/>
                <a:cs typeface="+mj-cs"/>
              </a:rPr>
              <a:t>D</a:t>
            </a:r>
            <a:r>
              <a:rPr lang="en-US" sz="3500" kern="1200" dirty="0">
                <a:solidFill>
                  <a:schemeClr val="bg1"/>
                </a:solidFill>
                <a:latin typeface="+mj-lt"/>
                <a:ea typeface="+mj-ea"/>
                <a:cs typeface="+mj-cs"/>
              </a:rPr>
              <a:t>evelopment </a:t>
            </a:r>
            <a:r>
              <a:rPr lang="en-US" sz="4000" kern="1200" dirty="0">
                <a:solidFill>
                  <a:schemeClr val="bg1"/>
                </a:solidFill>
                <a:latin typeface="+mj-lt"/>
                <a:ea typeface="+mj-ea"/>
                <a:cs typeface="+mj-cs"/>
              </a:rPr>
              <a:t>A</a:t>
            </a:r>
            <a:r>
              <a:rPr lang="en-US" sz="3500" kern="1200" dirty="0">
                <a:solidFill>
                  <a:schemeClr val="bg1"/>
                </a:solidFill>
                <a:latin typeface="+mj-lt"/>
                <a:ea typeface="+mj-ea"/>
                <a:cs typeface="+mj-cs"/>
              </a:rPr>
              <a:t>rchitecture </a:t>
            </a:r>
          </a:p>
        </p:txBody>
      </p:sp>
      <p:sp>
        <p:nvSpPr>
          <p:cNvPr id="16"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76336" y="1352302"/>
            <a:ext cx="499169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TextBox 2">
            <a:extLst>
              <a:ext uri="{FF2B5EF4-FFF2-40B4-BE49-F238E27FC236}">
                <a16:creationId xmlns:a16="http://schemas.microsoft.com/office/drawing/2014/main" id="{BEFA699F-03AA-40A7-A5D9-6143483EE468}"/>
              </a:ext>
            </a:extLst>
          </p:cNvPr>
          <p:cNvSpPr txBox="1"/>
          <p:nvPr/>
        </p:nvSpPr>
        <p:spPr>
          <a:xfrm>
            <a:off x="3916396" y="1719618"/>
            <a:ext cx="4751638" cy="433462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100" dirty="0">
                <a:solidFill>
                  <a:srgbClr val="FEFFFF"/>
                </a:solidFill>
              </a:rPr>
              <a:t>Introduction</a:t>
            </a:r>
          </a:p>
          <a:p>
            <a:pPr indent="-228600">
              <a:lnSpc>
                <a:spcPct val="90000"/>
              </a:lnSpc>
              <a:spcAft>
                <a:spcPts val="600"/>
              </a:spcAft>
              <a:buFont typeface="Arial" panose="020B0604020202020204" pitchFamily="34" charset="0"/>
              <a:buChar char="•"/>
            </a:pPr>
            <a:r>
              <a:rPr lang="en-US" sz="2100" dirty="0">
                <a:solidFill>
                  <a:srgbClr val="FEFFFF"/>
                </a:solidFill>
              </a:rPr>
              <a:t>How will we leverage LDA</a:t>
            </a:r>
          </a:p>
          <a:p>
            <a:pPr indent="-228600">
              <a:lnSpc>
                <a:spcPct val="90000"/>
              </a:lnSpc>
              <a:spcAft>
                <a:spcPts val="600"/>
              </a:spcAft>
              <a:buFont typeface="Arial" panose="020B0604020202020204" pitchFamily="34" charset="0"/>
              <a:buChar char="•"/>
            </a:pPr>
            <a:r>
              <a:rPr lang="en-US" sz="2100" dirty="0">
                <a:solidFill>
                  <a:srgbClr val="FEFFFF"/>
                </a:solidFill>
              </a:rPr>
              <a:t>Our Leadership Model &amp; Competencies</a:t>
            </a:r>
          </a:p>
          <a:p>
            <a:pPr marL="571500" lvl="1" indent="-342900">
              <a:lnSpc>
                <a:spcPct val="90000"/>
              </a:lnSpc>
              <a:spcAft>
                <a:spcPts val="600"/>
              </a:spcAft>
              <a:buFont typeface="Wingdings" panose="05000000000000000000" pitchFamily="2" charset="2"/>
              <a:buChar char="Ø"/>
            </a:pPr>
            <a:r>
              <a:rPr lang="en-US" dirty="0">
                <a:solidFill>
                  <a:srgbClr val="FFFF00"/>
                </a:solidFill>
              </a:rPr>
              <a:t>Leadership Behavioral Anchors</a:t>
            </a:r>
          </a:p>
          <a:p>
            <a:pPr marL="571500" lvl="1" indent="-342900">
              <a:lnSpc>
                <a:spcPct val="90000"/>
              </a:lnSpc>
              <a:spcAft>
                <a:spcPts val="600"/>
              </a:spcAft>
              <a:buFont typeface="Wingdings" panose="05000000000000000000" pitchFamily="2" charset="2"/>
              <a:buChar char="Ø"/>
            </a:pPr>
            <a:r>
              <a:rPr lang="en-US" dirty="0">
                <a:solidFill>
                  <a:srgbClr val="FFFF00"/>
                </a:solidFill>
              </a:rPr>
              <a:t>LDA toolkit for managers </a:t>
            </a:r>
          </a:p>
          <a:p>
            <a:pPr indent="-228600">
              <a:lnSpc>
                <a:spcPct val="90000"/>
              </a:lnSpc>
              <a:spcAft>
                <a:spcPts val="600"/>
              </a:spcAft>
              <a:buFont typeface="Arial" panose="020B0604020202020204" pitchFamily="34" charset="0"/>
              <a:buChar char="•"/>
            </a:pPr>
            <a:r>
              <a:rPr lang="en-US" sz="2100" dirty="0">
                <a:solidFill>
                  <a:srgbClr val="FEFFFF"/>
                </a:solidFill>
              </a:rPr>
              <a:t> Communication Plan</a:t>
            </a:r>
          </a:p>
        </p:txBody>
      </p:sp>
      <p:pic>
        <p:nvPicPr>
          <p:cNvPr id="18" name="Picture 17">
            <a:extLst>
              <a:ext uri="{FF2B5EF4-FFF2-40B4-BE49-F238E27FC236}">
                <a16:creationId xmlns:a16="http://schemas.microsoft.com/office/drawing/2014/main" id="{83E7C605-B692-480B-B351-07F0AB3482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13695" y="185287"/>
            <a:ext cx="3938528" cy="984630"/>
          </a:xfrm>
          <a:prstGeom prst="rect">
            <a:avLst/>
          </a:prstGeom>
        </p:spPr>
      </p:pic>
    </p:spTree>
    <p:extLst>
      <p:ext uri="{BB962C8B-B14F-4D97-AF65-F5344CB8AC3E}">
        <p14:creationId xmlns:p14="http://schemas.microsoft.com/office/powerpoint/2010/main" val="3613327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20"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Rectangle 23">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Title 7">
            <a:extLst>
              <a:ext uri="{FF2B5EF4-FFF2-40B4-BE49-F238E27FC236}">
                <a16:creationId xmlns:a16="http://schemas.microsoft.com/office/drawing/2014/main" id="{EFF8AF33-23FE-4E4F-B73F-1DB3F0074C9F}"/>
              </a:ext>
            </a:extLst>
          </p:cNvPr>
          <p:cNvSpPr txBox="1">
            <a:spLocks/>
          </p:cNvSpPr>
          <p:nvPr/>
        </p:nvSpPr>
        <p:spPr>
          <a:xfrm>
            <a:off x="916983" y="940067"/>
            <a:ext cx="772989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lang="en-US" sz="2700" b="1" kern="1200">
                <a:solidFill>
                  <a:schemeClr val="bg1"/>
                </a:solidFill>
                <a:latin typeface="Helvetica" panose="020B0500000000000000" pitchFamily="34" charset="0"/>
                <a:ea typeface="+mj-ea"/>
                <a:cs typeface="+mj-cs"/>
              </a:defRPr>
            </a:lvl1pPr>
          </a:lstStyle>
          <a:p>
            <a:pPr defTabSz="914400">
              <a:spcAft>
                <a:spcPts val="600"/>
              </a:spcAft>
            </a:pPr>
            <a:r>
              <a:rPr lang="en-US" sz="3500" b="1" kern="1200" dirty="0">
                <a:solidFill>
                  <a:srgbClr val="FFFFFF"/>
                </a:solidFill>
                <a:latin typeface="+mj-lt"/>
                <a:ea typeface="+mj-ea"/>
                <a:cs typeface="+mj-cs"/>
              </a:rPr>
              <a:t>Leadership Development Architecture</a:t>
            </a:r>
          </a:p>
          <a:p>
            <a:pPr defTabSz="914400">
              <a:spcAft>
                <a:spcPts val="600"/>
              </a:spcAft>
            </a:pPr>
            <a:endParaRPr lang="en-US" sz="3500" kern="1200" dirty="0">
              <a:solidFill>
                <a:srgbClr val="FFFFFF"/>
              </a:solidFill>
              <a:latin typeface="+mj-lt"/>
              <a:ea typeface="+mj-ea"/>
              <a:cs typeface="+mj-cs"/>
            </a:endParaRPr>
          </a:p>
        </p:txBody>
      </p:sp>
      <p:pic>
        <p:nvPicPr>
          <p:cNvPr id="8" name="Picture 7">
            <a:extLst>
              <a:ext uri="{FF2B5EF4-FFF2-40B4-BE49-F238E27FC236}">
                <a16:creationId xmlns:a16="http://schemas.microsoft.com/office/drawing/2014/main" id="{2037CAAE-F643-4CFE-9ECE-A003950CBC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3600" y="-138449"/>
            <a:ext cx="3601803" cy="900449"/>
          </a:xfrm>
          <a:prstGeom prst="rect">
            <a:avLst/>
          </a:prstGeom>
        </p:spPr>
      </p:pic>
      <p:sp>
        <p:nvSpPr>
          <p:cNvPr id="15" name="Rectangle: Rounded Corners 14">
            <a:extLst>
              <a:ext uri="{FF2B5EF4-FFF2-40B4-BE49-F238E27FC236}">
                <a16:creationId xmlns:a16="http://schemas.microsoft.com/office/drawing/2014/main" id="{F3453F09-B768-4983-8534-4A1FA9449271}"/>
              </a:ext>
            </a:extLst>
          </p:cNvPr>
          <p:cNvSpPr/>
          <p:nvPr/>
        </p:nvSpPr>
        <p:spPr>
          <a:xfrm>
            <a:off x="1011283" y="2362201"/>
            <a:ext cx="1873417" cy="533400"/>
          </a:xfrm>
          <a:prstGeom prst="roundRect">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Leadership Competency Model</a:t>
            </a:r>
          </a:p>
        </p:txBody>
      </p:sp>
      <p:sp>
        <p:nvSpPr>
          <p:cNvPr id="16" name="Rectangle: Rounded Corners 15">
            <a:extLst>
              <a:ext uri="{FF2B5EF4-FFF2-40B4-BE49-F238E27FC236}">
                <a16:creationId xmlns:a16="http://schemas.microsoft.com/office/drawing/2014/main" id="{73748489-5A87-48B2-8DCC-DFCDDE610972}"/>
              </a:ext>
            </a:extLst>
          </p:cNvPr>
          <p:cNvSpPr/>
          <p:nvPr/>
        </p:nvSpPr>
        <p:spPr>
          <a:xfrm>
            <a:off x="1011283" y="4039700"/>
            <a:ext cx="1873417" cy="533400"/>
          </a:xfrm>
          <a:prstGeom prst="roundRect">
            <a:avLst/>
          </a:prstGeom>
          <a:solidFill>
            <a:schemeClr val="tx2">
              <a:lumMod val="25000"/>
              <a:lumOff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Leadership Behavioral Anchors</a:t>
            </a:r>
          </a:p>
        </p:txBody>
      </p:sp>
      <p:cxnSp>
        <p:nvCxnSpPr>
          <p:cNvPr id="18" name="Straight Connector 17">
            <a:extLst>
              <a:ext uri="{FF2B5EF4-FFF2-40B4-BE49-F238E27FC236}">
                <a16:creationId xmlns:a16="http://schemas.microsoft.com/office/drawing/2014/main" id="{A9A03250-4765-4834-A162-75BADDBD5C95}"/>
              </a:ext>
            </a:extLst>
          </p:cNvPr>
          <p:cNvCxnSpPr>
            <a:cxnSpLocks/>
          </p:cNvCxnSpPr>
          <p:nvPr/>
        </p:nvCxnSpPr>
        <p:spPr>
          <a:xfrm>
            <a:off x="3200400" y="2438400"/>
            <a:ext cx="0" cy="1998618"/>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C86A9926-A079-4D8B-98A3-268403190E9B}"/>
              </a:ext>
            </a:extLst>
          </p:cNvPr>
          <p:cNvSpPr/>
          <p:nvPr/>
        </p:nvSpPr>
        <p:spPr>
          <a:xfrm>
            <a:off x="3418835" y="3224361"/>
            <a:ext cx="1873416" cy="533400"/>
          </a:xfrm>
          <a:prstGeom prst="roundRect">
            <a:avLst/>
          </a:prstGeom>
          <a:solidFill>
            <a:schemeClr val="tx2">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Leadership Development Opportunities </a:t>
            </a:r>
          </a:p>
        </p:txBody>
      </p:sp>
      <p:cxnSp>
        <p:nvCxnSpPr>
          <p:cNvPr id="30" name="Straight Connector 29">
            <a:extLst>
              <a:ext uri="{FF2B5EF4-FFF2-40B4-BE49-F238E27FC236}">
                <a16:creationId xmlns:a16="http://schemas.microsoft.com/office/drawing/2014/main" id="{422AEB00-04A8-46D3-A16B-E85B02EAD0BC}"/>
              </a:ext>
            </a:extLst>
          </p:cNvPr>
          <p:cNvCxnSpPr>
            <a:cxnSpLocks/>
          </p:cNvCxnSpPr>
          <p:nvPr/>
        </p:nvCxnSpPr>
        <p:spPr>
          <a:xfrm>
            <a:off x="5606136" y="2487174"/>
            <a:ext cx="0" cy="205347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A5DF2CEE-EE6D-46DC-8905-7D00C3794226}"/>
              </a:ext>
            </a:extLst>
          </p:cNvPr>
          <p:cNvSpPr/>
          <p:nvPr/>
        </p:nvSpPr>
        <p:spPr>
          <a:xfrm>
            <a:off x="6153002" y="2459748"/>
            <a:ext cx="1873414" cy="533400"/>
          </a:xfrm>
          <a:prstGeom prst="roundRect">
            <a:avLst/>
          </a:prstGeom>
          <a:solidFill>
            <a:schemeClr val="tx2">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3 Learning Journeys</a:t>
            </a:r>
          </a:p>
        </p:txBody>
      </p:sp>
      <p:sp>
        <p:nvSpPr>
          <p:cNvPr id="32" name="Rectangle: Rounded Corners 31">
            <a:extLst>
              <a:ext uri="{FF2B5EF4-FFF2-40B4-BE49-F238E27FC236}">
                <a16:creationId xmlns:a16="http://schemas.microsoft.com/office/drawing/2014/main" id="{1A2F38E1-FEB1-44D0-B4C0-9A8288651DC4}"/>
              </a:ext>
            </a:extLst>
          </p:cNvPr>
          <p:cNvSpPr/>
          <p:nvPr/>
        </p:nvSpPr>
        <p:spPr>
          <a:xfrm>
            <a:off x="2129198" y="5499663"/>
            <a:ext cx="2326364" cy="402306"/>
          </a:xfrm>
          <a:prstGeom prst="roundRect">
            <a:avLst/>
          </a:prstGeom>
          <a:solidFill>
            <a:schemeClr val="tx2">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LDA Toolkit for employees</a:t>
            </a:r>
          </a:p>
        </p:txBody>
      </p:sp>
      <p:graphicFrame>
        <p:nvGraphicFramePr>
          <p:cNvPr id="33" name="Diagram 32">
            <a:extLst>
              <a:ext uri="{FF2B5EF4-FFF2-40B4-BE49-F238E27FC236}">
                <a16:creationId xmlns:a16="http://schemas.microsoft.com/office/drawing/2014/main" id="{87BDCBFE-7B5C-4126-8426-A33D440DC258}"/>
              </a:ext>
            </a:extLst>
          </p:cNvPr>
          <p:cNvGraphicFramePr/>
          <p:nvPr>
            <p:extLst>
              <p:ext uri="{D42A27DB-BD31-4B8C-83A1-F6EECF244321}">
                <p14:modId xmlns:p14="http://schemas.microsoft.com/office/powerpoint/2010/main" val="2197359488"/>
              </p:ext>
            </p:extLst>
          </p:nvPr>
        </p:nvGraphicFramePr>
        <p:xfrm>
          <a:off x="6400801" y="3239991"/>
          <a:ext cx="1522853" cy="27330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5" name="Right Brace 34">
            <a:extLst>
              <a:ext uri="{FF2B5EF4-FFF2-40B4-BE49-F238E27FC236}">
                <a16:creationId xmlns:a16="http://schemas.microsoft.com/office/drawing/2014/main" id="{CF8EF861-F6F2-4F9F-A6D5-BB4510A88C37}"/>
              </a:ext>
            </a:extLst>
          </p:cNvPr>
          <p:cNvSpPr/>
          <p:nvPr/>
        </p:nvSpPr>
        <p:spPr>
          <a:xfrm rot="5400000">
            <a:off x="2912895" y="2750055"/>
            <a:ext cx="758971" cy="4627510"/>
          </a:xfrm>
          <a:prstGeom prst="rightBrace">
            <a:avLst>
              <a:gd name="adj1" fmla="val 7725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9F24B5B7-0CA5-47D5-810D-32A41CA59D52}"/>
              </a:ext>
            </a:extLst>
          </p:cNvPr>
          <p:cNvSpPr/>
          <p:nvPr/>
        </p:nvSpPr>
        <p:spPr>
          <a:xfrm>
            <a:off x="1011283" y="3224361"/>
            <a:ext cx="1873417" cy="533400"/>
          </a:xfrm>
          <a:prstGeom prst="roundRect">
            <a:avLst/>
          </a:prstGeom>
          <a:solidFill>
            <a:schemeClr val="tx2">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8 Leadership Competencies</a:t>
            </a:r>
          </a:p>
        </p:txBody>
      </p:sp>
    </p:spTree>
    <p:extLst>
      <p:ext uri="{BB962C8B-B14F-4D97-AF65-F5344CB8AC3E}">
        <p14:creationId xmlns:p14="http://schemas.microsoft.com/office/powerpoint/2010/main" val="2854542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additive="base">
                                        <p:cTn id="13" dur="500" fill="hold"/>
                                        <p:tgtEl>
                                          <p:spTgt spid="36"/>
                                        </p:tgtEl>
                                        <p:attrNameLst>
                                          <p:attrName>ppt_x</p:attrName>
                                        </p:attrNameLst>
                                      </p:cBhvr>
                                      <p:tavLst>
                                        <p:tav tm="0">
                                          <p:val>
                                            <p:strVal val="#ppt_x"/>
                                          </p:val>
                                        </p:tav>
                                        <p:tav tm="100000">
                                          <p:val>
                                            <p:strVal val="#ppt_x"/>
                                          </p:val>
                                        </p:tav>
                                      </p:tavLst>
                                    </p:anim>
                                    <p:anim calcmode="lin" valueType="num">
                                      <p:cBhvr additive="base">
                                        <p:cTn id="1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cBhvr additive="base">
                                        <p:cTn id="35" dur="500" fill="hold"/>
                                        <p:tgtEl>
                                          <p:spTgt spid="35"/>
                                        </p:tgtEl>
                                        <p:attrNameLst>
                                          <p:attrName>ppt_x</p:attrName>
                                        </p:attrNameLst>
                                      </p:cBhvr>
                                      <p:tavLst>
                                        <p:tav tm="0">
                                          <p:val>
                                            <p:strVal val="#ppt_x"/>
                                          </p:val>
                                        </p:tav>
                                        <p:tav tm="100000">
                                          <p:val>
                                            <p:strVal val="#ppt_x"/>
                                          </p:val>
                                        </p:tav>
                                      </p:tavLst>
                                    </p:anim>
                                    <p:anim calcmode="lin" valueType="num">
                                      <p:cBhvr additive="base">
                                        <p:cTn id="36"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ppt_x"/>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1000"/>
                                        <p:tgtEl>
                                          <p:spTgt spid="31"/>
                                        </p:tgtEl>
                                      </p:cBhvr>
                                    </p:animEffect>
                                    <p:anim calcmode="lin" valueType="num">
                                      <p:cBhvr>
                                        <p:cTn id="54" dur="1000" fill="hold"/>
                                        <p:tgtEl>
                                          <p:spTgt spid="31"/>
                                        </p:tgtEl>
                                        <p:attrNameLst>
                                          <p:attrName>ppt_x</p:attrName>
                                        </p:attrNameLst>
                                      </p:cBhvr>
                                      <p:tavLst>
                                        <p:tav tm="0">
                                          <p:val>
                                            <p:strVal val="#ppt_x"/>
                                          </p:val>
                                        </p:tav>
                                        <p:tav tm="100000">
                                          <p:val>
                                            <p:strVal val="#ppt_x"/>
                                          </p:val>
                                        </p:tav>
                                      </p:tavLst>
                                    </p:anim>
                                    <p:anim calcmode="lin" valueType="num">
                                      <p:cBhvr>
                                        <p:cTn id="55"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1000"/>
                                        <p:tgtEl>
                                          <p:spTgt spid="33"/>
                                        </p:tgtEl>
                                      </p:cBhvr>
                                    </p:animEffect>
                                    <p:anim calcmode="lin" valueType="num">
                                      <p:cBhvr>
                                        <p:cTn id="61" dur="1000" fill="hold"/>
                                        <p:tgtEl>
                                          <p:spTgt spid="33"/>
                                        </p:tgtEl>
                                        <p:attrNameLst>
                                          <p:attrName>ppt_x</p:attrName>
                                        </p:attrNameLst>
                                      </p:cBhvr>
                                      <p:tavLst>
                                        <p:tav tm="0">
                                          <p:val>
                                            <p:strVal val="#ppt_x"/>
                                          </p:val>
                                        </p:tav>
                                        <p:tav tm="100000">
                                          <p:val>
                                            <p:strVal val="#ppt_x"/>
                                          </p:val>
                                        </p:tav>
                                      </p:tavLst>
                                    </p:anim>
                                    <p:anim calcmode="lin" valueType="num">
                                      <p:cBhvr>
                                        <p:cTn id="62"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9" grpId="0" animBg="1"/>
      <p:bldP spid="31" grpId="0" animBg="1"/>
      <p:bldP spid="32" grpId="0" animBg="1"/>
      <p:bldGraphic spid="33" grpId="0">
        <p:bldAsOne/>
      </p:bldGraphic>
      <p:bldP spid="35" grpId="0" animBg="1"/>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20"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Rectangle 23">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Title 7">
            <a:extLst>
              <a:ext uri="{FF2B5EF4-FFF2-40B4-BE49-F238E27FC236}">
                <a16:creationId xmlns:a16="http://schemas.microsoft.com/office/drawing/2014/main" id="{EFF8AF33-23FE-4E4F-B73F-1DB3F0074C9F}"/>
              </a:ext>
            </a:extLst>
          </p:cNvPr>
          <p:cNvSpPr txBox="1">
            <a:spLocks/>
          </p:cNvSpPr>
          <p:nvPr/>
        </p:nvSpPr>
        <p:spPr>
          <a:xfrm>
            <a:off x="916983" y="940067"/>
            <a:ext cx="772989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lang="en-US" sz="2700" b="1" kern="1200">
                <a:solidFill>
                  <a:schemeClr val="bg1"/>
                </a:solidFill>
                <a:latin typeface="Helvetica" panose="020B0500000000000000" pitchFamily="34" charset="0"/>
                <a:ea typeface="+mj-ea"/>
                <a:cs typeface="+mj-cs"/>
              </a:defRPr>
            </a:lvl1pPr>
          </a:lstStyle>
          <a:p>
            <a:pPr defTabSz="914400">
              <a:spcAft>
                <a:spcPts val="600"/>
              </a:spcAft>
            </a:pPr>
            <a:r>
              <a:rPr lang="en-US" sz="3500" b="1" kern="1200" dirty="0">
                <a:solidFill>
                  <a:srgbClr val="FFFFFF"/>
                </a:solidFill>
                <a:latin typeface="+mj-lt"/>
                <a:ea typeface="+mj-ea"/>
                <a:cs typeface="+mj-cs"/>
              </a:rPr>
              <a:t>Leadership Development Architecture</a:t>
            </a:r>
          </a:p>
          <a:p>
            <a:pPr defTabSz="914400">
              <a:spcAft>
                <a:spcPts val="600"/>
              </a:spcAft>
            </a:pPr>
            <a:endParaRPr lang="en-US" sz="3500" kern="1200" dirty="0">
              <a:solidFill>
                <a:srgbClr val="FFFFFF"/>
              </a:solidFill>
              <a:latin typeface="+mj-lt"/>
              <a:ea typeface="+mj-ea"/>
              <a:cs typeface="+mj-cs"/>
            </a:endParaRPr>
          </a:p>
        </p:txBody>
      </p:sp>
      <p:pic>
        <p:nvPicPr>
          <p:cNvPr id="8" name="Picture 7">
            <a:extLst>
              <a:ext uri="{FF2B5EF4-FFF2-40B4-BE49-F238E27FC236}">
                <a16:creationId xmlns:a16="http://schemas.microsoft.com/office/drawing/2014/main" id="{2037CAAE-F643-4CFE-9ECE-A003950CBC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3600" y="-138449"/>
            <a:ext cx="3601803" cy="900449"/>
          </a:xfrm>
          <a:prstGeom prst="rect">
            <a:avLst/>
          </a:prstGeom>
        </p:spPr>
      </p:pic>
      <p:sp>
        <p:nvSpPr>
          <p:cNvPr id="25" name="TextBox 24">
            <a:extLst>
              <a:ext uri="{FF2B5EF4-FFF2-40B4-BE49-F238E27FC236}">
                <a16:creationId xmlns:a16="http://schemas.microsoft.com/office/drawing/2014/main" id="{B6C919FD-34E6-4793-B798-7709B0BCE073}"/>
              </a:ext>
            </a:extLst>
          </p:cNvPr>
          <p:cNvSpPr txBox="1"/>
          <p:nvPr/>
        </p:nvSpPr>
        <p:spPr>
          <a:xfrm>
            <a:off x="916983" y="2921773"/>
            <a:ext cx="8435138" cy="830997"/>
          </a:xfrm>
          <a:prstGeom prst="rect">
            <a:avLst/>
          </a:prstGeom>
          <a:noFill/>
        </p:spPr>
        <p:txBody>
          <a:bodyPr wrap="square" rtlCol="0">
            <a:spAutoFit/>
          </a:bodyPr>
          <a:lstStyle/>
          <a:p>
            <a:pPr marL="342900" indent="-342900">
              <a:buFont typeface="Arial" panose="020B0604020202020204" pitchFamily="34" charset="0"/>
              <a:buChar char="•"/>
            </a:pPr>
            <a:r>
              <a:rPr lang="en-US" sz="1600" dirty="0"/>
              <a:t>Those holding a managerial or leadership position. </a:t>
            </a:r>
          </a:p>
          <a:p>
            <a:pPr marL="342900" indent="-342900">
              <a:buFont typeface="Arial" panose="020B0604020202020204" pitchFamily="34" charset="0"/>
              <a:buChar char="•"/>
            </a:pPr>
            <a:r>
              <a:rPr lang="en-US" sz="1600" dirty="0"/>
              <a:t>Pragmatic roadmap providing transparency &amp; guidance on the expected </a:t>
            </a:r>
            <a:br>
              <a:rPr lang="en-US" sz="1600" dirty="0"/>
            </a:br>
            <a:r>
              <a:rPr lang="en-US" sz="1600" dirty="0"/>
              <a:t>behaviors of our managers and leaders across the full employee life cycle.</a:t>
            </a:r>
          </a:p>
        </p:txBody>
      </p:sp>
      <p:sp>
        <p:nvSpPr>
          <p:cNvPr id="26" name="TextBox 25">
            <a:extLst>
              <a:ext uri="{FF2B5EF4-FFF2-40B4-BE49-F238E27FC236}">
                <a16:creationId xmlns:a16="http://schemas.microsoft.com/office/drawing/2014/main" id="{ABCDFD48-B31E-4971-8071-70E9742DFDE9}"/>
              </a:ext>
            </a:extLst>
          </p:cNvPr>
          <p:cNvSpPr txBox="1"/>
          <p:nvPr/>
        </p:nvSpPr>
        <p:spPr>
          <a:xfrm>
            <a:off x="916983" y="2312342"/>
            <a:ext cx="8243430" cy="400110"/>
          </a:xfrm>
          <a:prstGeom prst="rect">
            <a:avLst/>
          </a:prstGeom>
          <a:noFill/>
        </p:spPr>
        <p:txBody>
          <a:bodyPr wrap="square">
            <a:spAutoFit/>
          </a:bodyPr>
          <a:lstStyle/>
          <a:p>
            <a:r>
              <a:rPr lang="en-US" sz="2000" b="1" dirty="0"/>
              <a:t>Who is the Leadership Development Architecture (LDA) for?</a:t>
            </a:r>
          </a:p>
        </p:txBody>
      </p:sp>
      <p:sp>
        <p:nvSpPr>
          <p:cNvPr id="27" name="TextBox 26">
            <a:extLst>
              <a:ext uri="{FF2B5EF4-FFF2-40B4-BE49-F238E27FC236}">
                <a16:creationId xmlns:a16="http://schemas.microsoft.com/office/drawing/2014/main" id="{879B7724-5B4C-4DE7-8A67-4B3AD6E4F6EE}"/>
              </a:ext>
            </a:extLst>
          </p:cNvPr>
          <p:cNvSpPr txBox="1"/>
          <p:nvPr/>
        </p:nvSpPr>
        <p:spPr>
          <a:xfrm>
            <a:off x="1017534" y="4093516"/>
            <a:ext cx="8534400" cy="400110"/>
          </a:xfrm>
          <a:prstGeom prst="rect">
            <a:avLst/>
          </a:prstGeom>
          <a:noFill/>
        </p:spPr>
        <p:txBody>
          <a:bodyPr wrap="square">
            <a:spAutoFit/>
          </a:bodyPr>
          <a:lstStyle/>
          <a:p>
            <a:r>
              <a:rPr lang="en-US" sz="2000" b="1" dirty="0"/>
              <a:t>What’s in the LDA and where did it come from?</a:t>
            </a:r>
          </a:p>
        </p:txBody>
      </p:sp>
      <p:sp>
        <p:nvSpPr>
          <p:cNvPr id="28" name="TextBox 27">
            <a:extLst>
              <a:ext uri="{FF2B5EF4-FFF2-40B4-BE49-F238E27FC236}">
                <a16:creationId xmlns:a16="http://schemas.microsoft.com/office/drawing/2014/main" id="{3F4C5FB0-E22A-4E2C-923A-EA3ED81FE407}"/>
              </a:ext>
            </a:extLst>
          </p:cNvPr>
          <p:cNvSpPr txBox="1"/>
          <p:nvPr/>
        </p:nvSpPr>
        <p:spPr>
          <a:xfrm>
            <a:off x="916983" y="4858482"/>
            <a:ext cx="7998417" cy="1323439"/>
          </a:xfrm>
          <a:prstGeom prst="rect">
            <a:avLst/>
          </a:prstGeom>
          <a:noFill/>
        </p:spPr>
        <p:txBody>
          <a:bodyPr wrap="square">
            <a:spAutoFit/>
          </a:bodyPr>
          <a:lstStyle/>
          <a:p>
            <a:pPr marL="285750" indent="-285750">
              <a:buFont typeface="Arial" panose="020B0604020202020204" pitchFamily="34" charset="0"/>
              <a:buChar char="•"/>
            </a:pPr>
            <a:r>
              <a:rPr lang="en-US" sz="1600" dirty="0"/>
              <a:t>Focuses on building </a:t>
            </a:r>
            <a:r>
              <a:rPr lang="en-US" sz="1600" b="1" dirty="0"/>
              <a:t>the Al-Futtaim Leadership Competency framework </a:t>
            </a:r>
            <a:r>
              <a:rPr lang="en-US" sz="1600" dirty="0"/>
              <a:t>. </a:t>
            </a:r>
          </a:p>
          <a:p>
            <a:pPr marL="285750" indent="-285750">
              <a:buFont typeface="Arial" panose="020B0604020202020204" pitchFamily="34" charset="0"/>
              <a:buChar char="•"/>
            </a:pPr>
            <a:r>
              <a:rPr lang="en-US" sz="1600" dirty="0"/>
              <a:t>Designed based on a thorough, comprehensive and calibrated analysis of best-in-class leadership attributes within the current business context. </a:t>
            </a:r>
          </a:p>
          <a:p>
            <a:pPr marL="285750" indent="-285750">
              <a:buFont typeface="Arial" panose="020B0604020202020204" pitchFamily="34" charset="0"/>
              <a:buChar char="•"/>
            </a:pPr>
            <a:r>
              <a:rPr lang="en-US" sz="1600" b="1" dirty="0"/>
              <a:t>The co-creation of the framework </a:t>
            </a:r>
            <a:r>
              <a:rPr lang="en-US" sz="1600" dirty="0"/>
              <a:t>encompassed Leadership representation across all our departments across our divisions. </a:t>
            </a:r>
          </a:p>
        </p:txBody>
      </p:sp>
    </p:spTree>
    <p:extLst>
      <p:ext uri="{BB962C8B-B14F-4D97-AF65-F5344CB8AC3E}">
        <p14:creationId xmlns:p14="http://schemas.microsoft.com/office/powerpoint/2010/main" val="1583670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025EFD5-738C-41B9-87FE-0C00E211B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3" name="Picture 12">
            <a:extLst>
              <a:ext uri="{FF2B5EF4-FFF2-40B4-BE49-F238E27FC236}">
                <a16:creationId xmlns:a16="http://schemas.microsoft.com/office/drawing/2014/main" id="{0813E30F-D6EA-6AAA-38C9-EE8D9B86BA87}"/>
              </a:ext>
            </a:extLst>
          </p:cNvPr>
          <p:cNvPicPr>
            <a:picLocks noChangeAspect="1"/>
          </p:cNvPicPr>
          <p:nvPr/>
        </p:nvPicPr>
        <p:blipFill rotWithShape="1">
          <a:blip r:embed="rId3"/>
          <a:srcRect l="32443" r="29731"/>
          <a:stretch/>
        </p:blipFill>
        <p:spPr>
          <a:xfrm>
            <a:off x="643713" y="1165109"/>
            <a:ext cx="3196002" cy="435133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9"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5148" y="407987"/>
            <a:ext cx="2240924"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36BC7976-F121-413F-B39F-F14C1FA0DF04}"/>
              </a:ext>
            </a:extLst>
          </p:cNvPr>
          <p:cNvSpPr txBox="1"/>
          <p:nvPr/>
        </p:nvSpPr>
        <p:spPr>
          <a:xfrm>
            <a:off x="628650" y="624568"/>
            <a:ext cx="3028950" cy="541292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500" b="1" kern="1200" dirty="0">
                <a:solidFill>
                  <a:schemeClr val="bg1"/>
                </a:solidFill>
                <a:latin typeface="+mj-lt"/>
                <a:ea typeface="+mj-ea"/>
                <a:cs typeface="+mj-cs"/>
              </a:rPr>
              <a:t>How will we leverage the LDA?</a:t>
            </a:r>
          </a:p>
          <a:p>
            <a:pPr>
              <a:lnSpc>
                <a:spcPct val="90000"/>
              </a:lnSpc>
              <a:spcBef>
                <a:spcPct val="0"/>
              </a:spcBef>
              <a:spcAft>
                <a:spcPts val="600"/>
              </a:spcAft>
            </a:pPr>
            <a:endParaRPr lang="en-US" sz="3500" kern="1200" dirty="0">
              <a:solidFill>
                <a:schemeClr val="bg1"/>
              </a:solidFill>
              <a:latin typeface="+mj-lt"/>
              <a:ea typeface="+mj-ea"/>
              <a:cs typeface="+mj-cs"/>
            </a:endParaRPr>
          </a:p>
          <a:p>
            <a:pPr>
              <a:lnSpc>
                <a:spcPct val="90000"/>
              </a:lnSpc>
              <a:spcBef>
                <a:spcPct val="0"/>
              </a:spcBef>
              <a:spcAft>
                <a:spcPts val="600"/>
              </a:spcAft>
            </a:pPr>
            <a:endParaRPr lang="en-US" sz="3500" kern="1200" dirty="0">
              <a:solidFill>
                <a:schemeClr val="bg1"/>
              </a:solidFill>
              <a:latin typeface="+mj-lt"/>
              <a:ea typeface="+mj-ea"/>
              <a:cs typeface="+mj-cs"/>
            </a:endParaRPr>
          </a:p>
        </p:txBody>
      </p:sp>
      <p:graphicFrame>
        <p:nvGraphicFramePr>
          <p:cNvPr id="4" name="Diagram 3">
            <a:extLst>
              <a:ext uri="{FF2B5EF4-FFF2-40B4-BE49-F238E27FC236}">
                <a16:creationId xmlns:a16="http://schemas.microsoft.com/office/drawing/2014/main" id="{B8C9219B-DD00-483B-92B8-D60A23D2B182}"/>
              </a:ext>
            </a:extLst>
          </p:cNvPr>
          <p:cNvGraphicFramePr/>
          <p:nvPr>
            <p:extLst>
              <p:ext uri="{D42A27DB-BD31-4B8C-83A1-F6EECF244321}">
                <p14:modId xmlns:p14="http://schemas.microsoft.com/office/powerpoint/2010/main" val="247718852"/>
              </p:ext>
            </p:extLst>
          </p:nvPr>
        </p:nvGraphicFramePr>
        <p:xfrm>
          <a:off x="4370286" y="1904772"/>
          <a:ext cx="4291113"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a:extLst>
              <a:ext uri="{FF2B5EF4-FFF2-40B4-BE49-F238E27FC236}">
                <a16:creationId xmlns:a16="http://schemas.microsoft.com/office/drawing/2014/main" id="{253FCD60-4022-4D24-BCBA-5F804F70E6A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077729" y="624568"/>
            <a:ext cx="3601803" cy="900449"/>
          </a:xfrm>
          <a:prstGeom prst="rect">
            <a:avLst/>
          </a:prstGeom>
        </p:spPr>
      </p:pic>
    </p:spTree>
    <p:extLst>
      <p:ext uri="{BB962C8B-B14F-4D97-AF65-F5344CB8AC3E}">
        <p14:creationId xmlns:p14="http://schemas.microsoft.com/office/powerpoint/2010/main" val="4075667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5FA7C47-B7C1-4D2E-AB49-ED23BA34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6">
            <a:extLst>
              <a:ext uri="{FF2B5EF4-FFF2-40B4-BE49-F238E27FC236}">
                <a16:creationId xmlns:a16="http://schemas.microsoft.com/office/drawing/2014/main" id="{596EE156-ABF1-4329-A6BA-03B4254E0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390858" y="911116"/>
            <a:ext cx="515815"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Rectangle 8">
            <a:extLst>
              <a:ext uri="{FF2B5EF4-FFF2-40B4-BE49-F238E27FC236}">
                <a16:creationId xmlns:a16="http://schemas.microsoft.com/office/drawing/2014/main" id="{19B9933F-AAB3-444A-8BB5-9CA194A8B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1370435"/>
            <a:ext cx="395419"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7">
            <a:extLst>
              <a:ext uri="{FF2B5EF4-FFF2-40B4-BE49-F238E27FC236}">
                <a16:creationId xmlns:a16="http://schemas.microsoft.com/office/drawing/2014/main" id="{7D20183A-0B1D-4A1F-89B1-ADBEDBC6E5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600123" y="643467"/>
            <a:ext cx="307028"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Rectangle 8">
            <a:extLst>
              <a:ext uri="{FF2B5EF4-FFF2-40B4-BE49-F238E27FC236}">
                <a16:creationId xmlns:a16="http://schemas.microsoft.com/office/drawing/2014/main" id="{131031D3-26CD-4214-A9A4-5857EFA15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6646" y="644382"/>
            <a:ext cx="289201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Title 7">
            <a:extLst>
              <a:ext uri="{FF2B5EF4-FFF2-40B4-BE49-F238E27FC236}">
                <a16:creationId xmlns:a16="http://schemas.microsoft.com/office/drawing/2014/main" id="{08770592-B712-44DD-B2FE-A73F7F0C41DC}"/>
              </a:ext>
            </a:extLst>
          </p:cNvPr>
          <p:cNvSpPr>
            <a:spLocks noGrp="1"/>
          </p:cNvSpPr>
          <p:nvPr>
            <p:ph type="title"/>
          </p:nvPr>
        </p:nvSpPr>
        <p:spPr>
          <a:xfrm>
            <a:off x="860159" y="998002"/>
            <a:ext cx="2387205" cy="1471959"/>
          </a:xfrm>
        </p:spPr>
        <p:txBody>
          <a:bodyPr vert="horz" lIns="91440" tIns="45720" rIns="91440" bIns="45720" rtlCol="0" anchor="ctr">
            <a:normAutofit/>
          </a:bodyPr>
          <a:lstStyle/>
          <a:p>
            <a:pPr defTabSz="914400"/>
            <a:r>
              <a:rPr lang="en-US" sz="3100" b="1" kern="1200">
                <a:solidFill>
                  <a:srgbClr val="FFFFFF"/>
                </a:solidFill>
                <a:latin typeface="+mj-lt"/>
                <a:ea typeface="+mj-ea"/>
                <a:cs typeface="+mj-cs"/>
              </a:rPr>
              <a:t>Our Leadership Model</a:t>
            </a:r>
          </a:p>
        </p:txBody>
      </p:sp>
      <p:sp>
        <p:nvSpPr>
          <p:cNvPr id="6" name="TextBox 5">
            <a:extLst>
              <a:ext uri="{FF2B5EF4-FFF2-40B4-BE49-F238E27FC236}">
                <a16:creationId xmlns:a16="http://schemas.microsoft.com/office/drawing/2014/main" id="{D3A77AAE-CC96-44DF-B3EC-22A1FA238E6E}"/>
              </a:ext>
            </a:extLst>
          </p:cNvPr>
          <p:cNvSpPr txBox="1"/>
          <p:nvPr/>
        </p:nvSpPr>
        <p:spPr>
          <a:xfrm>
            <a:off x="490993" y="2546161"/>
            <a:ext cx="3001147" cy="2985929"/>
          </a:xfrm>
          <a:prstGeom prst="rect">
            <a:avLst/>
          </a:prstGeom>
        </p:spPr>
        <p:txBody>
          <a:bodyPr vert="horz" lIns="91440" tIns="45720" rIns="91440" bIns="45720" rtlCol="0" anchor="t">
            <a:normAutofit fontScale="92500" lnSpcReduction="10000"/>
          </a:bodyPr>
          <a:lstStyle/>
          <a:p>
            <a:pPr marL="285750" indent="-228600">
              <a:lnSpc>
                <a:spcPct val="90000"/>
              </a:lnSpc>
              <a:spcAft>
                <a:spcPts val="600"/>
              </a:spcAft>
              <a:buFont typeface="Arial" panose="020B0604020202020204" pitchFamily="34" charset="0"/>
              <a:buChar char="•"/>
            </a:pPr>
            <a:endParaRPr lang="en-US" sz="1600" dirty="0">
              <a:solidFill>
                <a:srgbClr val="FEFFFF"/>
              </a:solidFill>
            </a:endParaRPr>
          </a:p>
          <a:p>
            <a:pPr fontAlgn="ctr">
              <a:lnSpc>
                <a:spcPct val="90000"/>
              </a:lnSpc>
              <a:spcAft>
                <a:spcPts val="600"/>
              </a:spcAft>
              <a:defRPr/>
            </a:pPr>
            <a:r>
              <a:rPr lang="en-US" sz="1600" dirty="0">
                <a:solidFill>
                  <a:srgbClr val="FEFFFF"/>
                </a:solidFill>
              </a:rPr>
              <a:t>At Al-Futtaim, irrespective of whether one directly manages people or not, leaders are expected to:</a:t>
            </a:r>
            <a:br>
              <a:rPr lang="en-US" sz="1600" dirty="0">
                <a:solidFill>
                  <a:srgbClr val="FEFFFF"/>
                </a:solidFill>
              </a:rPr>
            </a:br>
            <a:endParaRPr lang="en-US" sz="1600" dirty="0">
              <a:solidFill>
                <a:srgbClr val="FEFFFF"/>
              </a:solidFill>
            </a:endParaRPr>
          </a:p>
          <a:p>
            <a:pPr marL="285750" indent="-228600" fontAlgn="ctr">
              <a:lnSpc>
                <a:spcPct val="90000"/>
              </a:lnSpc>
              <a:spcAft>
                <a:spcPts val="600"/>
              </a:spcAft>
              <a:buFont typeface="Arial" panose="020B0604020202020204" pitchFamily="34" charset="0"/>
              <a:buChar char="•"/>
              <a:defRPr/>
            </a:pPr>
            <a:r>
              <a:rPr lang="en-US" sz="1600" dirty="0">
                <a:solidFill>
                  <a:srgbClr val="FEFFFF"/>
                </a:solidFill>
              </a:rPr>
              <a:t>Grow the Business</a:t>
            </a:r>
          </a:p>
          <a:p>
            <a:pPr marL="285750" indent="-228600" fontAlgn="ctr">
              <a:lnSpc>
                <a:spcPct val="90000"/>
              </a:lnSpc>
              <a:spcAft>
                <a:spcPts val="600"/>
              </a:spcAft>
              <a:buFont typeface="Arial" panose="020B0604020202020204" pitchFamily="34" charset="0"/>
              <a:buChar char="•"/>
              <a:defRPr/>
            </a:pPr>
            <a:r>
              <a:rPr lang="en-US" sz="1600" dirty="0">
                <a:solidFill>
                  <a:srgbClr val="FEFFFF"/>
                </a:solidFill>
              </a:rPr>
              <a:t>Through Inspiring their People</a:t>
            </a:r>
          </a:p>
          <a:p>
            <a:pPr marL="285750" indent="-228600" fontAlgn="ctr">
              <a:lnSpc>
                <a:spcPct val="90000"/>
              </a:lnSpc>
              <a:spcAft>
                <a:spcPts val="600"/>
              </a:spcAft>
              <a:buFont typeface="Arial" panose="020B0604020202020204" pitchFamily="34" charset="0"/>
              <a:buChar char="•"/>
              <a:defRPr/>
            </a:pPr>
            <a:r>
              <a:rPr lang="en-US" sz="1600" dirty="0">
                <a:solidFill>
                  <a:srgbClr val="FEFFFF"/>
                </a:solidFill>
              </a:rPr>
              <a:t>And Activating Innovation</a:t>
            </a:r>
            <a:br>
              <a:rPr lang="en-US" sz="1600" dirty="0">
                <a:solidFill>
                  <a:srgbClr val="FEFFFF"/>
                </a:solidFill>
              </a:rPr>
            </a:br>
            <a:endParaRPr lang="en-US" sz="1600" dirty="0">
              <a:solidFill>
                <a:srgbClr val="FEFFFF"/>
              </a:solidFill>
            </a:endParaRPr>
          </a:p>
          <a:p>
            <a:pPr fontAlgn="ctr">
              <a:lnSpc>
                <a:spcPct val="90000"/>
              </a:lnSpc>
              <a:spcAft>
                <a:spcPts val="600"/>
              </a:spcAft>
              <a:defRPr/>
            </a:pPr>
            <a:br>
              <a:rPr lang="en-US" sz="1600" dirty="0">
                <a:solidFill>
                  <a:srgbClr val="FEFFFF"/>
                </a:solidFill>
              </a:rPr>
            </a:br>
            <a:r>
              <a:rPr lang="en-US" sz="1600" b="1" dirty="0">
                <a:solidFill>
                  <a:srgbClr val="FEFFFF"/>
                </a:solidFill>
              </a:rPr>
              <a:t>Our Leadership model hinges onto these three key expectations</a:t>
            </a:r>
            <a:r>
              <a:rPr lang="en-US" sz="1600" dirty="0">
                <a:solidFill>
                  <a:srgbClr val="FEFFFF"/>
                </a:solidFill>
              </a:rPr>
              <a:t>.</a:t>
            </a:r>
          </a:p>
          <a:p>
            <a:pPr marL="285750" indent="-228600">
              <a:lnSpc>
                <a:spcPct val="90000"/>
              </a:lnSpc>
              <a:spcAft>
                <a:spcPts val="600"/>
              </a:spcAft>
              <a:buFont typeface="Arial" panose="020B0604020202020204" pitchFamily="34" charset="0"/>
              <a:buChar char="•"/>
            </a:pPr>
            <a:endParaRPr lang="en-US" sz="1600" dirty="0">
              <a:solidFill>
                <a:srgbClr val="FEFFFF"/>
              </a:solidFill>
            </a:endParaRPr>
          </a:p>
          <a:p>
            <a:pPr indent="-228600">
              <a:lnSpc>
                <a:spcPct val="90000"/>
              </a:lnSpc>
              <a:spcAft>
                <a:spcPts val="600"/>
              </a:spcAft>
              <a:buFont typeface="Arial" panose="020B0604020202020204" pitchFamily="34" charset="0"/>
              <a:buChar char="•"/>
            </a:pPr>
            <a:endParaRPr lang="en-US" sz="1600" dirty="0">
              <a:solidFill>
                <a:srgbClr val="FEFFFF"/>
              </a:solidFill>
            </a:endParaRPr>
          </a:p>
          <a:p>
            <a:pPr indent="-228600">
              <a:lnSpc>
                <a:spcPct val="90000"/>
              </a:lnSpc>
              <a:spcAft>
                <a:spcPts val="600"/>
              </a:spcAft>
              <a:buFont typeface="Arial" panose="020B0604020202020204" pitchFamily="34" charset="0"/>
              <a:buChar char="•"/>
            </a:pPr>
            <a:endParaRPr lang="en-US" sz="1600" dirty="0">
              <a:solidFill>
                <a:srgbClr val="FEFFFF"/>
              </a:solidFill>
            </a:endParaRPr>
          </a:p>
          <a:p>
            <a:pPr indent="-228600">
              <a:lnSpc>
                <a:spcPct val="90000"/>
              </a:lnSpc>
              <a:spcAft>
                <a:spcPts val="600"/>
              </a:spcAft>
              <a:buFont typeface="Arial" panose="020B0604020202020204" pitchFamily="34" charset="0"/>
              <a:buChar char="•"/>
            </a:pPr>
            <a:endParaRPr lang="en-US" sz="1600" dirty="0">
              <a:solidFill>
                <a:srgbClr val="FEFFFF"/>
              </a:solidFill>
            </a:endParaRPr>
          </a:p>
          <a:p>
            <a:pPr indent="-228600">
              <a:lnSpc>
                <a:spcPct val="90000"/>
              </a:lnSpc>
              <a:spcAft>
                <a:spcPts val="600"/>
              </a:spcAft>
              <a:buFont typeface="Arial" panose="020B0604020202020204" pitchFamily="34" charset="0"/>
              <a:buChar char="•"/>
            </a:pPr>
            <a:endParaRPr lang="en-US" sz="1600" dirty="0">
              <a:solidFill>
                <a:srgbClr val="FEFFFF"/>
              </a:solidFill>
            </a:endParaRPr>
          </a:p>
        </p:txBody>
      </p:sp>
      <p:pic>
        <p:nvPicPr>
          <p:cNvPr id="29" name="Picture 28">
            <a:extLst>
              <a:ext uri="{FF2B5EF4-FFF2-40B4-BE49-F238E27FC236}">
                <a16:creationId xmlns:a16="http://schemas.microsoft.com/office/drawing/2014/main" id="{DD808CD7-E286-44FB-99D8-2907DDF84E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5044" y="-29737"/>
            <a:ext cx="3601803" cy="900449"/>
          </a:xfrm>
          <a:prstGeom prst="rect">
            <a:avLst/>
          </a:prstGeom>
        </p:spPr>
      </p:pic>
      <p:graphicFrame>
        <p:nvGraphicFramePr>
          <p:cNvPr id="31" name="Diagram 30">
            <a:extLst>
              <a:ext uri="{FF2B5EF4-FFF2-40B4-BE49-F238E27FC236}">
                <a16:creationId xmlns:a16="http://schemas.microsoft.com/office/drawing/2014/main" id="{84F98BAC-78B6-4321-B6B5-4C6DF9CCA3AB}"/>
              </a:ext>
            </a:extLst>
          </p:cNvPr>
          <p:cNvGraphicFramePr/>
          <p:nvPr>
            <p:extLst>
              <p:ext uri="{D42A27DB-BD31-4B8C-83A1-F6EECF244321}">
                <p14:modId xmlns:p14="http://schemas.microsoft.com/office/powerpoint/2010/main" val="3294610331"/>
              </p:ext>
            </p:extLst>
          </p:nvPr>
        </p:nvGraphicFramePr>
        <p:xfrm>
          <a:off x="3488664" y="1426095"/>
          <a:ext cx="6186207" cy="44996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Rectangle: Diagonal Corners Snipped 3">
            <a:extLst>
              <a:ext uri="{FF2B5EF4-FFF2-40B4-BE49-F238E27FC236}">
                <a16:creationId xmlns:a16="http://schemas.microsoft.com/office/drawing/2014/main" id="{EF802BC2-43C2-451D-8CA2-1BC553BFDF0E}"/>
              </a:ext>
            </a:extLst>
          </p:cNvPr>
          <p:cNvSpPr/>
          <p:nvPr/>
        </p:nvSpPr>
        <p:spPr>
          <a:xfrm>
            <a:off x="3665900" y="870712"/>
            <a:ext cx="1989438" cy="714708"/>
          </a:xfrm>
          <a:prstGeom prst="snip2Diag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Commercial Drive</a:t>
            </a:r>
          </a:p>
          <a:p>
            <a:pPr algn="ctr"/>
            <a:r>
              <a:rPr lang="en-US" sz="1400" dirty="0"/>
              <a:t>Goal Driven</a:t>
            </a:r>
          </a:p>
          <a:p>
            <a:pPr algn="ctr"/>
            <a:r>
              <a:rPr lang="en-US" sz="1400" dirty="0"/>
              <a:t>Managing Complexity</a:t>
            </a:r>
          </a:p>
        </p:txBody>
      </p:sp>
      <p:sp>
        <p:nvSpPr>
          <p:cNvPr id="36" name="Rectangle: Diagonal Corners Snipped 35">
            <a:extLst>
              <a:ext uri="{FF2B5EF4-FFF2-40B4-BE49-F238E27FC236}">
                <a16:creationId xmlns:a16="http://schemas.microsoft.com/office/drawing/2014/main" id="{10C1CC9B-A3ED-4D42-BD76-6D4C75AC55EA}"/>
              </a:ext>
            </a:extLst>
          </p:cNvPr>
          <p:cNvSpPr/>
          <p:nvPr/>
        </p:nvSpPr>
        <p:spPr>
          <a:xfrm>
            <a:off x="5761284" y="5890528"/>
            <a:ext cx="1820500" cy="756852"/>
          </a:xfrm>
          <a:prstGeom prst="snip2Diag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Influence and Challenge</a:t>
            </a:r>
            <a:br>
              <a:rPr lang="en-US" sz="1400" dirty="0"/>
            </a:br>
            <a:r>
              <a:rPr lang="en-US" sz="1400" dirty="0"/>
              <a:t>Engaging Leadership</a:t>
            </a:r>
          </a:p>
        </p:txBody>
      </p:sp>
      <p:sp>
        <p:nvSpPr>
          <p:cNvPr id="38" name="Rectangle: Diagonal Corners Snipped 37">
            <a:extLst>
              <a:ext uri="{FF2B5EF4-FFF2-40B4-BE49-F238E27FC236}">
                <a16:creationId xmlns:a16="http://schemas.microsoft.com/office/drawing/2014/main" id="{4D61CDD4-532E-48E4-A30E-C3F6328C6C7F}"/>
              </a:ext>
            </a:extLst>
          </p:cNvPr>
          <p:cNvSpPr/>
          <p:nvPr/>
        </p:nvSpPr>
        <p:spPr>
          <a:xfrm>
            <a:off x="7071499" y="870712"/>
            <a:ext cx="1989438" cy="728584"/>
          </a:xfrm>
          <a:prstGeom prst="snip2Diag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Customer Centricity</a:t>
            </a:r>
          </a:p>
          <a:p>
            <a:pPr algn="ctr"/>
            <a:r>
              <a:rPr lang="en-US" sz="1400" dirty="0"/>
              <a:t>Future Proofing</a:t>
            </a:r>
          </a:p>
          <a:p>
            <a:pPr algn="ctr"/>
            <a:r>
              <a:rPr lang="en-US" sz="1400" dirty="0"/>
              <a:t>Change Agile</a:t>
            </a:r>
          </a:p>
        </p:txBody>
      </p:sp>
    </p:spTree>
    <p:extLst>
      <p:ext uri="{BB962C8B-B14F-4D97-AF65-F5344CB8AC3E}">
        <p14:creationId xmlns:p14="http://schemas.microsoft.com/office/powerpoint/2010/main" val="2454461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50789A8F-4E06-464E-AD9E-AF20475DF872}"/>
              </a:ext>
            </a:extLst>
          </p:cNvPr>
          <p:cNvSpPr/>
          <p:nvPr/>
        </p:nvSpPr>
        <p:spPr>
          <a:xfrm>
            <a:off x="0" y="386711"/>
            <a:ext cx="9144000" cy="51435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extBox 2">
            <a:extLst>
              <a:ext uri="{FF2B5EF4-FFF2-40B4-BE49-F238E27FC236}">
                <a16:creationId xmlns:a16="http://schemas.microsoft.com/office/drawing/2014/main" id="{9327B834-D2A9-41CB-9CDB-CE16F9AC025B}"/>
              </a:ext>
            </a:extLst>
          </p:cNvPr>
          <p:cNvSpPr txBox="1"/>
          <p:nvPr/>
        </p:nvSpPr>
        <p:spPr>
          <a:xfrm>
            <a:off x="397565" y="640690"/>
            <a:ext cx="8348870" cy="438582"/>
          </a:xfrm>
          <a:prstGeom prst="rect">
            <a:avLst/>
          </a:prstGeom>
          <a:solidFill>
            <a:schemeClr val="bg1">
              <a:alpha val="66000"/>
            </a:schemeClr>
          </a:solidFill>
        </p:spPr>
        <p:txBody>
          <a:bodyPr wrap="square" rtlCol="0" anchor="ctr">
            <a:spAutoFit/>
          </a:bodyPr>
          <a:lstStyle/>
          <a:p>
            <a:pPr algn="ctr" defTabSz="685715">
              <a:defRPr/>
            </a:pPr>
            <a:r>
              <a:rPr lang="en-US" altLang="ko-KR" sz="2250" b="1" dirty="0">
                <a:solidFill>
                  <a:schemeClr val="accent1"/>
                </a:solidFill>
                <a:latin typeface="Calibri" panose="020F0502020204030204" pitchFamily="34" charset="0"/>
                <a:cs typeface="Calibri" panose="020F0502020204030204" pitchFamily="34" charset="0"/>
              </a:rPr>
              <a:t>AL-FUTTAIM LEADERSHIP COMPETENCY FRAMEWORK</a:t>
            </a:r>
          </a:p>
        </p:txBody>
      </p:sp>
      <p:sp>
        <p:nvSpPr>
          <p:cNvPr id="4" name="Rectangle: Rounded Corners 3">
            <a:extLst>
              <a:ext uri="{FF2B5EF4-FFF2-40B4-BE49-F238E27FC236}">
                <a16:creationId xmlns:a16="http://schemas.microsoft.com/office/drawing/2014/main" id="{9ED4E971-AACF-4C3C-B1C4-49354E241698}"/>
              </a:ext>
            </a:extLst>
          </p:cNvPr>
          <p:cNvSpPr/>
          <p:nvPr/>
        </p:nvSpPr>
        <p:spPr>
          <a:xfrm>
            <a:off x="248310" y="3786363"/>
            <a:ext cx="4483827" cy="1118485"/>
          </a:xfrm>
          <a:prstGeom prst="roundRect">
            <a:avLst>
              <a:gd name="adj" fmla="val 46419"/>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pitchFamily="34" charset="0"/>
              <a:cs typeface="Calibri" panose="020F0502020204030204" pitchFamily="34" charset="0"/>
            </a:endParaRPr>
          </a:p>
        </p:txBody>
      </p:sp>
      <p:sp>
        <p:nvSpPr>
          <p:cNvPr id="5" name="Rectangle: Rounded Corners 4">
            <a:extLst>
              <a:ext uri="{FF2B5EF4-FFF2-40B4-BE49-F238E27FC236}">
                <a16:creationId xmlns:a16="http://schemas.microsoft.com/office/drawing/2014/main" id="{594860DE-78BA-4BC2-9593-CE44BBD3A31F}"/>
              </a:ext>
            </a:extLst>
          </p:cNvPr>
          <p:cNvSpPr/>
          <p:nvPr/>
        </p:nvSpPr>
        <p:spPr>
          <a:xfrm>
            <a:off x="4422187" y="1899514"/>
            <a:ext cx="4626028" cy="617876"/>
          </a:xfrm>
          <a:prstGeom prst="roundRect">
            <a:avLst>
              <a:gd name="adj" fmla="val 46419"/>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15" fontAlgn="ctr">
              <a:defRPr/>
            </a:pPr>
            <a:endParaRPr lang="en-US" sz="1050" b="1" dirty="0">
              <a:solidFill>
                <a:prstClr val="white"/>
              </a:solidFill>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1EADB8E3-720F-4F87-9917-AB61C6964184}"/>
              </a:ext>
            </a:extLst>
          </p:cNvPr>
          <p:cNvSpPr/>
          <p:nvPr/>
        </p:nvSpPr>
        <p:spPr>
          <a:xfrm>
            <a:off x="5664404" y="3761908"/>
            <a:ext cx="3383810" cy="1110530"/>
          </a:xfrm>
          <a:prstGeom prst="roundRect">
            <a:avLst>
              <a:gd name="adj" fmla="val 46419"/>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15" fontAlgn="ctr">
              <a:defRPr/>
            </a:pPr>
            <a:endParaRPr lang="en-US" sz="1050" b="1" dirty="0">
              <a:solidFill>
                <a:prstClr val="white"/>
              </a:solidFill>
              <a:latin typeface="Calibri" panose="020F0502020204030204" pitchFamily="34" charset="0"/>
              <a:cs typeface="Calibri" panose="020F0502020204030204" pitchFamily="34" charset="0"/>
            </a:endParaRPr>
          </a:p>
        </p:txBody>
      </p:sp>
      <p:sp>
        <p:nvSpPr>
          <p:cNvPr id="7" name="Rectangle: Rounded Corners 6">
            <a:extLst>
              <a:ext uri="{FF2B5EF4-FFF2-40B4-BE49-F238E27FC236}">
                <a16:creationId xmlns:a16="http://schemas.microsoft.com/office/drawing/2014/main" id="{DB430941-8037-484C-8B7F-0B24DC57E357}"/>
              </a:ext>
            </a:extLst>
          </p:cNvPr>
          <p:cNvSpPr/>
          <p:nvPr/>
        </p:nvSpPr>
        <p:spPr>
          <a:xfrm>
            <a:off x="4806542" y="4945459"/>
            <a:ext cx="4353598" cy="916961"/>
          </a:xfrm>
          <a:prstGeom prst="roundRect">
            <a:avLst>
              <a:gd name="adj" fmla="val 46419"/>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pitchFamily="34" charset="0"/>
              <a:cs typeface="Calibri" panose="020F0502020204030204" pitchFamily="34" charset="0"/>
            </a:endParaRPr>
          </a:p>
        </p:txBody>
      </p:sp>
      <p:sp>
        <p:nvSpPr>
          <p:cNvPr id="8" name="Rectangle: Rounded Corners 7">
            <a:extLst>
              <a:ext uri="{FF2B5EF4-FFF2-40B4-BE49-F238E27FC236}">
                <a16:creationId xmlns:a16="http://schemas.microsoft.com/office/drawing/2014/main" id="{EA489E8A-C3D5-40BC-AE46-C9E827FB676D}"/>
              </a:ext>
            </a:extLst>
          </p:cNvPr>
          <p:cNvSpPr/>
          <p:nvPr/>
        </p:nvSpPr>
        <p:spPr>
          <a:xfrm>
            <a:off x="187107" y="4932383"/>
            <a:ext cx="4310969" cy="888094"/>
          </a:xfrm>
          <a:prstGeom prst="roundRect">
            <a:avLst>
              <a:gd name="adj" fmla="val 46419"/>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198B9312-F6F2-404E-B778-5FFB751A5DC4}"/>
              </a:ext>
            </a:extLst>
          </p:cNvPr>
          <p:cNvSpPr/>
          <p:nvPr/>
        </p:nvSpPr>
        <p:spPr>
          <a:xfrm>
            <a:off x="217148" y="2605981"/>
            <a:ext cx="4547533" cy="1118485"/>
          </a:xfrm>
          <a:prstGeom prst="roundRect">
            <a:avLst>
              <a:gd name="adj" fmla="val 46419"/>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pitchFamily="34" charset="0"/>
              <a:cs typeface="Calibri" panose="020F0502020204030204" pitchFamily="34" charset="0"/>
            </a:endParaRPr>
          </a:p>
        </p:txBody>
      </p:sp>
      <p:sp>
        <p:nvSpPr>
          <p:cNvPr id="10" name="Rectangle: Rounded Corners 9">
            <a:extLst>
              <a:ext uri="{FF2B5EF4-FFF2-40B4-BE49-F238E27FC236}">
                <a16:creationId xmlns:a16="http://schemas.microsoft.com/office/drawing/2014/main" id="{612A4086-8867-484B-B9C2-B8B5C51BE0C5}"/>
              </a:ext>
            </a:extLst>
          </p:cNvPr>
          <p:cNvSpPr/>
          <p:nvPr/>
        </p:nvSpPr>
        <p:spPr>
          <a:xfrm>
            <a:off x="217148" y="1896037"/>
            <a:ext cx="4472213" cy="643815"/>
          </a:xfrm>
          <a:prstGeom prst="roundRect">
            <a:avLst>
              <a:gd name="adj" fmla="val 46419"/>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pitchFamily="34" charset="0"/>
              <a:cs typeface="Calibri" panose="020F0502020204030204" pitchFamily="34" charset="0"/>
            </a:endParaRPr>
          </a:p>
        </p:txBody>
      </p:sp>
      <p:sp>
        <p:nvSpPr>
          <p:cNvPr id="11" name="Rectangle: Rounded Corners 10">
            <a:extLst>
              <a:ext uri="{FF2B5EF4-FFF2-40B4-BE49-F238E27FC236}">
                <a16:creationId xmlns:a16="http://schemas.microsoft.com/office/drawing/2014/main" id="{7D49D7F6-6665-4E46-BBF3-6799437685E0}"/>
              </a:ext>
            </a:extLst>
          </p:cNvPr>
          <p:cNvSpPr/>
          <p:nvPr/>
        </p:nvSpPr>
        <p:spPr>
          <a:xfrm>
            <a:off x="4930246" y="2586950"/>
            <a:ext cx="4213754" cy="1108068"/>
          </a:xfrm>
          <a:prstGeom prst="roundRect">
            <a:avLst>
              <a:gd name="adj" fmla="val 46419"/>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5FA6E5F4-CC22-4F75-99B4-35DCE0756A25}"/>
              </a:ext>
            </a:extLst>
          </p:cNvPr>
          <p:cNvSpPr/>
          <p:nvPr/>
        </p:nvSpPr>
        <p:spPr>
          <a:xfrm>
            <a:off x="541633" y="1983827"/>
            <a:ext cx="2710046" cy="553998"/>
          </a:xfrm>
          <a:prstGeom prst="rect">
            <a:avLst/>
          </a:prstGeom>
        </p:spPr>
        <p:txBody>
          <a:bodyPr wrap="square">
            <a:spAutoFit/>
          </a:bodyPr>
          <a:lstStyle/>
          <a:p>
            <a:pPr defTabSz="685715" fontAlgn="ctr">
              <a:buSzPts val="1000"/>
              <a:tabLst>
                <a:tab pos="342900" algn="l"/>
              </a:tabLst>
              <a:defRPr/>
            </a:pPr>
            <a:r>
              <a:rPr lang="en-US" sz="1000" dirty="0">
                <a:solidFill>
                  <a:prstClr val="black"/>
                </a:solidFill>
                <a:latin typeface="Calibri" panose="020F0502020204030204" pitchFamily="34" charset="0"/>
                <a:cs typeface="Calibri" panose="020F0502020204030204" pitchFamily="34" charset="0"/>
              </a:rPr>
              <a:t>Works to delight internal and external customers with exceptional service and products, acting as a trusted advisor</a:t>
            </a:r>
          </a:p>
        </p:txBody>
      </p:sp>
      <p:sp>
        <p:nvSpPr>
          <p:cNvPr id="13" name="Oval 12">
            <a:extLst>
              <a:ext uri="{FF2B5EF4-FFF2-40B4-BE49-F238E27FC236}">
                <a16:creationId xmlns:a16="http://schemas.microsoft.com/office/drawing/2014/main" id="{E925AF81-E64A-4000-886E-1ED626A127CB}"/>
              </a:ext>
            </a:extLst>
          </p:cNvPr>
          <p:cNvSpPr/>
          <p:nvPr/>
        </p:nvSpPr>
        <p:spPr>
          <a:xfrm>
            <a:off x="2721130" y="1766768"/>
            <a:ext cx="3936257" cy="393625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500" dirty="0">
              <a:solidFill>
                <a:prstClr val="white"/>
              </a:solidFill>
              <a:latin typeface="Calibri" panose="020F0502020204030204" pitchFamily="34" charset="0"/>
              <a:cs typeface="Calibri" panose="020F0502020204030204" pitchFamily="34" charset="0"/>
            </a:endParaRPr>
          </a:p>
        </p:txBody>
      </p:sp>
      <p:grpSp>
        <p:nvGrpSpPr>
          <p:cNvPr id="14" name="Group 13">
            <a:extLst>
              <a:ext uri="{FF2B5EF4-FFF2-40B4-BE49-F238E27FC236}">
                <a16:creationId xmlns:a16="http://schemas.microsoft.com/office/drawing/2014/main" id="{EFB27A46-DD0A-4D5F-9A2D-5AA5410262E4}"/>
              </a:ext>
            </a:extLst>
          </p:cNvPr>
          <p:cNvGrpSpPr/>
          <p:nvPr/>
        </p:nvGrpSpPr>
        <p:grpSpPr>
          <a:xfrm>
            <a:off x="3750040" y="2846128"/>
            <a:ext cx="1866545" cy="1866545"/>
            <a:chOff x="4851632" y="2184636"/>
            <a:chExt cx="2488727" cy="2488727"/>
          </a:xfrm>
        </p:grpSpPr>
        <p:sp>
          <p:nvSpPr>
            <p:cNvPr id="15" name="Oval 14">
              <a:extLst>
                <a:ext uri="{FF2B5EF4-FFF2-40B4-BE49-F238E27FC236}">
                  <a16:creationId xmlns:a16="http://schemas.microsoft.com/office/drawing/2014/main" id="{A9CC1E0B-8E66-4277-B010-98DD553838C8}"/>
                </a:ext>
              </a:extLst>
            </p:cNvPr>
            <p:cNvSpPr/>
            <p:nvPr/>
          </p:nvSpPr>
          <p:spPr>
            <a:xfrm>
              <a:off x="5287790" y="2620794"/>
              <a:ext cx="1616412" cy="1616412"/>
            </a:xfrm>
            <a:prstGeom prst="ellipse">
              <a:avLst/>
            </a:prstGeom>
            <a:noFill/>
            <a:ln w="76200">
              <a:solidFill>
                <a:srgbClr val="2B4A99"/>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500" dirty="0">
                <a:solidFill>
                  <a:prstClr val="white"/>
                </a:solidFill>
                <a:latin typeface="Calibri" panose="020F0502020204030204" pitchFamily="34" charset="0"/>
                <a:cs typeface="Calibri" panose="020F0502020204030204" pitchFamily="34" charset="0"/>
              </a:endParaRPr>
            </a:p>
          </p:txBody>
        </p:sp>
        <p:pic>
          <p:nvPicPr>
            <p:cNvPr id="16" name="Picture 15">
              <a:extLst>
                <a:ext uri="{FF2B5EF4-FFF2-40B4-BE49-F238E27FC236}">
                  <a16:creationId xmlns:a16="http://schemas.microsoft.com/office/drawing/2014/main" id="{62F2D6E9-B7BD-428D-9874-841FCB5C104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57805" y="2962725"/>
              <a:ext cx="909866" cy="885603"/>
            </a:xfrm>
            <a:prstGeom prst="rect">
              <a:avLst/>
            </a:prstGeom>
          </p:spPr>
        </p:pic>
        <p:sp>
          <p:nvSpPr>
            <p:cNvPr id="17" name="Circle: Hollow 16">
              <a:extLst>
                <a:ext uri="{FF2B5EF4-FFF2-40B4-BE49-F238E27FC236}">
                  <a16:creationId xmlns:a16="http://schemas.microsoft.com/office/drawing/2014/main" id="{B2A4B1D5-0A30-496C-B753-6E7BEC09A303}"/>
                </a:ext>
              </a:extLst>
            </p:cNvPr>
            <p:cNvSpPr/>
            <p:nvPr/>
          </p:nvSpPr>
          <p:spPr>
            <a:xfrm>
              <a:off x="4851632" y="2184636"/>
              <a:ext cx="2488727" cy="2488727"/>
            </a:xfrm>
            <a:prstGeom prst="donut">
              <a:avLst>
                <a:gd name="adj" fmla="val 13292"/>
              </a:avLst>
            </a:prstGeom>
            <a:solidFill>
              <a:schemeClr val="accent1">
                <a:lumMod val="75000"/>
              </a:schemeClr>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500" dirty="0">
                <a:solidFill>
                  <a:prstClr val="black"/>
                </a:solidFill>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1225446-389F-4689-9768-7E4162979363}"/>
                </a:ext>
              </a:extLst>
            </p:cNvPr>
            <p:cNvSpPr/>
            <p:nvPr/>
          </p:nvSpPr>
          <p:spPr>
            <a:xfrm rot="21309999">
              <a:off x="5348083" y="2392334"/>
              <a:ext cx="1321181" cy="555806"/>
            </a:xfrm>
            <a:prstGeom prst="rect">
              <a:avLst/>
            </a:prstGeom>
          </p:spPr>
          <p:txBody>
            <a:bodyPr wrap="square">
              <a:prstTxWarp prst="textArchUp">
                <a:avLst>
                  <a:gd name="adj" fmla="val 11057518"/>
                </a:avLst>
              </a:prstTxWarp>
              <a:spAutoFit/>
            </a:bodyPr>
            <a:lstStyle/>
            <a:p>
              <a:pPr algn="ctr" defTabSz="685800">
                <a:defRPr/>
              </a:pPr>
              <a:r>
                <a:rPr lang="en-US" sz="2100" b="1" dirty="0">
                  <a:solidFill>
                    <a:prstClr val="white"/>
                  </a:solidFill>
                  <a:latin typeface="Calibri" panose="020F0502020204030204" pitchFamily="34" charset="0"/>
                  <a:cs typeface="Calibri" panose="020F0502020204030204" pitchFamily="34" charset="0"/>
                </a:rPr>
                <a:t>We value Respect </a:t>
              </a:r>
            </a:p>
          </p:txBody>
        </p:sp>
        <p:sp>
          <p:nvSpPr>
            <p:cNvPr id="19" name="Rectangle 18">
              <a:extLst>
                <a:ext uri="{FF2B5EF4-FFF2-40B4-BE49-F238E27FC236}">
                  <a16:creationId xmlns:a16="http://schemas.microsoft.com/office/drawing/2014/main" id="{04C0C565-3D15-45AB-A040-EB291D3F4985}"/>
                </a:ext>
              </a:extLst>
            </p:cNvPr>
            <p:cNvSpPr/>
            <p:nvPr/>
          </p:nvSpPr>
          <p:spPr>
            <a:xfrm rot="5400000">
              <a:off x="5963282" y="3066057"/>
              <a:ext cx="1555639" cy="713440"/>
            </a:xfrm>
            <a:prstGeom prst="rect">
              <a:avLst/>
            </a:prstGeom>
          </p:spPr>
          <p:txBody>
            <a:bodyPr wrap="square">
              <a:prstTxWarp prst="textArchUp">
                <a:avLst>
                  <a:gd name="adj" fmla="val 11323613"/>
                </a:avLst>
              </a:prstTxWarp>
              <a:spAutoFit/>
            </a:bodyPr>
            <a:lstStyle/>
            <a:p>
              <a:pPr algn="ctr" defTabSz="685800">
                <a:defRPr/>
              </a:pPr>
              <a:r>
                <a:rPr lang="en-US" sz="2100" b="1" dirty="0">
                  <a:solidFill>
                    <a:prstClr val="white"/>
                  </a:solidFill>
                  <a:latin typeface="Calibri" panose="020F0502020204030204" pitchFamily="34" charset="0"/>
                  <a:cs typeface="Calibri" panose="020F0502020204030204" pitchFamily="34" charset="0"/>
                </a:rPr>
                <a:t>We value Collaboration </a:t>
              </a:r>
            </a:p>
          </p:txBody>
        </p:sp>
        <p:sp>
          <p:nvSpPr>
            <p:cNvPr id="20" name="Rectangle 19">
              <a:extLst>
                <a:ext uri="{FF2B5EF4-FFF2-40B4-BE49-F238E27FC236}">
                  <a16:creationId xmlns:a16="http://schemas.microsoft.com/office/drawing/2014/main" id="{ACE2DE04-15C0-40F3-BAD2-2A98FEEBF688}"/>
                </a:ext>
              </a:extLst>
            </p:cNvPr>
            <p:cNvSpPr/>
            <p:nvPr/>
          </p:nvSpPr>
          <p:spPr>
            <a:xfrm rot="4875791">
              <a:off x="4627513" y="3158565"/>
              <a:ext cx="1456528" cy="671270"/>
            </a:xfrm>
            <a:prstGeom prst="rect">
              <a:avLst/>
            </a:prstGeom>
          </p:spPr>
          <p:txBody>
            <a:bodyPr wrap="square">
              <a:prstTxWarp prst="textArchDown">
                <a:avLst>
                  <a:gd name="adj" fmla="val 1405976"/>
                </a:avLst>
              </a:prstTxWarp>
              <a:spAutoFit/>
            </a:bodyPr>
            <a:lstStyle/>
            <a:p>
              <a:pPr algn="ctr" defTabSz="685800">
                <a:defRPr/>
              </a:pPr>
              <a:r>
                <a:rPr lang="en-US" sz="2100" b="1" dirty="0">
                  <a:solidFill>
                    <a:prstClr val="white"/>
                  </a:solidFill>
                  <a:latin typeface="Calibri" panose="020F0502020204030204" pitchFamily="34" charset="0"/>
                  <a:cs typeface="Calibri" panose="020F0502020204030204" pitchFamily="34" charset="0"/>
                </a:rPr>
                <a:t>We value Integrity </a:t>
              </a:r>
            </a:p>
          </p:txBody>
        </p:sp>
        <p:sp>
          <p:nvSpPr>
            <p:cNvPr id="21" name="Rectangle 20">
              <a:extLst>
                <a:ext uri="{FF2B5EF4-FFF2-40B4-BE49-F238E27FC236}">
                  <a16:creationId xmlns:a16="http://schemas.microsoft.com/office/drawing/2014/main" id="{B2D8E0BF-4130-4F1E-BB92-A9D72689AA76}"/>
                </a:ext>
              </a:extLst>
            </p:cNvPr>
            <p:cNvSpPr/>
            <p:nvPr/>
          </p:nvSpPr>
          <p:spPr>
            <a:xfrm>
              <a:off x="5382931" y="3771497"/>
              <a:ext cx="1413192" cy="776737"/>
            </a:xfrm>
            <a:prstGeom prst="rect">
              <a:avLst/>
            </a:prstGeom>
          </p:spPr>
          <p:txBody>
            <a:bodyPr wrap="square">
              <a:prstTxWarp prst="textArchDown">
                <a:avLst>
                  <a:gd name="adj" fmla="val 988236"/>
                </a:avLst>
              </a:prstTxWarp>
              <a:spAutoFit/>
            </a:bodyPr>
            <a:lstStyle/>
            <a:p>
              <a:pPr algn="ctr" defTabSz="685800">
                <a:defRPr/>
              </a:pPr>
              <a:r>
                <a:rPr lang="en-US" sz="2100" b="1" dirty="0">
                  <a:solidFill>
                    <a:prstClr val="white"/>
                  </a:solidFill>
                  <a:latin typeface="Calibri" panose="020F0502020204030204" pitchFamily="34" charset="0"/>
                  <a:cs typeface="Calibri" panose="020F0502020204030204" pitchFamily="34" charset="0"/>
                </a:rPr>
                <a:t>We value Excellence </a:t>
              </a:r>
            </a:p>
          </p:txBody>
        </p:sp>
      </p:grpSp>
      <p:sp>
        <p:nvSpPr>
          <p:cNvPr id="22" name="Block Arc 21">
            <a:extLst>
              <a:ext uri="{FF2B5EF4-FFF2-40B4-BE49-F238E27FC236}">
                <a16:creationId xmlns:a16="http://schemas.microsoft.com/office/drawing/2014/main" id="{67AF4D04-D48D-41E6-B767-B0B22B6133D6}"/>
              </a:ext>
            </a:extLst>
          </p:cNvPr>
          <p:cNvSpPr/>
          <p:nvPr/>
        </p:nvSpPr>
        <p:spPr>
          <a:xfrm rot="14982772">
            <a:off x="2963341" y="2030604"/>
            <a:ext cx="3439949" cy="3439949"/>
          </a:xfrm>
          <a:prstGeom prst="blockArc">
            <a:avLst>
              <a:gd name="adj1" fmla="val 20050826"/>
              <a:gd name="adj2" fmla="val 1122482"/>
              <a:gd name="adj3" fmla="val 20941"/>
            </a:avLst>
          </a:prstGeom>
          <a:solidFill>
            <a:schemeClr val="accent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500" dirty="0">
              <a:solidFill>
                <a:prstClr val="black"/>
              </a:solidFill>
              <a:latin typeface="Calibri" panose="020F0502020204030204" pitchFamily="34" charset="0"/>
              <a:cs typeface="Calibri" panose="020F0502020204030204" pitchFamily="34" charset="0"/>
            </a:endParaRPr>
          </a:p>
        </p:txBody>
      </p:sp>
      <p:sp>
        <p:nvSpPr>
          <p:cNvPr id="23" name="Block Arc 22">
            <a:extLst>
              <a:ext uri="{FF2B5EF4-FFF2-40B4-BE49-F238E27FC236}">
                <a16:creationId xmlns:a16="http://schemas.microsoft.com/office/drawing/2014/main" id="{0996811F-F4E4-4BC5-89BF-A13903A5AA9F}"/>
              </a:ext>
            </a:extLst>
          </p:cNvPr>
          <p:cNvSpPr/>
          <p:nvPr/>
        </p:nvSpPr>
        <p:spPr>
          <a:xfrm rot="12776278">
            <a:off x="2963334" y="2030604"/>
            <a:ext cx="3439949" cy="3439949"/>
          </a:xfrm>
          <a:prstGeom prst="blockArc">
            <a:avLst>
              <a:gd name="adj1" fmla="val 19678662"/>
              <a:gd name="adj2" fmla="val 479576"/>
              <a:gd name="adj3" fmla="val 20656"/>
            </a:avLst>
          </a:prstGeom>
          <a:solidFill>
            <a:schemeClr val="accent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500" dirty="0">
              <a:solidFill>
                <a:prstClr val="black"/>
              </a:solidFill>
              <a:latin typeface="Calibri" panose="020F0502020204030204" pitchFamily="34" charset="0"/>
              <a:cs typeface="Calibri" panose="020F0502020204030204" pitchFamily="34" charset="0"/>
            </a:endParaRPr>
          </a:p>
        </p:txBody>
      </p:sp>
      <p:sp>
        <p:nvSpPr>
          <p:cNvPr id="24" name="Block Arc 23">
            <a:extLst>
              <a:ext uri="{FF2B5EF4-FFF2-40B4-BE49-F238E27FC236}">
                <a16:creationId xmlns:a16="http://schemas.microsoft.com/office/drawing/2014/main" id="{24B9603F-8EEF-4A8B-B88B-D8BE49503967}"/>
              </a:ext>
            </a:extLst>
          </p:cNvPr>
          <p:cNvSpPr/>
          <p:nvPr/>
        </p:nvSpPr>
        <p:spPr>
          <a:xfrm rot="9066691">
            <a:off x="2963333" y="2030603"/>
            <a:ext cx="3439949" cy="3439949"/>
          </a:xfrm>
          <a:prstGeom prst="blockArc">
            <a:avLst>
              <a:gd name="adj1" fmla="val 20665369"/>
              <a:gd name="adj2" fmla="val 1638956"/>
              <a:gd name="adj3" fmla="val 21073"/>
            </a:avLst>
          </a:prstGeom>
          <a:solidFill>
            <a:schemeClr val="accent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685800">
              <a:defRPr/>
            </a:pPr>
            <a:endParaRPr lang="en-US" sz="1500" dirty="0">
              <a:solidFill>
                <a:prstClr val="black"/>
              </a:solidFill>
              <a:latin typeface="Calibri" panose="020F0502020204030204" pitchFamily="34" charset="0"/>
              <a:cs typeface="Calibri" panose="020F0502020204030204" pitchFamily="34" charset="0"/>
            </a:endParaRPr>
          </a:p>
        </p:txBody>
      </p:sp>
      <p:sp>
        <p:nvSpPr>
          <p:cNvPr id="25" name="Block Arc 24">
            <a:extLst>
              <a:ext uri="{FF2B5EF4-FFF2-40B4-BE49-F238E27FC236}">
                <a16:creationId xmlns:a16="http://schemas.microsoft.com/office/drawing/2014/main" id="{00D4CBDD-5572-411E-9E3C-2799D37E6FEE}"/>
              </a:ext>
            </a:extLst>
          </p:cNvPr>
          <p:cNvSpPr/>
          <p:nvPr/>
        </p:nvSpPr>
        <p:spPr>
          <a:xfrm rot="5635935">
            <a:off x="2963332" y="2052120"/>
            <a:ext cx="3439949" cy="3439949"/>
          </a:xfrm>
          <a:prstGeom prst="blockArc">
            <a:avLst>
              <a:gd name="adj1" fmla="val 18563049"/>
              <a:gd name="adj2" fmla="val 21306252"/>
              <a:gd name="adj3" fmla="val 21157"/>
            </a:avLst>
          </a:prstGeom>
          <a:solidFill>
            <a:schemeClr val="accent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500" dirty="0">
              <a:solidFill>
                <a:prstClr val="black"/>
              </a:solidFill>
              <a:latin typeface="Calibri" panose="020F0502020204030204" pitchFamily="34" charset="0"/>
              <a:cs typeface="Calibri" panose="020F0502020204030204" pitchFamily="34" charset="0"/>
            </a:endParaRPr>
          </a:p>
        </p:txBody>
      </p:sp>
      <p:sp>
        <p:nvSpPr>
          <p:cNvPr id="26" name="Block Arc 25">
            <a:extLst>
              <a:ext uri="{FF2B5EF4-FFF2-40B4-BE49-F238E27FC236}">
                <a16:creationId xmlns:a16="http://schemas.microsoft.com/office/drawing/2014/main" id="{57FB2004-A744-496D-A5C5-294101B036C4}"/>
              </a:ext>
            </a:extLst>
          </p:cNvPr>
          <p:cNvSpPr/>
          <p:nvPr/>
        </p:nvSpPr>
        <p:spPr>
          <a:xfrm rot="1734070">
            <a:off x="2967024" y="2036548"/>
            <a:ext cx="3439949" cy="3439949"/>
          </a:xfrm>
          <a:prstGeom prst="blockArc">
            <a:avLst>
              <a:gd name="adj1" fmla="val 19923999"/>
              <a:gd name="adj2" fmla="val 765153"/>
              <a:gd name="adj3" fmla="val 20732"/>
            </a:avLst>
          </a:prstGeom>
          <a:solidFill>
            <a:schemeClr val="accent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500" dirty="0">
              <a:solidFill>
                <a:prstClr val="black"/>
              </a:solidFill>
              <a:latin typeface="Calibri" panose="020F0502020204030204" pitchFamily="34" charset="0"/>
              <a:cs typeface="Calibri" panose="020F0502020204030204" pitchFamily="34" charset="0"/>
            </a:endParaRPr>
          </a:p>
        </p:txBody>
      </p:sp>
      <p:sp>
        <p:nvSpPr>
          <p:cNvPr id="27" name="Block Arc 26">
            <a:extLst>
              <a:ext uri="{FF2B5EF4-FFF2-40B4-BE49-F238E27FC236}">
                <a16:creationId xmlns:a16="http://schemas.microsoft.com/office/drawing/2014/main" id="{F9B080A4-1D85-468D-932F-BB128A52AE13}"/>
              </a:ext>
            </a:extLst>
          </p:cNvPr>
          <p:cNvSpPr/>
          <p:nvPr/>
        </p:nvSpPr>
        <p:spPr>
          <a:xfrm rot="20556388">
            <a:off x="2963341" y="2030605"/>
            <a:ext cx="3439949" cy="3439949"/>
          </a:xfrm>
          <a:prstGeom prst="blockArc">
            <a:avLst>
              <a:gd name="adj1" fmla="val 20219796"/>
              <a:gd name="adj2" fmla="val 871660"/>
              <a:gd name="adj3" fmla="val 20618"/>
            </a:avLst>
          </a:prstGeom>
          <a:solidFill>
            <a:schemeClr val="accent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500" dirty="0">
              <a:solidFill>
                <a:prstClr val="black"/>
              </a:solidFill>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57885D0E-2A47-4E9B-9733-49BF344CC97A}"/>
              </a:ext>
            </a:extLst>
          </p:cNvPr>
          <p:cNvSpPr txBox="1"/>
          <p:nvPr/>
        </p:nvSpPr>
        <p:spPr>
          <a:xfrm>
            <a:off x="5527632" y="4067395"/>
            <a:ext cx="772307" cy="400110"/>
          </a:xfrm>
          <a:prstGeom prst="rect">
            <a:avLst/>
          </a:prstGeom>
          <a:noFill/>
        </p:spPr>
        <p:txBody>
          <a:bodyPr wrap="square" rtlCol="0">
            <a:spAutoFit/>
          </a:bodyPr>
          <a:lstStyle/>
          <a:p>
            <a:pPr algn="ctr" defTabSz="685715">
              <a:buSzPts val="1000"/>
              <a:tabLst>
                <a:tab pos="342900" algn="l"/>
              </a:tabLst>
              <a:defRPr/>
            </a:pPr>
            <a:r>
              <a:rPr lang="en-US" sz="1000" b="1" dirty="0">
                <a:solidFill>
                  <a:prstClr val="white"/>
                </a:solidFill>
                <a:latin typeface="Calibri" panose="020F0502020204030204" pitchFamily="34" charset="0"/>
                <a:cs typeface="Calibri" panose="020F0502020204030204" pitchFamily="34" charset="0"/>
              </a:rPr>
              <a:t>Engaging Leadership</a:t>
            </a:r>
          </a:p>
        </p:txBody>
      </p:sp>
      <p:sp>
        <p:nvSpPr>
          <p:cNvPr id="29" name="TextBox 28">
            <a:extLst>
              <a:ext uri="{FF2B5EF4-FFF2-40B4-BE49-F238E27FC236}">
                <a16:creationId xmlns:a16="http://schemas.microsoft.com/office/drawing/2014/main" id="{09B18BE4-EC9C-418F-B85D-BF12953FF0F3}"/>
              </a:ext>
            </a:extLst>
          </p:cNvPr>
          <p:cNvSpPr txBox="1"/>
          <p:nvPr/>
        </p:nvSpPr>
        <p:spPr>
          <a:xfrm>
            <a:off x="3718604" y="2328272"/>
            <a:ext cx="726518" cy="415498"/>
          </a:xfrm>
          <a:prstGeom prst="rect">
            <a:avLst/>
          </a:prstGeom>
          <a:noFill/>
        </p:spPr>
        <p:txBody>
          <a:bodyPr wrap="square" rtlCol="0">
            <a:spAutoFit/>
          </a:bodyPr>
          <a:lstStyle/>
          <a:p>
            <a:pPr algn="ctr" defTabSz="685715">
              <a:buSzPts val="1000"/>
              <a:tabLst>
                <a:tab pos="342900" algn="l"/>
              </a:tabLst>
              <a:defRPr/>
            </a:pPr>
            <a:r>
              <a:rPr lang="en-US" sz="1050" b="1" dirty="0">
                <a:solidFill>
                  <a:prstClr val="white"/>
                </a:solidFill>
                <a:latin typeface="Calibri" panose="020F0502020204030204" pitchFamily="34" charset="0"/>
                <a:cs typeface="Calibri" panose="020F0502020204030204" pitchFamily="34" charset="0"/>
              </a:rPr>
              <a:t>Customer centricity</a:t>
            </a:r>
            <a:endParaRPr lang="en-US" sz="1050" dirty="0">
              <a:solidFill>
                <a:prstClr val="white"/>
              </a:solidFill>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DFF0CB65-0140-43F3-B565-DFE31F1AF45C}"/>
              </a:ext>
            </a:extLst>
          </p:cNvPr>
          <p:cNvSpPr txBox="1"/>
          <p:nvPr/>
        </p:nvSpPr>
        <p:spPr>
          <a:xfrm>
            <a:off x="2939325" y="3066118"/>
            <a:ext cx="833883" cy="415498"/>
          </a:xfrm>
          <a:prstGeom prst="rect">
            <a:avLst/>
          </a:prstGeom>
          <a:noFill/>
        </p:spPr>
        <p:txBody>
          <a:bodyPr wrap="square" rtlCol="0">
            <a:spAutoFit/>
          </a:bodyPr>
          <a:lstStyle/>
          <a:p>
            <a:pPr algn="ctr" defTabSz="685715">
              <a:buSzPts val="1000"/>
              <a:tabLst>
                <a:tab pos="342900" algn="l"/>
              </a:tabLst>
              <a:defRPr/>
            </a:pPr>
            <a:r>
              <a:rPr lang="en-US" sz="1050" b="1" dirty="0">
                <a:solidFill>
                  <a:prstClr val="white"/>
                </a:solidFill>
                <a:latin typeface="Calibri" panose="020F0502020204030204" pitchFamily="34" charset="0"/>
                <a:cs typeface="Calibri" panose="020F0502020204030204" pitchFamily="34" charset="0"/>
              </a:rPr>
              <a:t>Goal </a:t>
            </a:r>
            <a:br>
              <a:rPr lang="en-US" sz="1050" b="1" dirty="0">
                <a:solidFill>
                  <a:prstClr val="white"/>
                </a:solidFill>
                <a:latin typeface="Calibri" panose="020F0502020204030204" pitchFamily="34" charset="0"/>
                <a:cs typeface="Calibri" panose="020F0502020204030204" pitchFamily="34" charset="0"/>
              </a:rPr>
            </a:br>
            <a:r>
              <a:rPr lang="en-US" sz="1050" b="1" dirty="0">
                <a:solidFill>
                  <a:prstClr val="white"/>
                </a:solidFill>
                <a:latin typeface="Calibri" panose="020F0502020204030204" pitchFamily="34" charset="0"/>
                <a:cs typeface="Calibri" panose="020F0502020204030204" pitchFamily="34" charset="0"/>
              </a:rPr>
              <a:t>Driven</a:t>
            </a:r>
            <a:endParaRPr lang="en-US" sz="1050" dirty="0">
              <a:solidFill>
                <a:prstClr val="white"/>
              </a:solidFill>
              <a:latin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D8B1D50A-CCD4-4F56-8C6E-16B7B111334C}"/>
              </a:ext>
            </a:extLst>
          </p:cNvPr>
          <p:cNvSpPr txBox="1"/>
          <p:nvPr/>
        </p:nvSpPr>
        <p:spPr>
          <a:xfrm>
            <a:off x="5558385" y="2992382"/>
            <a:ext cx="757315" cy="415498"/>
          </a:xfrm>
          <a:prstGeom prst="rect">
            <a:avLst/>
          </a:prstGeom>
          <a:noFill/>
        </p:spPr>
        <p:txBody>
          <a:bodyPr wrap="square" rtlCol="0">
            <a:spAutoFit/>
          </a:bodyPr>
          <a:lstStyle/>
          <a:p>
            <a:pPr algn="ctr" defTabSz="685715">
              <a:buSzPts val="1000"/>
              <a:tabLst>
                <a:tab pos="342900" algn="l"/>
              </a:tabLst>
              <a:defRPr/>
            </a:pPr>
            <a:r>
              <a:rPr lang="en-US" sz="1050" b="1" dirty="0">
                <a:solidFill>
                  <a:prstClr val="white"/>
                </a:solidFill>
                <a:latin typeface="Calibri" panose="020F0502020204030204" pitchFamily="34" charset="0"/>
                <a:cs typeface="Calibri" panose="020F0502020204030204" pitchFamily="34" charset="0"/>
              </a:rPr>
              <a:t>Future-proofing</a:t>
            </a:r>
            <a:endParaRPr lang="en-US" sz="1050" dirty="0">
              <a:solidFill>
                <a:prstClr val="white"/>
              </a:solidFill>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1131F11C-A23A-4234-B88F-B4CB15FDF9E0}"/>
              </a:ext>
            </a:extLst>
          </p:cNvPr>
          <p:cNvSpPr txBox="1"/>
          <p:nvPr/>
        </p:nvSpPr>
        <p:spPr>
          <a:xfrm>
            <a:off x="3520216" y="4750388"/>
            <a:ext cx="805280" cy="415498"/>
          </a:xfrm>
          <a:prstGeom prst="rect">
            <a:avLst/>
          </a:prstGeom>
          <a:noFill/>
        </p:spPr>
        <p:txBody>
          <a:bodyPr wrap="square" rtlCol="0">
            <a:spAutoFit/>
          </a:bodyPr>
          <a:lstStyle/>
          <a:p>
            <a:pPr algn="r" defTabSz="685800">
              <a:defRPr/>
            </a:pPr>
            <a:r>
              <a:rPr lang="en-US" sz="1050" b="1" dirty="0">
                <a:solidFill>
                  <a:prstClr val="white"/>
                </a:solidFill>
                <a:latin typeface="Calibri" panose="020F0502020204030204" pitchFamily="34" charset="0"/>
                <a:cs typeface="Calibri" panose="020F0502020204030204" pitchFamily="34" charset="0"/>
              </a:rPr>
              <a:t>Developing talents</a:t>
            </a:r>
          </a:p>
        </p:txBody>
      </p:sp>
      <p:sp>
        <p:nvSpPr>
          <p:cNvPr id="33" name="TextBox 32">
            <a:extLst>
              <a:ext uri="{FF2B5EF4-FFF2-40B4-BE49-F238E27FC236}">
                <a16:creationId xmlns:a16="http://schemas.microsoft.com/office/drawing/2014/main" id="{4108AF62-BAB9-44D2-B68F-9673400BD491}"/>
              </a:ext>
            </a:extLst>
          </p:cNvPr>
          <p:cNvSpPr txBox="1"/>
          <p:nvPr/>
        </p:nvSpPr>
        <p:spPr>
          <a:xfrm>
            <a:off x="4682579" y="4811926"/>
            <a:ext cx="1049481" cy="415498"/>
          </a:xfrm>
          <a:prstGeom prst="rect">
            <a:avLst/>
          </a:prstGeom>
          <a:noFill/>
        </p:spPr>
        <p:txBody>
          <a:bodyPr wrap="square" rtlCol="0">
            <a:spAutoFit/>
          </a:bodyPr>
          <a:lstStyle/>
          <a:p>
            <a:pPr algn="ctr" defTabSz="685715">
              <a:buSzPts val="1000"/>
              <a:tabLst>
                <a:tab pos="342900" algn="l"/>
              </a:tabLst>
              <a:defRPr/>
            </a:pPr>
            <a:r>
              <a:rPr lang="en-US" sz="1050" b="1" dirty="0">
                <a:solidFill>
                  <a:prstClr val="white"/>
                </a:solidFill>
                <a:latin typeface="Calibri" panose="020F0502020204030204" pitchFamily="34" charset="0"/>
                <a:cs typeface="Calibri" panose="020F0502020204030204" pitchFamily="34" charset="0"/>
              </a:rPr>
              <a:t>Influence and Challenge</a:t>
            </a:r>
            <a:endParaRPr lang="en-US" sz="1050" dirty="0">
              <a:solidFill>
                <a:prstClr val="white"/>
              </a:solidFill>
              <a:latin typeface="Calibri" panose="020F0502020204030204" pitchFamily="34" charset="0"/>
              <a:cs typeface="Calibri" panose="020F0502020204030204" pitchFamily="34" charset="0"/>
            </a:endParaRPr>
          </a:p>
        </p:txBody>
      </p:sp>
      <p:sp>
        <p:nvSpPr>
          <p:cNvPr id="34" name="Block Arc 33">
            <a:extLst>
              <a:ext uri="{FF2B5EF4-FFF2-40B4-BE49-F238E27FC236}">
                <a16:creationId xmlns:a16="http://schemas.microsoft.com/office/drawing/2014/main" id="{55A826D8-1D0A-41A8-8AA9-D1E1807E8C30}"/>
              </a:ext>
            </a:extLst>
          </p:cNvPr>
          <p:cNvSpPr/>
          <p:nvPr/>
        </p:nvSpPr>
        <p:spPr>
          <a:xfrm rot="14982772">
            <a:off x="2975894" y="2036548"/>
            <a:ext cx="3439949" cy="3439949"/>
          </a:xfrm>
          <a:prstGeom prst="blockArc">
            <a:avLst>
              <a:gd name="adj1" fmla="val 1280164"/>
              <a:gd name="adj2" fmla="val 3913368"/>
              <a:gd name="adj3" fmla="val 21305"/>
            </a:avLst>
          </a:prstGeom>
          <a:solidFill>
            <a:schemeClr val="accent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500" dirty="0">
              <a:solidFill>
                <a:prstClr val="black"/>
              </a:solidFill>
              <a:latin typeface="Calibri" panose="020F0502020204030204" pitchFamily="34" charset="0"/>
              <a:cs typeface="Calibri" panose="020F0502020204030204" pitchFamily="34" charset="0"/>
            </a:endParaRPr>
          </a:p>
        </p:txBody>
      </p:sp>
      <p:sp>
        <p:nvSpPr>
          <p:cNvPr id="35" name="Rectangle 34">
            <a:extLst>
              <a:ext uri="{FF2B5EF4-FFF2-40B4-BE49-F238E27FC236}">
                <a16:creationId xmlns:a16="http://schemas.microsoft.com/office/drawing/2014/main" id="{579876C3-92D3-4FC4-8D3D-FECA49D727D8}"/>
              </a:ext>
            </a:extLst>
          </p:cNvPr>
          <p:cNvSpPr/>
          <p:nvPr/>
        </p:nvSpPr>
        <p:spPr>
          <a:xfrm>
            <a:off x="176734" y="2805947"/>
            <a:ext cx="2527043" cy="861774"/>
          </a:xfrm>
          <a:prstGeom prst="rect">
            <a:avLst/>
          </a:prstGeom>
          <a:noFill/>
        </p:spPr>
        <p:txBody>
          <a:bodyPr wrap="square">
            <a:spAutoFit/>
          </a:bodyPr>
          <a:lstStyle/>
          <a:p>
            <a:pPr algn="r" defTabSz="685715">
              <a:buSzPts val="1000"/>
              <a:tabLst>
                <a:tab pos="342900" algn="l"/>
              </a:tabLst>
              <a:defRPr/>
            </a:pPr>
            <a:r>
              <a:rPr lang="en-US" sz="1000" dirty="0">
                <a:solidFill>
                  <a:prstClr val="black"/>
                </a:solidFill>
                <a:latin typeface="Calibri" panose="020F0502020204030204" pitchFamily="34" charset="0"/>
                <a:cs typeface="Calibri" panose="020F0502020204030204" pitchFamily="34" charset="0"/>
              </a:rPr>
              <a:t>Results focused, delivering stretching outcomes both as an individual and through teams, with no fear of failure, showing enthusiasm and self-motivation to perform</a:t>
            </a:r>
          </a:p>
        </p:txBody>
      </p:sp>
      <p:sp>
        <p:nvSpPr>
          <p:cNvPr id="36" name="Rectangle 35">
            <a:extLst>
              <a:ext uri="{FF2B5EF4-FFF2-40B4-BE49-F238E27FC236}">
                <a16:creationId xmlns:a16="http://schemas.microsoft.com/office/drawing/2014/main" id="{C326429E-A64C-4359-8C15-0779AA5744AE}"/>
              </a:ext>
            </a:extLst>
          </p:cNvPr>
          <p:cNvSpPr/>
          <p:nvPr/>
        </p:nvSpPr>
        <p:spPr>
          <a:xfrm>
            <a:off x="6650739" y="2805947"/>
            <a:ext cx="2493261" cy="707886"/>
          </a:xfrm>
          <a:prstGeom prst="rect">
            <a:avLst/>
          </a:prstGeom>
          <a:noFill/>
        </p:spPr>
        <p:txBody>
          <a:bodyPr wrap="square">
            <a:spAutoFit/>
          </a:bodyPr>
          <a:lstStyle/>
          <a:p>
            <a:pPr defTabSz="685715" fontAlgn="ctr">
              <a:defRPr/>
            </a:pPr>
            <a:r>
              <a:rPr lang="en-US" sz="1000" dirty="0">
                <a:solidFill>
                  <a:prstClr val="black"/>
                </a:solidFill>
                <a:latin typeface="Calibri" panose="020F0502020204030204" pitchFamily="34" charset="0"/>
                <a:cs typeface="Calibri" panose="020F0502020204030204" pitchFamily="34" charset="0"/>
              </a:rPr>
              <a:t>Demonstrate an unquestionable willingness to learn everyday, un-learn old approaches, and partner with others to assist them in doing the same</a:t>
            </a:r>
            <a:endParaRPr lang="en-US" sz="1000" dirty="0">
              <a:solidFill>
                <a:prstClr val="white"/>
              </a:solidFill>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3A41F7DF-F9F7-4FD4-B9B3-2C817D5DBD3D}"/>
              </a:ext>
            </a:extLst>
          </p:cNvPr>
          <p:cNvSpPr txBox="1"/>
          <p:nvPr/>
        </p:nvSpPr>
        <p:spPr>
          <a:xfrm>
            <a:off x="4661132" y="2304228"/>
            <a:ext cx="1067070" cy="415498"/>
          </a:xfrm>
          <a:prstGeom prst="rect">
            <a:avLst/>
          </a:prstGeom>
          <a:noFill/>
        </p:spPr>
        <p:txBody>
          <a:bodyPr wrap="square" rtlCol="0">
            <a:spAutoFit/>
          </a:bodyPr>
          <a:lstStyle/>
          <a:p>
            <a:pPr algn="ctr" defTabSz="685715">
              <a:defRPr/>
            </a:pPr>
            <a:r>
              <a:rPr lang="en-US" sz="1050" b="1" dirty="0">
                <a:solidFill>
                  <a:prstClr val="white"/>
                </a:solidFill>
                <a:latin typeface="Calibri" panose="020F0502020204030204" pitchFamily="34" charset="0"/>
                <a:cs typeface="Calibri" panose="020F0502020204030204" pitchFamily="34" charset="0"/>
              </a:rPr>
              <a:t>Commercial Drive</a:t>
            </a:r>
          </a:p>
        </p:txBody>
      </p:sp>
      <p:sp>
        <p:nvSpPr>
          <p:cNvPr id="38" name="Rectangle 37">
            <a:extLst>
              <a:ext uri="{FF2B5EF4-FFF2-40B4-BE49-F238E27FC236}">
                <a16:creationId xmlns:a16="http://schemas.microsoft.com/office/drawing/2014/main" id="{6D0F9BE5-2D04-4C99-84FD-87B9E55A618D}"/>
              </a:ext>
            </a:extLst>
          </p:cNvPr>
          <p:cNvSpPr/>
          <p:nvPr/>
        </p:nvSpPr>
        <p:spPr>
          <a:xfrm>
            <a:off x="5955166" y="5185506"/>
            <a:ext cx="3093048" cy="553998"/>
          </a:xfrm>
          <a:prstGeom prst="rect">
            <a:avLst/>
          </a:prstGeom>
        </p:spPr>
        <p:txBody>
          <a:bodyPr wrap="square">
            <a:spAutoFit/>
          </a:bodyPr>
          <a:lstStyle/>
          <a:p>
            <a:pPr defTabSz="685715" fontAlgn="ctr">
              <a:buSzPts val="1000"/>
              <a:tabLst>
                <a:tab pos="342900" algn="l"/>
              </a:tabLst>
              <a:defRPr/>
            </a:pPr>
            <a:r>
              <a:rPr lang="en-US" sz="1000" dirty="0">
                <a:solidFill>
                  <a:prstClr val="black"/>
                </a:solidFill>
                <a:latin typeface="Calibri" panose="020F0502020204030204" pitchFamily="34" charset="0"/>
                <a:cs typeface="Calibri" panose="020F0502020204030204" pitchFamily="34" charset="0"/>
              </a:rPr>
              <a:t>Create positive momentum by persuading the organization, demonstrating personal courage, and an ability to durably align different opinions</a:t>
            </a:r>
          </a:p>
        </p:txBody>
      </p:sp>
      <p:sp>
        <p:nvSpPr>
          <p:cNvPr id="39" name="Rectangle 38">
            <a:extLst>
              <a:ext uri="{FF2B5EF4-FFF2-40B4-BE49-F238E27FC236}">
                <a16:creationId xmlns:a16="http://schemas.microsoft.com/office/drawing/2014/main" id="{4283B117-21A3-4B8B-AB8F-96012FB0E1AB}"/>
              </a:ext>
            </a:extLst>
          </p:cNvPr>
          <p:cNvSpPr/>
          <p:nvPr/>
        </p:nvSpPr>
        <p:spPr>
          <a:xfrm>
            <a:off x="281752" y="3909169"/>
            <a:ext cx="2509123" cy="1015663"/>
          </a:xfrm>
          <a:prstGeom prst="rect">
            <a:avLst/>
          </a:prstGeom>
          <a:noFill/>
        </p:spPr>
        <p:txBody>
          <a:bodyPr wrap="square">
            <a:spAutoFit/>
          </a:bodyPr>
          <a:lstStyle/>
          <a:p>
            <a:pPr algn="r" defTabSz="685715" fontAlgn="ctr">
              <a:buSzPts val="1000"/>
              <a:tabLst>
                <a:tab pos="342900" algn="l"/>
              </a:tabLst>
              <a:defRPr/>
            </a:pPr>
            <a:r>
              <a:rPr lang="en-US" sz="1000" dirty="0">
                <a:solidFill>
                  <a:prstClr val="black"/>
                </a:solidFill>
                <a:latin typeface="Calibri" panose="020F0502020204030204" pitchFamily="34" charset="0"/>
                <a:cs typeface="Calibri" panose="020F0502020204030204" pitchFamily="34" charset="0"/>
              </a:rPr>
              <a:t>Anticipate and lead change: adapt actions, accordingly, demonstrate tolerance for ambiguity; have a comfort with uncertainty. Shows flexibility in adjusting own views and objectives in order to achieve a shared goal</a:t>
            </a:r>
          </a:p>
          <a:p>
            <a:pPr algn="r" defTabSz="685715" fontAlgn="ctr">
              <a:defRPr/>
            </a:pPr>
            <a:r>
              <a:rPr lang="en-US" sz="1000" b="1" dirty="0">
                <a:solidFill>
                  <a:prstClr val="black"/>
                </a:solidFill>
                <a:latin typeface="Calibri" panose="020F0502020204030204" pitchFamily="34" charset="0"/>
                <a:cs typeface="Calibri" panose="020F0502020204030204" pitchFamily="34" charset="0"/>
              </a:rPr>
              <a:t> </a:t>
            </a:r>
            <a:endParaRPr lang="en-US" sz="1000" b="1" dirty="0">
              <a:solidFill>
                <a:prstClr val="white"/>
              </a:solidFill>
              <a:latin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C1684A88-C1F7-4281-8E6B-3E81F0261239}"/>
              </a:ext>
            </a:extLst>
          </p:cNvPr>
          <p:cNvSpPr txBox="1"/>
          <p:nvPr/>
        </p:nvSpPr>
        <p:spPr>
          <a:xfrm>
            <a:off x="6619163" y="3914015"/>
            <a:ext cx="2325126" cy="861774"/>
          </a:xfrm>
          <a:prstGeom prst="rect">
            <a:avLst/>
          </a:prstGeom>
          <a:noFill/>
        </p:spPr>
        <p:txBody>
          <a:bodyPr wrap="square" rtlCol="0">
            <a:spAutoFit/>
          </a:bodyPr>
          <a:lstStyle/>
          <a:p>
            <a:pPr defTabSz="685715">
              <a:buSzPts val="1000"/>
              <a:tabLst>
                <a:tab pos="342900" algn="l"/>
              </a:tabLst>
              <a:defRPr/>
            </a:pPr>
            <a:r>
              <a:rPr lang="en-US" sz="1000" dirty="0">
                <a:solidFill>
                  <a:prstClr val="black"/>
                </a:solidFill>
                <a:latin typeface="Calibri" panose="020F0502020204030204" pitchFamily="34" charset="0"/>
                <a:cs typeface="Calibri" panose="020F0502020204030204" pitchFamily="34" charset="0"/>
              </a:rPr>
              <a:t>Inspire people through a compelling vision fueled by a culture of support, enablement and empathy. Building a safe environment for employees to be at their best, feel included and valued. </a:t>
            </a:r>
          </a:p>
        </p:txBody>
      </p:sp>
      <p:sp>
        <p:nvSpPr>
          <p:cNvPr id="41" name="TextBox 40">
            <a:extLst>
              <a:ext uri="{FF2B5EF4-FFF2-40B4-BE49-F238E27FC236}">
                <a16:creationId xmlns:a16="http://schemas.microsoft.com/office/drawing/2014/main" id="{D412C01C-A010-438D-BE7D-42C468A65340}"/>
              </a:ext>
            </a:extLst>
          </p:cNvPr>
          <p:cNvSpPr txBox="1"/>
          <p:nvPr/>
        </p:nvSpPr>
        <p:spPr>
          <a:xfrm>
            <a:off x="6230900" y="1919625"/>
            <a:ext cx="2713389" cy="707886"/>
          </a:xfrm>
          <a:prstGeom prst="rect">
            <a:avLst/>
          </a:prstGeom>
          <a:noFill/>
        </p:spPr>
        <p:txBody>
          <a:bodyPr wrap="square" rtlCol="0">
            <a:spAutoFit/>
          </a:bodyPr>
          <a:lstStyle/>
          <a:p>
            <a:pPr defTabSz="685715" fontAlgn="ctr">
              <a:defRPr/>
            </a:pPr>
            <a:r>
              <a:rPr lang="en-US" sz="1000" dirty="0">
                <a:solidFill>
                  <a:prstClr val="black"/>
                </a:solidFill>
                <a:latin typeface="Calibri" panose="020F0502020204030204" pitchFamily="34" charset="0"/>
                <a:cs typeface="Calibri" panose="020F0502020204030204" pitchFamily="34" charset="0"/>
              </a:rPr>
              <a:t>An entrepreneurial mindset; recognize and seize opportunities; take measured risk into account. Focus on initiatives that drive  business advancement</a:t>
            </a:r>
          </a:p>
        </p:txBody>
      </p:sp>
      <p:sp>
        <p:nvSpPr>
          <p:cNvPr id="42" name="Block Arc 41">
            <a:extLst>
              <a:ext uri="{FF2B5EF4-FFF2-40B4-BE49-F238E27FC236}">
                <a16:creationId xmlns:a16="http://schemas.microsoft.com/office/drawing/2014/main" id="{77AFF8C1-3B85-4DEA-995C-AE1F8EA6D1B6}"/>
              </a:ext>
            </a:extLst>
          </p:cNvPr>
          <p:cNvSpPr/>
          <p:nvPr/>
        </p:nvSpPr>
        <p:spPr>
          <a:xfrm rot="9066691">
            <a:off x="2964754" y="2028847"/>
            <a:ext cx="3439949" cy="3439949"/>
          </a:xfrm>
          <a:prstGeom prst="blockArc">
            <a:avLst>
              <a:gd name="adj1" fmla="val 17967312"/>
              <a:gd name="adj2" fmla="val 20549723"/>
              <a:gd name="adj3" fmla="val 20345"/>
            </a:avLst>
          </a:prstGeom>
          <a:solidFill>
            <a:schemeClr val="accent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685800">
              <a:defRPr/>
            </a:pPr>
            <a:endParaRPr lang="en-US" sz="1500" dirty="0">
              <a:solidFill>
                <a:prstClr val="black"/>
              </a:solidFill>
              <a:latin typeface="Calibri" panose="020F0502020204030204" pitchFamily="34" charset="0"/>
              <a:cs typeface="Calibri" panose="020F0502020204030204" pitchFamily="34" charset="0"/>
            </a:endParaRPr>
          </a:p>
        </p:txBody>
      </p:sp>
      <p:sp>
        <p:nvSpPr>
          <p:cNvPr id="43" name="TextBox 42">
            <a:extLst>
              <a:ext uri="{FF2B5EF4-FFF2-40B4-BE49-F238E27FC236}">
                <a16:creationId xmlns:a16="http://schemas.microsoft.com/office/drawing/2014/main" id="{B0A8ACCC-0278-407E-9D1A-524952EC6819}"/>
              </a:ext>
            </a:extLst>
          </p:cNvPr>
          <p:cNvSpPr txBox="1"/>
          <p:nvPr/>
        </p:nvSpPr>
        <p:spPr>
          <a:xfrm>
            <a:off x="3015231" y="4044926"/>
            <a:ext cx="833883" cy="415498"/>
          </a:xfrm>
          <a:prstGeom prst="rect">
            <a:avLst/>
          </a:prstGeom>
          <a:noFill/>
        </p:spPr>
        <p:txBody>
          <a:bodyPr wrap="square" rtlCol="0">
            <a:spAutoFit/>
          </a:bodyPr>
          <a:lstStyle/>
          <a:p>
            <a:pPr algn="ctr" defTabSz="685715">
              <a:buSzPts val="1000"/>
              <a:tabLst>
                <a:tab pos="342900" algn="l"/>
              </a:tabLst>
              <a:defRPr/>
            </a:pPr>
            <a:r>
              <a:rPr lang="en-US" sz="1050" b="1" dirty="0">
                <a:solidFill>
                  <a:prstClr val="white"/>
                </a:solidFill>
                <a:latin typeface="Calibri" panose="020F0502020204030204" pitchFamily="34" charset="0"/>
                <a:cs typeface="Calibri" panose="020F0502020204030204" pitchFamily="34" charset="0"/>
              </a:rPr>
              <a:t>Change Agile</a:t>
            </a:r>
            <a:endParaRPr lang="en-US" sz="1050" dirty="0">
              <a:solidFill>
                <a:prstClr val="white"/>
              </a:solidFill>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2693EAB2-CDD6-4BC4-A33B-C73A49120E9D}"/>
              </a:ext>
            </a:extLst>
          </p:cNvPr>
          <p:cNvSpPr/>
          <p:nvPr/>
        </p:nvSpPr>
        <p:spPr>
          <a:xfrm>
            <a:off x="3645197" y="4779315"/>
            <a:ext cx="957290" cy="461665"/>
          </a:xfrm>
          <a:prstGeom prst="rect">
            <a:avLst/>
          </a:prstGeom>
        </p:spPr>
        <p:txBody>
          <a:bodyPr wrap="square">
            <a:spAutoFit/>
          </a:bodyPr>
          <a:lstStyle/>
          <a:p>
            <a:pPr algn="ctr" defTabSz="685715">
              <a:buSzPts val="1000"/>
              <a:tabLst>
                <a:tab pos="342900" algn="l"/>
              </a:tabLst>
              <a:defRPr/>
            </a:pPr>
            <a:r>
              <a:rPr lang="en-US" sz="1200" b="1" dirty="0">
                <a:solidFill>
                  <a:prstClr val="white"/>
                </a:solidFill>
                <a:latin typeface="Calibri" panose="020F0502020204030204" pitchFamily="34" charset="0"/>
                <a:cs typeface="Calibri" panose="020F0502020204030204" pitchFamily="34" charset="0"/>
              </a:rPr>
              <a:t>Managing complexity</a:t>
            </a:r>
            <a:endParaRPr lang="en-US" sz="1200" dirty="0">
              <a:solidFill>
                <a:prstClr val="white"/>
              </a:solidFill>
              <a:latin typeface="Calibri" panose="020F0502020204030204" pitchFamily="34" charset="0"/>
              <a:cs typeface="Calibri" panose="020F0502020204030204" pitchFamily="34" charset="0"/>
            </a:endParaRPr>
          </a:p>
        </p:txBody>
      </p:sp>
      <p:sp>
        <p:nvSpPr>
          <p:cNvPr id="45" name="Rectangle 44">
            <a:extLst>
              <a:ext uri="{FF2B5EF4-FFF2-40B4-BE49-F238E27FC236}">
                <a16:creationId xmlns:a16="http://schemas.microsoft.com/office/drawing/2014/main" id="{7B2BA302-8F8D-4DE8-BA4B-C4EC24EE2438}"/>
              </a:ext>
            </a:extLst>
          </p:cNvPr>
          <p:cNvSpPr/>
          <p:nvPr/>
        </p:nvSpPr>
        <p:spPr>
          <a:xfrm>
            <a:off x="217148" y="5035158"/>
            <a:ext cx="2981757" cy="553998"/>
          </a:xfrm>
          <a:prstGeom prst="rect">
            <a:avLst/>
          </a:prstGeom>
        </p:spPr>
        <p:txBody>
          <a:bodyPr wrap="square">
            <a:spAutoFit/>
          </a:bodyPr>
          <a:lstStyle/>
          <a:p>
            <a:pPr algn="r" defTabSz="685715">
              <a:buSzPts val="1000"/>
              <a:tabLst>
                <a:tab pos="342900" algn="l"/>
              </a:tabLst>
              <a:defRPr/>
            </a:pPr>
            <a:r>
              <a:rPr lang="en-US" sz="1000" dirty="0">
                <a:solidFill>
                  <a:prstClr val="black"/>
                </a:solidFill>
                <a:latin typeface="Calibri" panose="020F0502020204030204" pitchFamily="34" charset="0"/>
                <a:cs typeface="Calibri" panose="020F0502020204030204" pitchFamily="34" charset="0"/>
              </a:rPr>
              <a:t>Confident managing the various challenges that our increasingly complex workplace and roles demand: global, digital, competitor, consumer, employees</a:t>
            </a:r>
          </a:p>
        </p:txBody>
      </p:sp>
      <p:sp>
        <p:nvSpPr>
          <p:cNvPr id="2" name="Rectangle 1">
            <a:extLst>
              <a:ext uri="{FF2B5EF4-FFF2-40B4-BE49-F238E27FC236}">
                <a16:creationId xmlns:a16="http://schemas.microsoft.com/office/drawing/2014/main" id="{23D406A1-C231-524D-A25C-A8EC2F413999}"/>
              </a:ext>
            </a:extLst>
          </p:cNvPr>
          <p:cNvSpPr/>
          <p:nvPr/>
        </p:nvSpPr>
        <p:spPr>
          <a:xfrm>
            <a:off x="7861609" y="857250"/>
            <a:ext cx="1282391"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061452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39"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Rectangle 42">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Title 7">
            <a:extLst>
              <a:ext uri="{FF2B5EF4-FFF2-40B4-BE49-F238E27FC236}">
                <a16:creationId xmlns:a16="http://schemas.microsoft.com/office/drawing/2014/main" id="{EFF8AF33-23FE-4E4F-B73F-1DB3F0074C9F}"/>
              </a:ext>
            </a:extLst>
          </p:cNvPr>
          <p:cNvSpPr txBox="1">
            <a:spLocks/>
          </p:cNvSpPr>
          <p:nvPr/>
        </p:nvSpPr>
        <p:spPr>
          <a:xfrm>
            <a:off x="846022" y="834709"/>
            <a:ext cx="772989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lang="en-US" sz="2700" b="1" kern="1200">
                <a:solidFill>
                  <a:schemeClr val="bg1"/>
                </a:solidFill>
                <a:latin typeface="Helvetica" panose="020B0500000000000000" pitchFamily="34" charset="0"/>
                <a:ea typeface="+mj-ea"/>
                <a:cs typeface="+mj-cs"/>
              </a:defRPr>
            </a:lvl1pPr>
          </a:lstStyle>
          <a:p>
            <a:pPr defTabSz="914400">
              <a:spcAft>
                <a:spcPts val="600"/>
              </a:spcAft>
            </a:pPr>
            <a:r>
              <a:rPr lang="en-US" sz="3500" b="1" kern="1200" dirty="0">
                <a:solidFill>
                  <a:srgbClr val="FFFFFF"/>
                </a:solidFill>
                <a:latin typeface="+mj-lt"/>
                <a:ea typeface="+mj-ea"/>
                <a:cs typeface="+mj-cs"/>
              </a:rPr>
              <a:t>Leadership Behavioral Anchors</a:t>
            </a:r>
          </a:p>
          <a:p>
            <a:pPr defTabSz="914400">
              <a:spcAft>
                <a:spcPts val="600"/>
              </a:spcAft>
            </a:pPr>
            <a:endParaRPr lang="en-US" sz="3500" kern="1200" dirty="0">
              <a:solidFill>
                <a:srgbClr val="FFFFFF"/>
              </a:solidFill>
              <a:latin typeface="+mj-lt"/>
              <a:ea typeface="+mj-ea"/>
              <a:cs typeface="+mj-cs"/>
            </a:endParaRPr>
          </a:p>
        </p:txBody>
      </p:sp>
      <p:sp>
        <p:nvSpPr>
          <p:cNvPr id="11" name="TextBox 10">
            <a:extLst>
              <a:ext uri="{FF2B5EF4-FFF2-40B4-BE49-F238E27FC236}">
                <a16:creationId xmlns:a16="http://schemas.microsoft.com/office/drawing/2014/main" id="{6FE3AD18-28DC-45C7-9D0B-DA81626504E3}"/>
              </a:ext>
            </a:extLst>
          </p:cNvPr>
          <p:cNvSpPr txBox="1"/>
          <p:nvPr/>
        </p:nvSpPr>
        <p:spPr>
          <a:xfrm>
            <a:off x="890962" y="2421693"/>
            <a:ext cx="7772899" cy="3800591"/>
          </a:xfrm>
          <a:prstGeom prst="rect">
            <a:avLst/>
          </a:prstGeom>
        </p:spPr>
        <p:txBody>
          <a:bodyPr vert="horz" lIns="91440" tIns="45720" rIns="91440" bIns="45720" rtlCol="0">
            <a:normAutofit/>
          </a:bodyPr>
          <a:lstStyle/>
          <a:p>
            <a:pPr>
              <a:lnSpc>
                <a:spcPct val="90000"/>
              </a:lnSpc>
              <a:spcAft>
                <a:spcPts val="600"/>
              </a:spcAft>
            </a:pPr>
            <a:r>
              <a:rPr lang="en-US" sz="1600" dirty="0"/>
              <a:t>Each of the 8 competencies have been expanded into specific Leadership behavioral anchors across 3 proficiency levels </a:t>
            </a:r>
          </a:p>
          <a:p>
            <a:pPr marL="57150" indent="-228600">
              <a:lnSpc>
                <a:spcPct val="90000"/>
              </a:lnSpc>
              <a:spcAft>
                <a:spcPts val="600"/>
              </a:spcAft>
              <a:buFont typeface="Arial" panose="020B0604020202020204" pitchFamily="34" charset="0"/>
              <a:buChar char="•"/>
            </a:pPr>
            <a:endParaRPr lang="en-US" sz="1600" dirty="0"/>
          </a:p>
          <a:p>
            <a:pPr marL="742950" lvl="1" indent="-228600">
              <a:lnSpc>
                <a:spcPct val="90000"/>
              </a:lnSpc>
              <a:spcAft>
                <a:spcPts val="600"/>
              </a:spcAft>
              <a:buFont typeface="Arial" panose="020B0604020202020204" pitchFamily="34" charset="0"/>
              <a:buChar char="•"/>
            </a:pPr>
            <a:r>
              <a:rPr lang="en-US" sz="1600" b="1" dirty="0"/>
              <a:t>Level 1 (bands G &amp;H )</a:t>
            </a:r>
          </a:p>
          <a:p>
            <a:pPr marL="742950" lvl="1" indent="-228600">
              <a:lnSpc>
                <a:spcPct val="90000"/>
              </a:lnSpc>
              <a:spcAft>
                <a:spcPts val="600"/>
              </a:spcAft>
              <a:buFont typeface="Arial" panose="020B0604020202020204" pitchFamily="34" charset="0"/>
              <a:buChar char="•"/>
            </a:pPr>
            <a:r>
              <a:rPr lang="en-US" sz="1600" b="1" dirty="0"/>
              <a:t>Level 2 (bands I &amp; J ) </a:t>
            </a:r>
          </a:p>
          <a:p>
            <a:pPr marL="742950" lvl="1" indent="-228600">
              <a:lnSpc>
                <a:spcPct val="90000"/>
              </a:lnSpc>
              <a:spcAft>
                <a:spcPts val="600"/>
              </a:spcAft>
              <a:buFont typeface="Arial" panose="020B0604020202020204" pitchFamily="34" charset="0"/>
              <a:buChar char="•"/>
            </a:pPr>
            <a:r>
              <a:rPr lang="en-US" sz="1600" b="1" dirty="0"/>
              <a:t>Level 3 (Bands K &amp; L) </a:t>
            </a:r>
          </a:p>
          <a:p>
            <a:pPr marL="742950" lvl="1" indent="-228600">
              <a:lnSpc>
                <a:spcPct val="90000"/>
              </a:lnSpc>
              <a:spcAft>
                <a:spcPts val="600"/>
              </a:spcAft>
              <a:buFont typeface="Arial" panose="020B0604020202020204" pitchFamily="34" charset="0"/>
              <a:buChar char="•"/>
            </a:pPr>
            <a:endParaRPr lang="en-US" sz="1600" dirty="0"/>
          </a:p>
          <a:p>
            <a:pPr marL="0" lvl="1">
              <a:lnSpc>
                <a:spcPct val="90000"/>
              </a:lnSpc>
              <a:spcAft>
                <a:spcPts val="600"/>
              </a:spcAft>
            </a:pPr>
            <a:r>
              <a:rPr lang="en-US" sz="1600" dirty="0"/>
              <a:t>This provides transparency of behavioral and capability expectation as employees grow into more senior leadership roles. Enabling employees to take a stronger accountability for their development agenda.</a:t>
            </a:r>
          </a:p>
          <a:p>
            <a:pPr marL="742950" lvl="1" indent="-228600">
              <a:lnSpc>
                <a:spcPct val="90000"/>
              </a:lnSpc>
              <a:spcAft>
                <a:spcPts val="600"/>
              </a:spcAft>
              <a:buFont typeface="Arial" panose="020B0604020202020204" pitchFamily="34" charset="0"/>
              <a:buChar char="•"/>
            </a:pPr>
            <a:endParaRPr lang="en-US" sz="1600" b="1" dirty="0"/>
          </a:p>
          <a:p>
            <a:pPr indent="-228600">
              <a:lnSpc>
                <a:spcPct val="90000"/>
              </a:lnSpc>
              <a:spcAft>
                <a:spcPts val="600"/>
              </a:spcAft>
              <a:buFont typeface="Arial" panose="020B0604020202020204" pitchFamily="34" charset="0"/>
              <a:buChar char="•"/>
            </a:pPr>
            <a:endParaRPr lang="en-US" sz="1600" dirty="0"/>
          </a:p>
        </p:txBody>
      </p:sp>
      <p:pic>
        <p:nvPicPr>
          <p:cNvPr id="8" name="Picture 7">
            <a:extLst>
              <a:ext uri="{FF2B5EF4-FFF2-40B4-BE49-F238E27FC236}">
                <a16:creationId xmlns:a16="http://schemas.microsoft.com/office/drawing/2014/main" id="{2037CAAE-F643-4CFE-9ECE-A003950CBC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3600" y="5772059"/>
            <a:ext cx="3601803" cy="900449"/>
          </a:xfrm>
          <a:prstGeom prst="rect">
            <a:avLst/>
          </a:prstGeom>
        </p:spPr>
      </p:pic>
    </p:spTree>
    <p:extLst>
      <p:ext uri="{BB962C8B-B14F-4D97-AF65-F5344CB8AC3E}">
        <p14:creationId xmlns:p14="http://schemas.microsoft.com/office/powerpoint/2010/main" val="1933470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EF063E-AF2E-4BD9-AB44-E2F35BFF8A88}"/>
              </a:ext>
            </a:extLst>
          </p:cNvPr>
          <p:cNvPicPr>
            <a:picLocks noChangeAspect="1"/>
          </p:cNvPicPr>
          <p:nvPr/>
        </p:nvPicPr>
        <p:blipFill>
          <a:blip r:embed="rId3"/>
          <a:stretch>
            <a:fillRect/>
          </a:stretch>
        </p:blipFill>
        <p:spPr>
          <a:xfrm>
            <a:off x="3324922" y="1221322"/>
            <a:ext cx="5791200" cy="4800592"/>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7571EB9A-D596-475E-8868-506603B6F235}"/>
              </a:ext>
            </a:extLst>
          </p:cNvPr>
          <p:cNvSpPr txBox="1"/>
          <p:nvPr/>
        </p:nvSpPr>
        <p:spPr>
          <a:xfrm>
            <a:off x="176240" y="319922"/>
            <a:ext cx="1976310" cy="369332"/>
          </a:xfrm>
          <a:prstGeom prst="rect">
            <a:avLst/>
          </a:prstGeom>
          <a:noFill/>
        </p:spPr>
        <p:txBody>
          <a:bodyPr wrap="none" rtlCol="0">
            <a:spAutoFit/>
          </a:bodyPr>
          <a:lstStyle/>
          <a:p>
            <a:r>
              <a:rPr lang="en-US" dirty="0"/>
              <a:t>Competency Name</a:t>
            </a:r>
          </a:p>
        </p:txBody>
      </p:sp>
      <p:sp>
        <p:nvSpPr>
          <p:cNvPr id="8" name="TextBox 7">
            <a:extLst>
              <a:ext uri="{FF2B5EF4-FFF2-40B4-BE49-F238E27FC236}">
                <a16:creationId xmlns:a16="http://schemas.microsoft.com/office/drawing/2014/main" id="{7548DF04-97A1-477F-B441-F2B3CAD3760D}"/>
              </a:ext>
            </a:extLst>
          </p:cNvPr>
          <p:cNvSpPr txBox="1"/>
          <p:nvPr/>
        </p:nvSpPr>
        <p:spPr>
          <a:xfrm>
            <a:off x="265724" y="794573"/>
            <a:ext cx="1208216" cy="646331"/>
          </a:xfrm>
          <a:prstGeom prst="rect">
            <a:avLst/>
          </a:prstGeom>
          <a:noFill/>
        </p:spPr>
        <p:txBody>
          <a:bodyPr wrap="none" rtlCol="0">
            <a:spAutoFit/>
          </a:bodyPr>
          <a:lstStyle/>
          <a:p>
            <a:r>
              <a:rPr lang="en-US" dirty="0"/>
              <a:t>Leadership</a:t>
            </a:r>
            <a:br>
              <a:rPr lang="en-US" dirty="0"/>
            </a:br>
            <a:r>
              <a:rPr lang="en-US" dirty="0"/>
              <a:t>Cluster</a:t>
            </a:r>
          </a:p>
        </p:txBody>
      </p:sp>
      <p:sp>
        <p:nvSpPr>
          <p:cNvPr id="11" name="TextBox 10">
            <a:extLst>
              <a:ext uri="{FF2B5EF4-FFF2-40B4-BE49-F238E27FC236}">
                <a16:creationId xmlns:a16="http://schemas.microsoft.com/office/drawing/2014/main" id="{BB5414C5-083A-46CD-B96C-54532715F2A8}"/>
              </a:ext>
            </a:extLst>
          </p:cNvPr>
          <p:cNvSpPr txBox="1"/>
          <p:nvPr/>
        </p:nvSpPr>
        <p:spPr>
          <a:xfrm>
            <a:off x="144645" y="1718786"/>
            <a:ext cx="1202124" cy="369332"/>
          </a:xfrm>
          <a:prstGeom prst="rect">
            <a:avLst/>
          </a:prstGeom>
          <a:noFill/>
        </p:spPr>
        <p:txBody>
          <a:bodyPr wrap="none" rtlCol="0">
            <a:spAutoFit/>
          </a:bodyPr>
          <a:lstStyle/>
          <a:p>
            <a:r>
              <a:rPr lang="en-US" dirty="0"/>
              <a:t>Definitions</a:t>
            </a:r>
          </a:p>
        </p:txBody>
      </p:sp>
      <p:sp>
        <p:nvSpPr>
          <p:cNvPr id="20" name="TextBox 19">
            <a:extLst>
              <a:ext uri="{FF2B5EF4-FFF2-40B4-BE49-F238E27FC236}">
                <a16:creationId xmlns:a16="http://schemas.microsoft.com/office/drawing/2014/main" id="{5C3950DA-8A25-40E9-937D-AAADFD0E86AF}"/>
              </a:ext>
            </a:extLst>
          </p:cNvPr>
          <p:cNvSpPr txBox="1"/>
          <p:nvPr/>
        </p:nvSpPr>
        <p:spPr>
          <a:xfrm>
            <a:off x="106929" y="2285770"/>
            <a:ext cx="1839863" cy="369332"/>
          </a:xfrm>
          <a:prstGeom prst="rect">
            <a:avLst/>
          </a:prstGeom>
          <a:noFill/>
        </p:spPr>
        <p:txBody>
          <a:bodyPr wrap="none" rtlCol="0">
            <a:spAutoFit/>
          </a:bodyPr>
          <a:lstStyle/>
          <a:p>
            <a:r>
              <a:rPr lang="en-US" dirty="0"/>
              <a:t>Proficiency Levels</a:t>
            </a:r>
          </a:p>
        </p:txBody>
      </p:sp>
      <p:cxnSp>
        <p:nvCxnSpPr>
          <p:cNvPr id="23" name="Straight Arrow Connector 22">
            <a:extLst>
              <a:ext uri="{FF2B5EF4-FFF2-40B4-BE49-F238E27FC236}">
                <a16:creationId xmlns:a16="http://schemas.microsoft.com/office/drawing/2014/main" id="{9219FC41-AFE4-443B-8D5C-C361CA570ABA}"/>
              </a:ext>
            </a:extLst>
          </p:cNvPr>
          <p:cNvCxnSpPr>
            <a:cxnSpLocks/>
          </p:cNvCxnSpPr>
          <p:nvPr/>
        </p:nvCxnSpPr>
        <p:spPr>
          <a:xfrm flipH="1">
            <a:off x="1473940" y="4343400"/>
            <a:ext cx="204790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D49B84A-9D37-4E57-835F-9977C9C9D29F}"/>
              </a:ext>
            </a:extLst>
          </p:cNvPr>
          <p:cNvCxnSpPr>
            <a:cxnSpLocks/>
          </p:cNvCxnSpPr>
          <p:nvPr/>
        </p:nvCxnSpPr>
        <p:spPr>
          <a:xfrm flipH="1">
            <a:off x="2015937" y="2476090"/>
            <a:ext cx="1472536"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734F1C36-1EE2-4485-977A-7FCD3216CD92}"/>
              </a:ext>
            </a:extLst>
          </p:cNvPr>
          <p:cNvCxnSpPr>
            <a:cxnSpLocks/>
            <a:stCxn id="6" idx="3"/>
          </p:cNvCxnSpPr>
          <p:nvPr/>
        </p:nvCxnSpPr>
        <p:spPr>
          <a:xfrm>
            <a:off x="2152550" y="504588"/>
            <a:ext cx="3257650" cy="1053278"/>
          </a:xfrm>
          <a:prstGeom prst="bentConnector3">
            <a:avLst>
              <a:gd name="adj1" fmla="val 71565"/>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2E8CE437-6F31-4BF2-B3E7-957C7D3A3C70}"/>
              </a:ext>
            </a:extLst>
          </p:cNvPr>
          <p:cNvCxnSpPr>
            <a:cxnSpLocks/>
            <a:stCxn id="8" idx="3"/>
          </p:cNvCxnSpPr>
          <p:nvPr/>
        </p:nvCxnSpPr>
        <p:spPr>
          <a:xfrm>
            <a:off x="1473940" y="1117739"/>
            <a:ext cx="1850982" cy="469912"/>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6719D6F-EBE4-489F-92B1-585E2FF2D2BD}"/>
              </a:ext>
            </a:extLst>
          </p:cNvPr>
          <p:cNvCxnSpPr>
            <a:stCxn id="11" idx="3"/>
          </p:cNvCxnSpPr>
          <p:nvPr/>
        </p:nvCxnSpPr>
        <p:spPr>
          <a:xfrm>
            <a:off x="1346769" y="1903452"/>
            <a:ext cx="197815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12D09CFA-72C1-4667-82A1-CCD53BE012A4}"/>
              </a:ext>
            </a:extLst>
          </p:cNvPr>
          <p:cNvCxnSpPr/>
          <p:nvPr/>
        </p:nvCxnSpPr>
        <p:spPr>
          <a:xfrm rot="10800000" flipV="1">
            <a:off x="1473941" y="3621618"/>
            <a:ext cx="2014533" cy="493182"/>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1A684914-D620-4D20-8932-9672E25702D1}"/>
              </a:ext>
            </a:extLst>
          </p:cNvPr>
          <p:cNvCxnSpPr>
            <a:cxnSpLocks/>
          </p:cNvCxnSpPr>
          <p:nvPr/>
        </p:nvCxnSpPr>
        <p:spPr>
          <a:xfrm rot="10800000" flipV="1">
            <a:off x="1473940" y="4689474"/>
            <a:ext cx="3740994" cy="17991"/>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7E2A86B2-A62B-4ED5-98C4-381D50AC4DB5}"/>
              </a:ext>
            </a:extLst>
          </p:cNvPr>
          <p:cNvSpPr txBox="1"/>
          <p:nvPr/>
        </p:nvSpPr>
        <p:spPr>
          <a:xfrm>
            <a:off x="137317" y="4128043"/>
            <a:ext cx="1986698" cy="646331"/>
          </a:xfrm>
          <a:prstGeom prst="rect">
            <a:avLst/>
          </a:prstGeom>
          <a:noFill/>
        </p:spPr>
        <p:txBody>
          <a:bodyPr wrap="none" rtlCol="0">
            <a:spAutoFit/>
          </a:bodyPr>
          <a:lstStyle/>
          <a:p>
            <a:r>
              <a:rPr lang="en-US" dirty="0"/>
              <a:t>Leadership</a:t>
            </a:r>
            <a:br>
              <a:rPr lang="en-US" dirty="0"/>
            </a:br>
            <a:r>
              <a:rPr lang="en-US" dirty="0"/>
              <a:t>Behavioral Anchors</a:t>
            </a:r>
          </a:p>
        </p:txBody>
      </p:sp>
      <p:graphicFrame>
        <p:nvGraphicFramePr>
          <p:cNvPr id="16" name="Diagram 15">
            <a:extLst>
              <a:ext uri="{FF2B5EF4-FFF2-40B4-BE49-F238E27FC236}">
                <a16:creationId xmlns:a16="http://schemas.microsoft.com/office/drawing/2014/main" id="{725ADEA9-8786-4EE2-A09D-68DAECC2F1EF}"/>
              </a:ext>
            </a:extLst>
          </p:cNvPr>
          <p:cNvGraphicFramePr/>
          <p:nvPr>
            <p:extLst>
              <p:ext uri="{D42A27DB-BD31-4B8C-83A1-F6EECF244321}">
                <p14:modId xmlns:p14="http://schemas.microsoft.com/office/powerpoint/2010/main" val="214460910"/>
              </p:ext>
            </p:extLst>
          </p:nvPr>
        </p:nvGraphicFramePr>
        <p:xfrm>
          <a:off x="3197751" y="1251518"/>
          <a:ext cx="981126" cy="57728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2865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4F3C-D407-41D0-B717-3385E797F8A3}"/>
              </a:ext>
            </a:extLst>
          </p:cNvPr>
          <p:cNvSpPr>
            <a:spLocks noGrp="1"/>
          </p:cNvSpPr>
          <p:nvPr>
            <p:ph type="title"/>
          </p:nvPr>
        </p:nvSpPr>
        <p:spPr>
          <a:xfrm>
            <a:off x="191275" y="1004137"/>
            <a:ext cx="8382000" cy="582526"/>
          </a:xfr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2800" dirty="0">
                <a:solidFill>
                  <a:schemeClr val="bg1"/>
                </a:solidFill>
              </a:rPr>
              <a:t>Leadership Development Architecture : Toolkit</a:t>
            </a:r>
          </a:p>
        </p:txBody>
      </p:sp>
      <p:graphicFrame>
        <p:nvGraphicFramePr>
          <p:cNvPr id="4" name="Diagram 3">
            <a:extLst>
              <a:ext uri="{FF2B5EF4-FFF2-40B4-BE49-F238E27FC236}">
                <a16:creationId xmlns:a16="http://schemas.microsoft.com/office/drawing/2014/main" id="{63735A03-1E09-4ADD-A12A-4C3463E6F4AE}"/>
              </a:ext>
            </a:extLst>
          </p:cNvPr>
          <p:cNvGraphicFramePr/>
          <p:nvPr>
            <p:extLst>
              <p:ext uri="{D42A27DB-BD31-4B8C-83A1-F6EECF244321}">
                <p14:modId xmlns:p14="http://schemas.microsoft.com/office/powerpoint/2010/main" val="2747134485"/>
              </p:ext>
            </p:extLst>
          </p:nvPr>
        </p:nvGraphicFramePr>
        <p:xfrm>
          <a:off x="229639" y="1295400"/>
          <a:ext cx="86868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891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48C7C0-1B84-40C9-9838-E52637D934EF}"/>
              </a:ext>
            </a:extLst>
          </p:cNvPr>
          <p:cNvSpPr txBox="1"/>
          <p:nvPr/>
        </p:nvSpPr>
        <p:spPr>
          <a:xfrm>
            <a:off x="1" y="5322147"/>
            <a:ext cx="9144000" cy="744836"/>
          </a:xfrm>
          <a:prstGeom prst="rect">
            <a:avLst/>
          </a:prstGeom>
          <a:solidFill>
            <a:schemeClr val="bg2">
              <a:lumMod val="50000"/>
            </a:schemeClr>
          </a:solidFill>
        </p:spPr>
        <p:txBody>
          <a:bodyPr vert="horz" lIns="91440" tIns="45720" rIns="91440" bIns="45720" rtlCol="0" anchor="ctr">
            <a:normAutofit/>
          </a:bodyPr>
          <a:lstStyle/>
          <a:p>
            <a:pPr algn="ctr">
              <a:lnSpc>
                <a:spcPct val="90000"/>
              </a:lnSpc>
              <a:spcBef>
                <a:spcPct val="0"/>
              </a:spcBef>
              <a:spcAft>
                <a:spcPts val="600"/>
              </a:spcAft>
            </a:pPr>
            <a:r>
              <a:rPr lang="en-US" sz="2800" b="1" kern="1200">
                <a:solidFill>
                  <a:schemeClr val="bg1"/>
                </a:solidFill>
                <a:latin typeface="+mj-lt"/>
                <a:ea typeface="+mj-ea"/>
                <a:cs typeface="+mj-cs"/>
              </a:rPr>
              <a:t>Communication Plan</a:t>
            </a:r>
          </a:p>
        </p:txBody>
      </p:sp>
      <p:graphicFrame>
        <p:nvGraphicFramePr>
          <p:cNvPr id="2" name="Table 5">
            <a:extLst>
              <a:ext uri="{FF2B5EF4-FFF2-40B4-BE49-F238E27FC236}">
                <a16:creationId xmlns:a16="http://schemas.microsoft.com/office/drawing/2014/main" id="{D7ECCA43-13CB-41FC-AEA8-3D8C7CF0A5B7}"/>
              </a:ext>
            </a:extLst>
          </p:cNvPr>
          <p:cNvGraphicFramePr>
            <a:graphicFrameLocks noGrp="1"/>
          </p:cNvGraphicFramePr>
          <p:nvPr>
            <p:extLst>
              <p:ext uri="{D42A27DB-BD31-4B8C-83A1-F6EECF244321}">
                <p14:modId xmlns:p14="http://schemas.microsoft.com/office/powerpoint/2010/main" val="328028727"/>
              </p:ext>
            </p:extLst>
          </p:nvPr>
        </p:nvGraphicFramePr>
        <p:xfrm>
          <a:off x="228600" y="609600"/>
          <a:ext cx="8763001" cy="4851570"/>
        </p:xfrm>
        <a:graphic>
          <a:graphicData uri="http://schemas.openxmlformats.org/drawingml/2006/table">
            <a:tbl>
              <a:tblPr firstRow="1" bandRow="1">
                <a:tableStyleId>{125E5076-3810-47DD-B79F-674D7AD40C01}</a:tableStyleId>
              </a:tblPr>
              <a:tblGrid>
                <a:gridCol w="510202">
                  <a:extLst>
                    <a:ext uri="{9D8B030D-6E8A-4147-A177-3AD203B41FA5}">
                      <a16:colId xmlns:a16="http://schemas.microsoft.com/office/drawing/2014/main" val="4125920848"/>
                    </a:ext>
                  </a:extLst>
                </a:gridCol>
                <a:gridCol w="1166198">
                  <a:extLst>
                    <a:ext uri="{9D8B030D-6E8A-4147-A177-3AD203B41FA5}">
                      <a16:colId xmlns:a16="http://schemas.microsoft.com/office/drawing/2014/main" val="271514199"/>
                    </a:ext>
                  </a:extLst>
                </a:gridCol>
                <a:gridCol w="1905000">
                  <a:extLst>
                    <a:ext uri="{9D8B030D-6E8A-4147-A177-3AD203B41FA5}">
                      <a16:colId xmlns:a16="http://schemas.microsoft.com/office/drawing/2014/main" val="3806818697"/>
                    </a:ext>
                  </a:extLst>
                </a:gridCol>
                <a:gridCol w="1066800">
                  <a:extLst>
                    <a:ext uri="{9D8B030D-6E8A-4147-A177-3AD203B41FA5}">
                      <a16:colId xmlns:a16="http://schemas.microsoft.com/office/drawing/2014/main" val="671395118"/>
                    </a:ext>
                  </a:extLst>
                </a:gridCol>
                <a:gridCol w="1752600">
                  <a:extLst>
                    <a:ext uri="{9D8B030D-6E8A-4147-A177-3AD203B41FA5}">
                      <a16:colId xmlns:a16="http://schemas.microsoft.com/office/drawing/2014/main" val="2470260508"/>
                    </a:ext>
                  </a:extLst>
                </a:gridCol>
                <a:gridCol w="762000">
                  <a:extLst>
                    <a:ext uri="{9D8B030D-6E8A-4147-A177-3AD203B41FA5}">
                      <a16:colId xmlns:a16="http://schemas.microsoft.com/office/drawing/2014/main" val="2959867144"/>
                    </a:ext>
                  </a:extLst>
                </a:gridCol>
                <a:gridCol w="914400">
                  <a:extLst>
                    <a:ext uri="{9D8B030D-6E8A-4147-A177-3AD203B41FA5}">
                      <a16:colId xmlns:a16="http://schemas.microsoft.com/office/drawing/2014/main" val="140082721"/>
                    </a:ext>
                  </a:extLst>
                </a:gridCol>
                <a:gridCol w="685801">
                  <a:extLst>
                    <a:ext uri="{9D8B030D-6E8A-4147-A177-3AD203B41FA5}">
                      <a16:colId xmlns:a16="http://schemas.microsoft.com/office/drawing/2014/main" val="2846434154"/>
                    </a:ext>
                  </a:extLst>
                </a:gridCol>
              </a:tblGrid>
              <a:tr h="488486">
                <a:tc>
                  <a:txBody>
                    <a:bodyPr/>
                    <a:lstStyle/>
                    <a:p>
                      <a:r>
                        <a:rPr lang="en-US" sz="1400" b="0" cap="none" spc="0" dirty="0">
                          <a:solidFill>
                            <a:schemeClr val="bg1"/>
                          </a:solidFill>
                        </a:rPr>
                        <a:t>Seq no</a:t>
                      </a:r>
                    </a:p>
                  </a:txBody>
                  <a:tcPr marL="65089" marR="65089" marT="65089" marB="32544" anchor="ctr">
                    <a:solidFill>
                      <a:schemeClr val="bg2">
                        <a:lumMod val="50000"/>
                      </a:schemeClr>
                    </a:solidFill>
                  </a:tcPr>
                </a:tc>
                <a:tc>
                  <a:txBody>
                    <a:bodyPr/>
                    <a:lstStyle/>
                    <a:p>
                      <a:r>
                        <a:rPr lang="en-US" sz="1400" b="0" cap="none" spc="0" dirty="0">
                          <a:solidFill>
                            <a:schemeClr val="bg1"/>
                          </a:solidFill>
                        </a:rPr>
                        <a:t>Channel </a:t>
                      </a:r>
                    </a:p>
                  </a:txBody>
                  <a:tcPr marL="65089" marR="65089" marT="65089" marB="32544" anchor="ctr">
                    <a:solidFill>
                      <a:schemeClr val="bg2">
                        <a:lumMod val="50000"/>
                      </a:schemeClr>
                    </a:solidFill>
                  </a:tcPr>
                </a:tc>
                <a:tc>
                  <a:txBody>
                    <a:bodyPr/>
                    <a:lstStyle/>
                    <a:p>
                      <a:r>
                        <a:rPr lang="en-US" sz="1400" b="0" cap="none" spc="0" dirty="0">
                          <a:solidFill>
                            <a:schemeClr val="bg1"/>
                          </a:solidFill>
                        </a:rPr>
                        <a:t>Type</a:t>
                      </a:r>
                    </a:p>
                  </a:txBody>
                  <a:tcPr marL="65089" marR="65089" marT="65089" marB="32544" anchor="ctr">
                    <a:solidFill>
                      <a:schemeClr val="bg2">
                        <a:lumMod val="50000"/>
                      </a:schemeClr>
                    </a:solidFill>
                  </a:tcPr>
                </a:tc>
                <a:tc>
                  <a:txBody>
                    <a:bodyPr/>
                    <a:lstStyle/>
                    <a:p>
                      <a:r>
                        <a:rPr lang="en-US" sz="1400" b="0" cap="none" spc="0" dirty="0">
                          <a:solidFill>
                            <a:schemeClr val="bg1"/>
                          </a:solidFill>
                        </a:rPr>
                        <a:t>By Whom</a:t>
                      </a:r>
                    </a:p>
                  </a:txBody>
                  <a:tcPr marL="65089" marR="65089" marT="65089" marB="32544" anchor="ctr">
                    <a:solidFill>
                      <a:schemeClr val="bg2">
                        <a:lumMod val="50000"/>
                      </a:schemeClr>
                    </a:solidFill>
                  </a:tcPr>
                </a:tc>
                <a:tc>
                  <a:txBody>
                    <a:bodyPr/>
                    <a:lstStyle/>
                    <a:p>
                      <a:r>
                        <a:rPr lang="en-US" sz="1400" b="0" cap="none" spc="0" dirty="0">
                          <a:solidFill>
                            <a:schemeClr val="bg1"/>
                          </a:solidFill>
                        </a:rPr>
                        <a:t>Content</a:t>
                      </a:r>
                    </a:p>
                  </a:txBody>
                  <a:tcPr marL="65089" marR="65089" marT="65089" marB="32544" anchor="ctr">
                    <a:solidFill>
                      <a:schemeClr val="bg2">
                        <a:lumMod val="50000"/>
                      </a:schemeClr>
                    </a:solidFill>
                  </a:tcPr>
                </a:tc>
                <a:tc>
                  <a:txBody>
                    <a:bodyPr/>
                    <a:lstStyle/>
                    <a:p>
                      <a:r>
                        <a:rPr lang="en-US" sz="1400" b="0" cap="none" spc="0" dirty="0">
                          <a:solidFill>
                            <a:schemeClr val="bg1"/>
                          </a:solidFill>
                        </a:rPr>
                        <a:t>Timeline</a:t>
                      </a:r>
                    </a:p>
                  </a:txBody>
                  <a:tcPr marL="65089" marR="65089" marT="65089" marB="32544" anchor="ctr">
                    <a:solidFill>
                      <a:schemeClr val="bg2">
                        <a:lumMod val="50000"/>
                      </a:schemeClr>
                    </a:solidFill>
                  </a:tcPr>
                </a:tc>
                <a:tc>
                  <a:txBody>
                    <a:bodyPr/>
                    <a:lstStyle/>
                    <a:p>
                      <a:r>
                        <a:rPr lang="en-US" sz="1400" b="0" cap="none" spc="0" dirty="0">
                          <a:solidFill>
                            <a:schemeClr val="bg1"/>
                          </a:solidFill>
                        </a:rPr>
                        <a:t>Target Audience</a:t>
                      </a:r>
                    </a:p>
                  </a:txBody>
                  <a:tcPr marL="65089" marR="65089" marT="65089" marB="32544" anchor="ctr">
                    <a:solidFill>
                      <a:schemeClr val="bg2">
                        <a:lumMod val="50000"/>
                      </a:schemeClr>
                    </a:solidFill>
                  </a:tcPr>
                </a:tc>
                <a:tc>
                  <a:txBody>
                    <a:bodyPr/>
                    <a:lstStyle/>
                    <a:p>
                      <a:r>
                        <a:rPr lang="en-US" sz="1400" b="0" cap="none" spc="0" dirty="0">
                          <a:solidFill>
                            <a:schemeClr val="bg1"/>
                          </a:solidFill>
                        </a:rPr>
                        <a:t>Status</a:t>
                      </a:r>
                    </a:p>
                  </a:txBody>
                  <a:tcPr marL="65089" marR="65089" marT="65089" marB="32544" anchor="ctr">
                    <a:solidFill>
                      <a:schemeClr val="bg2">
                        <a:lumMod val="50000"/>
                      </a:schemeClr>
                    </a:solidFill>
                  </a:tcPr>
                </a:tc>
                <a:extLst>
                  <a:ext uri="{0D108BD9-81ED-4DB2-BD59-A6C34878D82A}">
                    <a16:rowId xmlns:a16="http://schemas.microsoft.com/office/drawing/2014/main" val="2793580516"/>
                  </a:ext>
                </a:extLst>
              </a:tr>
              <a:tr h="433322">
                <a:tc>
                  <a:txBody>
                    <a:bodyPr/>
                    <a:lstStyle/>
                    <a:p>
                      <a:pPr algn="ctr"/>
                      <a:r>
                        <a:rPr lang="en-US" sz="1050" cap="none" spc="0" dirty="0">
                          <a:solidFill>
                            <a:schemeClr val="bg1"/>
                          </a:solidFill>
                        </a:rPr>
                        <a:t>1</a:t>
                      </a:r>
                    </a:p>
                  </a:txBody>
                  <a:tcPr marL="65089" marR="65089" marT="65089" marB="32544"/>
                </a:tc>
                <a:tc>
                  <a:txBody>
                    <a:bodyPr/>
                    <a:lstStyle/>
                    <a:p>
                      <a:r>
                        <a:rPr lang="en-US" sz="1050" cap="none" spc="0" dirty="0">
                          <a:solidFill>
                            <a:schemeClr val="bg1"/>
                          </a:solidFill>
                        </a:rPr>
                        <a:t>HR </a:t>
                      </a:r>
                      <a:br>
                        <a:rPr lang="en-US" sz="1050" cap="none" spc="0" dirty="0">
                          <a:solidFill>
                            <a:schemeClr val="bg1"/>
                          </a:solidFill>
                        </a:rPr>
                      </a:br>
                      <a:r>
                        <a:rPr lang="en-US" sz="1050" cap="none" spc="0" dirty="0">
                          <a:solidFill>
                            <a:schemeClr val="bg1"/>
                          </a:solidFill>
                        </a:rPr>
                        <a:t>comms</a:t>
                      </a:r>
                    </a:p>
                  </a:txBody>
                  <a:tcPr marL="65089" marR="65089" marT="65089" marB="32544"/>
                </a:tc>
                <a:tc>
                  <a:txBody>
                    <a:bodyPr/>
                    <a:lstStyle/>
                    <a:p>
                      <a:r>
                        <a:rPr lang="en-US" sz="1050" cap="none" spc="0" dirty="0">
                          <a:solidFill>
                            <a:schemeClr val="bg1"/>
                          </a:solidFill>
                        </a:rPr>
                        <a:t>Launch Email </a:t>
                      </a:r>
                    </a:p>
                  </a:txBody>
                  <a:tcPr marL="65089" marR="65089" marT="65089" marB="32544"/>
                </a:tc>
                <a:tc>
                  <a:txBody>
                    <a:bodyPr/>
                    <a:lstStyle/>
                    <a:p>
                      <a:r>
                        <a:rPr lang="en-US" sz="1050" cap="none" spc="0" dirty="0">
                          <a:solidFill>
                            <a:schemeClr val="bg1"/>
                          </a:solidFill>
                        </a:rPr>
                        <a:t>HR Comms</a:t>
                      </a:r>
                    </a:p>
                  </a:txBody>
                  <a:tcPr marL="65089" marR="65089" marT="65089" marB="32544"/>
                </a:tc>
                <a:tc>
                  <a:txBody>
                    <a:bodyPr/>
                    <a:lstStyle/>
                    <a:p>
                      <a:r>
                        <a:rPr lang="en-US" sz="1050" cap="none" spc="0" dirty="0">
                          <a:solidFill>
                            <a:schemeClr val="bg1"/>
                          </a:solidFill>
                        </a:rPr>
                        <a:t>Strengthening the Leadership Foundations with 8 Leadership Competencies</a:t>
                      </a:r>
                    </a:p>
                  </a:txBody>
                  <a:tcPr marL="65089" marR="65089" marT="65089" marB="32544"/>
                </a:tc>
                <a:tc>
                  <a:txBody>
                    <a:bodyPr/>
                    <a:lstStyle/>
                    <a:p>
                      <a:r>
                        <a:rPr lang="en-US" sz="1050" cap="none" spc="0" dirty="0">
                          <a:solidFill>
                            <a:schemeClr val="bg1"/>
                          </a:solidFill>
                        </a:rPr>
                        <a:t>15 July</a:t>
                      </a:r>
                    </a:p>
                  </a:txBody>
                  <a:tcPr marL="65089" marR="65089" marT="65089" marB="32544"/>
                </a:tc>
                <a:tc>
                  <a:txBody>
                    <a:bodyPr/>
                    <a:lstStyle/>
                    <a:p>
                      <a:r>
                        <a:rPr lang="en-US" sz="1050" cap="none" spc="0" dirty="0">
                          <a:solidFill>
                            <a:schemeClr val="bg1"/>
                          </a:solidFill>
                        </a:rPr>
                        <a:t>Bands G &amp; above</a:t>
                      </a:r>
                    </a:p>
                  </a:txBody>
                  <a:tcPr marL="65089" marR="65089" marT="65089" marB="32544"/>
                </a:tc>
                <a:tc>
                  <a:txBody>
                    <a:bodyPr/>
                    <a:lstStyle/>
                    <a:p>
                      <a:r>
                        <a:rPr lang="en-US" sz="1050" cap="none" spc="0" dirty="0">
                          <a:solidFill>
                            <a:schemeClr val="bg1"/>
                          </a:solidFill>
                        </a:rPr>
                        <a:t>Closed</a:t>
                      </a:r>
                    </a:p>
                  </a:txBody>
                  <a:tcPr marL="65089" marR="65089" marT="65089" marB="32544">
                    <a:solidFill>
                      <a:srgbClr val="00B050"/>
                    </a:solidFill>
                  </a:tcPr>
                </a:tc>
                <a:extLst>
                  <a:ext uri="{0D108BD9-81ED-4DB2-BD59-A6C34878D82A}">
                    <a16:rowId xmlns:a16="http://schemas.microsoft.com/office/drawing/2014/main" val="1481517539"/>
                  </a:ext>
                </a:extLst>
              </a:tr>
              <a:tr h="286432">
                <a:tc>
                  <a:txBody>
                    <a:bodyPr/>
                    <a:lstStyle/>
                    <a:p>
                      <a:pPr algn="ctr"/>
                      <a:r>
                        <a:rPr lang="en-US" sz="1050" cap="none" spc="0" dirty="0">
                          <a:solidFill>
                            <a:schemeClr val="bg1"/>
                          </a:solidFill>
                        </a:rPr>
                        <a:t>2</a:t>
                      </a:r>
                    </a:p>
                  </a:txBody>
                  <a:tcPr marL="65089" marR="65089" marT="65089" marB="32544"/>
                </a:tc>
                <a:tc>
                  <a:txBody>
                    <a:bodyPr/>
                    <a:lstStyle/>
                    <a:p>
                      <a:r>
                        <a:rPr lang="en-US" sz="1050" cap="none" spc="0">
                          <a:solidFill>
                            <a:schemeClr val="bg1"/>
                          </a:solidFill>
                        </a:rPr>
                        <a:t>Intranet</a:t>
                      </a:r>
                    </a:p>
                  </a:txBody>
                  <a:tcPr marL="65089" marR="65089" marT="65089" marB="32544"/>
                </a:tc>
                <a:tc>
                  <a:txBody>
                    <a:bodyPr/>
                    <a:lstStyle/>
                    <a:p>
                      <a:r>
                        <a:rPr lang="en-US" sz="1050" cap="none" spc="0" dirty="0">
                          <a:solidFill>
                            <a:schemeClr val="bg1"/>
                          </a:solidFill>
                        </a:rPr>
                        <a:t>Banner, Carrousel</a:t>
                      </a:r>
                    </a:p>
                  </a:txBody>
                  <a:tcPr marL="65089" marR="65089" marT="65089" marB="32544"/>
                </a:tc>
                <a:tc>
                  <a:txBody>
                    <a:bodyPr/>
                    <a:lstStyle/>
                    <a:p>
                      <a:r>
                        <a:rPr lang="en-US" sz="1050" cap="none" spc="0" dirty="0">
                          <a:solidFill>
                            <a:schemeClr val="bg1"/>
                          </a:solidFill>
                        </a:rPr>
                        <a:t> HR Comms</a:t>
                      </a:r>
                    </a:p>
                  </a:txBody>
                  <a:tcPr marL="65089" marR="65089" marT="65089" marB="32544"/>
                </a:tc>
                <a:tc>
                  <a:txBody>
                    <a:bodyPr/>
                    <a:lstStyle/>
                    <a:p>
                      <a:r>
                        <a:rPr lang="en-US" sz="1050" cap="none" spc="0" dirty="0">
                          <a:solidFill>
                            <a:schemeClr val="bg1"/>
                          </a:solidFill>
                        </a:rPr>
                        <a:t>Leadership Competency themed</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cap="none" spc="0" dirty="0">
                          <a:solidFill>
                            <a:schemeClr val="bg1"/>
                          </a:solidFill>
                        </a:rPr>
                        <a:t>15-20 July</a:t>
                      </a:r>
                    </a:p>
                  </a:txBody>
                  <a:tcPr marL="65089" marR="65089" marT="65089" marB="32544"/>
                </a:tc>
                <a:tc>
                  <a:txBody>
                    <a:bodyPr/>
                    <a:lstStyle/>
                    <a:p>
                      <a:r>
                        <a:rPr lang="en-US" sz="1050" cap="none" spc="0" dirty="0">
                          <a:solidFill>
                            <a:schemeClr val="bg1"/>
                          </a:solidFill>
                        </a:rPr>
                        <a:t>All Employees</a:t>
                      </a:r>
                    </a:p>
                  </a:txBody>
                  <a:tcPr marL="65089" marR="65089" marT="65089" marB="32544"/>
                </a:tc>
                <a:tc>
                  <a:txBody>
                    <a:bodyPr/>
                    <a:lstStyle/>
                    <a:p>
                      <a:r>
                        <a:rPr lang="en-US" sz="1050" cap="none" spc="0" dirty="0">
                          <a:solidFill>
                            <a:schemeClr val="bg1"/>
                          </a:solidFill>
                        </a:rPr>
                        <a:t>Closed</a:t>
                      </a:r>
                    </a:p>
                  </a:txBody>
                  <a:tcPr marL="65089" marR="65089" marT="65089" marB="32544">
                    <a:solidFill>
                      <a:srgbClr val="00B050"/>
                    </a:solidFill>
                  </a:tcPr>
                </a:tc>
                <a:extLst>
                  <a:ext uri="{0D108BD9-81ED-4DB2-BD59-A6C34878D82A}">
                    <a16:rowId xmlns:a16="http://schemas.microsoft.com/office/drawing/2014/main" val="659593767"/>
                  </a:ext>
                </a:extLst>
              </a:tr>
              <a:tr h="580209">
                <a:tc>
                  <a:txBody>
                    <a:bodyPr/>
                    <a:lstStyle/>
                    <a:p>
                      <a:pPr algn="ctr"/>
                      <a:r>
                        <a:rPr lang="en-US" sz="1050" cap="none" spc="0" dirty="0">
                          <a:solidFill>
                            <a:schemeClr val="bg1"/>
                          </a:solidFill>
                        </a:rPr>
                        <a:t>3</a:t>
                      </a:r>
                    </a:p>
                  </a:txBody>
                  <a:tcPr marL="65089" marR="65089" marT="65089" marB="32544"/>
                </a:tc>
                <a:tc>
                  <a:txBody>
                    <a:bodyPr/>
                    <a:lstStyle/>
                    <a:p>
                      <a:r>
                        <a:rPr lang="en-US" sz="1050" cap="none" spc="0" dirty="0">
                          <a:solidFill>
                            <a:schemeClr val="bg1"/>
                          </a:solidFill>
                        </a:rPr>
                        <a:t>HRBP &amp; L&amp;D awareness session</a:t>
                      </a:r>
                    </a:p>
                  </a:txBody>
                  <a:tcPr marL="65089" marR="65089" marT="65089" marB="32544"/>
                </a:tc>
                <a:tc>
                  <a:txBody>
                    <a:bodyPr/>
                    <a:lstStyle/>
                    <a:p>
                      <a:r>
                        <a:rPr lang="en-US" sz="1050" cap="none" spc="0" dirty="0">
                          <a:solidFill>
                            <a:schemeClr val="bg1"/>
                          </a:solidFill>
                        </a:rPr>
                        <a:t>MS Teams</a:t>
                      </a:r>
                    </a:p>
                  </a:txBody>
                  <a:tcPr marL="65089" marR="65089" marT="65089" marB="32544"/>
                </a:tc>
                <a:tc>
                  <a:txBody>
                    <a:bodyPr/>
                    <a:lstStyle/>
                    <a:p>
                      <a:r>
                        <a:rPr lang="en-US" sz="1050" cap="none" spc="0" dirty="0">
                          <a:solidFill>
                            <a:schemeClr val="bg1"/>
                          </a:solidFill>
                        </a:rPr>
                        <a:t>Group L&amp;D</a:t>
                      </a:r>
                    </a:p>
                  </a:txBody>
                  <a:tcPr marL="65089" marR="65089" marT="65089" marB="32544"/>
                </a:tc>
                <a:tc>
                  <a:txBody>
                    <a:bodyPr/>
                    <a:lstStyle/>
                    <a:p>
                      <a:r>
                        <a:rPr lang="en-US" sz="1050" cap="none" spc="0" dirty="0">
                          <a:solidFill>
                            <a:schemeClr val="bg1"/>
                          </a:solidFill>
                        </a:rPr>
                        <a:t>Leadership Development Architecture </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July – Aug</a:t>
                      </a:r>
                    </a:p>
                  </a:txBody>
                  <a:tcPr marL="65089" marR="65089" marT="65089" marB="32544"/>
                </a:tc>
                <a:tc>
                  <a:txBody>
                    <a:bodyPr/>
                    <a:lstStyle/>
                    <a:p>
                      <a:r>
                        <a:rPr lang="en-US" sz="1050" cap="none" spc="0" dirty="0">
                          <a:solidFill>
                            <a:schemeClr val="bg1"/>
                          </a:solidFill>
                        </a:rPr>
                        <a:t>HRBPs &amp; L&amp;D</a:t>
                      </a:r>
                    </a:p>
                  </a:txBody>
                  <a:tcPr marL="65089" marR="65089" marT="65089" marB="32544"/>
                </a:tc>
                <a:tc>
                  <a:txBody>
                    <a:bodyPr/>
                    <a:lstStyle/>
                    <a:p>
                      <a:r>
                        <a:rPr lang="en-US" sz="1050" cap="none" spc="0" dirty="0">
                          <a:solidFill>
                            <a:schemeClr val="bg1"/>
                          </a:solidFill>
                        </a:rPr>
                        <a:t>Closed</a:t>
                      </a:r>
                    </a:p>
                  </a:txBody>
                  <a:tcPr marL="65089" marR="65089" marT="65089" marB="32544">
                    <a:solidFill>
                      <a:srgbClr val="00B050"/>
                    </a:solidFill>
                  </a:tcPr>
                </a:tc>
                <a:extLst>
                  <a:ext uri="{0D108BD9-81ED-4DB2-BD59-A6C34878D82A}">
                    <a16:rowId xmlns:a16="http://schemas.microsoft.com/office/drawing/2014/main" val="2457757141"/>
                  </a:ext>
                </a:extLst>
              </a:tr>
              <a:tr h="580209">
                <a:tc>
                  <a:txBody>
                    <a:bodyPr/>
                    <a:lstStyle/>
                    <a:p>
                      <a:pPr algn="ctr"/>
                      <a:r>
                        <a:rPr lang="en-US" sz="1050" cap="none" spc="0" dirty="0">
                          <a:solidFill>
                            <a:schemeClr val="bg1"/>
                          </a:solidFill>
                        </a:rPr>
                        <a:t>4</a:t>
                      </a:r>
                    </a:p>
                  </a:txBody>
                  <a:tcPr marL="65089" marR="65089" marT="65089" marB="32544"/>
                </a:tc>
                <a:tc>
                  <a:txBody>
                    <a:bodyPr/>
                    <a:lstStyle/>
                    <a:p>
                      <a:r>
                        <a:rPr lang="en-US" sz="1050" cap="none" spc="0">
                          <a:solidFill>
                            <a:schemeClr val="bg1"/>
                          </a:solidFill>
                        </a:rPr>
                        <a:t>Virtual</a:t>
                      </a:r>
                      <a:br>
                        <a:rPr lang="en-US" sz="1050" cap="none" spc="0">
                          <a:solidFill>
                            <a:schemeClr val="bg1"/>
                          </a:solidFill>
                        </a:rPr>
                      </a:br>
                      <a:r>
                        <a:rPr lang="en-US" sz="1050" cap="none" spc="0">
                          <a:solidFill>
                            <a:schemeClr val="bg1"/>
                          </a:solidFill>
                        </a:rPr>
                        <a:t>Forums (Co-fac BL,HRBP, L&amp;D)</a:t>
                      </a:r>
                    </a:p>
                  </a:txBody>
                  <a:tcPr marL="65089" marR="65089" marT="65089" marB="32544"/>
                </a:tc>
                <a:tc>
                  <a:txBody>
                    <a:bodyPr/>
                    <a:lstStyle/>
                    <a:p>
                      <a:r>
                        <a:rPr lang="en-US" sz="1050" cap="none" spc="0" dirty="0">
                          <a:solidFill>
                            <a:schemeClr val="bg1"/>
                          </a:solidFill>
                        </a:rPr>
                        <a:t>6 Divisional education forums,  co-facilitated by L&amp;D &amp; Group L&amp;D, supported by HRBP</a:t>
                      </a:r>
                    </a:p>
                  </a:txBody>
                  <a:tcPr marL="65089" marR="65089" marT="65089" marB="32544"/>
                </a:tc>
                <a:tc>
                  <a:txBody>
                    <a:bodyPr/>
                    <a:lstStyle/>
                    <a:p>
                      <a:r>
                        <a:rPr lang="en-US" sz="1050" cap="none" spc="0" dirty="0">
                          <a:solidFill>
                            <a:schemeClr val="bg1"/>
                          </a:solidFill>
                        </a:rPr>
                        <a:t>L&amp;D, HRBP</a:t>
                      </a:r>
                    </a:p>
                  </a:txBody>
                  <a:tcPr marL="65089" marR="65089" marT="65089" marB="32544"/>
                </a:tc>
                <a:tc>
                  <a:txBody>
                    <a:bodyPr/>
                    <a:lstStyle/>
                    <a:p>
                      <a:r>
                        <a:rPr lang="en-US" sz="1050" cap="none" spc="0" dirty="0">
                          <a:solidFill>
                            <a:schemeClr val="bg1"/>
                          </a:solidFill>
                        </a:rPr>
                        <a:t>60 minutes educational forums </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August – September</a:t>
                      </a:r>
                    </a:p>
                  </a:txBody>
                  <a:tcPr marL="65089" marR="65089" marT="65089" marB="32544"/>
                </a:tc>
                <a:tc>
                  <a:txBody>
                    <a:bodyPr/>
                    <a:lstStyle/>
                    <a:p>
                      <a:r>
                        <a:rPr lang="en-US" sz="1050" cap="none" spc="0" dirty="0">
                          <a:solidFill>
                            <a:schemeClr val="bg1"/>
                          </a:solidFill>
                        </a:rPr>
                        <a:t>Bands G &amp; above</a:t>
                      </a:r>
                    </a:p>
                  </a:txBody>
                  <a:tcPr marL="65089" marR="65089" marT="65089" marB="32544"/>
                </a:tc>
                <a:tc>
                  <a:txBody>
                    <a:bodyPr/>
                    <a:lstStyle/>
                    <a:p>
                      <a:r>
                        <a:rPr lang="en-US" sz="1050" cap="none" spc="0" dirty="0">
                          <a:solidFill>
                            <a:schemeClr val="bg1"/>
                          </a:solidFill>
                        </a:rPr>
                        <a:t>Coming Next</a:t>
                      </a:r>
                    </a:p>
                  </a:txBody>
                  <a:tcPr marL="65089" marR="65089" marT="65089" marB="32544">
                    <a:solidFill>
                      <a:srgbClr val="92D050"/>
                    </a:solidFill>
                  </a:tcPr>
                </a:tc>
                <a:extLst>
                  <a:ext uri="{0D108BD9-81ED-4DB2-BD59-A6C34878D82A}">
                    <a16:rowId xmlns:a16="http://schemas.microsoft.com/office/drawing/2014/main" val="4255351017"/>
                  </a:ext>
                </a:extLst>
              </a:tr>
              <a:tr h="580209">
                <a:tc>
                  <a:txBody>
                    <a:bodyPr/>
                    <a:lstStyle/>
                    <a:p>
                      <a:pPr algn="ctr"/>
                      <a:r>
                        <a:rPr lang="en-US" sz="1050" cap="none" spc="0" dirty="0">
                          <a:solidFill>
                            <a:schemeClr val="bg1"/>
                          </a:solidFill>
                        </a:rPr>
                        <a:t>5</a:t>
                      </a:r>
                    </a:p>
                  </a:txBody>
                  <a:tcPr marL="65089" marR="65089" marT="65089" marB="32544"/>
                </a:tc>
                <a:tc>
                  <a:txBody>
                    <a:bodyPr/>
                    <a:lstStyle/>
                    <a:p>
                      <a:r>
                        <a:rPr lang="en-US" sz="1050" cap="none" spc="0" dirty="0">
                          <a:solidFill>
                            <a:schemeClr val="bg1"/>
                          </a:solidFill>
                        </a:rPr>
                        <a:t>Toolkit on </a:t>
                      </a:r>
                      <a:r>
                        <a:rPr lang="en-US" sz="1050" cap="none" spc="0" dirty="0" err="1">
                          <a:solidFill>
                            <a:schemeClr val="bg1"/>
                          </a:solidFill>
                        </a:rPr>
                        <a:t>iGROW</a:t>
                      </a:r>
                      <a:endParaRPr lang="en-US" sz="1050" cap="none" spc="0" dirty="0">
                        <a:solidFill>
                          <a:schemeClr val="bg1"/>
                        </a:solidFill>
                      </a:endParaRPr>
                    </a:p>
                  </a:txBody>
                  <a:tcPr marL="65089" marR="65089" marT="65089" marB="32544"/>
                </a:tc>
                <a:tc>
                  <a:txBody>
                    <a:bodyPr/>
                    <a:lstStyle/>
                    <a:p>
                      <a:r>
                        <a:rPr lang="en-US" sz="1050" cap="none" spc="0" dirty="0">
                          <a:solidFill>
                            <a:schemeClr val="bg1"/>
                          </a:solidFill>
                        </a:rPr>
                        <a:t>PDFs, DOCs, presentations </a:t>
                      </a:r>
                    </a:p>
                  </a:txBody>
                  <a:tcPr marL="65089" marR="65089" marT="65089" marB="32544"/>
                </a:tc>
                <a:tc>
                  <a:txBody>
                    <a:bodyPr/>
                    <a:lstStyle/>
                    <a:p>
                      <a:r>
                        <a:rPr lang="en-US" sz="1050" cap="none" spc="0" dirty="0">
                          <a:solidFill>
                            <a:schemeClr val="bg1"/>
                          </a:solidFill>
                        </a:rPr>
                        <a:t>Hosted on Employee I-Grow profile, Intranet</a:t>
                      </a:r>
                    </a:p>
                  </a:txBody>
                  <a:tcPr marL="65089" marR="65089" marT="65089" marB="32544"/>
                </a:tc>
                <a:tc>
                  <a:txBody>
                    <a:bodyPr/>
                    <a:lstStyle/>
                    <a:p>
                      <a:r>
                        <a:rPr lang="en-US" sz="1050" cap="none" spc="0" dirty="0">
                          <a:solidFill>
                            <a:schemeClr val="bg1"/>
                          </a:solidFill>
                        </a:rPr>
                        <a:t>Practical developmental guides with LinkedIn learning courses for each competency</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mn-lt"/>
                          <a:ea typeface="+mn-ea"/>
                          <a:cs typeface="+mn-cs"/>
                        </a:rPr>
                        <a:t>August</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cap="none" spc="0" dirty="0">
                          <a:solidFill>
                            <a:schemeClr val="bg1"/>
                          </a:solidFill>
                        </a:rPr>
                        <a:t>Bands G &amp; above</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050" cap="none" spc="0" dirty="0">
                        <a:solidFill>
                          <a:schemeClr val="bg1"/>
                        </a:solidFill>
                      </a:endParaRPr>
                    </a:p>
                  </a:txBody>
                  <a:tcPr marL="65089" marR="65089" marT="65089" marB="32544"/>
                </a:tc>
                <a:extLst>
                  <a:ext uri="{0D108BD9-81ED-4DB2-BD59-A6C34878D82A}">
                    <a16:rowId xmlns:a16="http://schemas.microsoft.com/office/drawing/2014/main" val="2754188517"/>
                  </a:ext>
                </a:extLst>
              </a:tr>
              <a:tr h="580209">
                <a:tc>
                  <a:txBody>
                    <a:bodyPr/>
                    <a:lstStyle/>
                    <a:p>
                      <a:pPr algn="ctr"/>
                      <a:r>
                        <a:rPr lang="en-US" sz="1050" cap="none" spc="0" dirty="0">
                          <a:solidFill>
                            <a:schemeClr val="bg1"/>
                          </a:solidFill>
                        </a:rPr>
                        <a:t>6</a:t>
                      </a:r>
                    </a:p>
                  </a:txBody>
                  <a:tcPr marL="65089" marR="65089" marT="65089" marB="32544"/>
                </a:tc>
                <a:tc>
                  <a:txBody>
                    <a:bodyPr/>
                    <a:lstStyle/>
                    <a:p>
                      <a:r>
                        <a:rPr lang="en-US" sz="1050" cap="none" spc="0">
                          <a:solidFill>
                            <a:schemeClr val="bg1"/>
                          </a:solidFill>
                        </a:rPr>
                        <a:t>LMS assigned recommended courses</a:t>
                      </a:r>
                    </a:p>
                  </a:txBody>
                  <a:tcPr marL="65089" marR="65089" marT="65089" marB="32544"/>
                </a:tc>
                <a:tc>
                  <a:txBody>
                    <a:bodyPr/>
                    <a:lstStyle/>
                    <a:p>
                      <a:r>
                        <a:rPr lang="en-US" sz="1050" cap="none" spc="0">
                          <a:solidFill>
                            <a:schemeClr val="bg1"/>
                          </a:solidFill>
                        </a:rPr>
                        <a:t>8, E-learning courses</a:t>
                      </a:r>
                    </a:p>
                  </a:txBody>
                  <a:tcPr marL="65089" marR="65089" marT="65089" marB="32544"/>
                </a:tc>
                <a:tc>
                  <a:txBody>
                    <a:bodyPr/>
                    <a:lstStyle/>
                    <a:p>
                      <a:r>
                        <a:rPr lang="en-US" sz="1050" cap="none" spc="0">
                          <a:solidFill>
                            <a:schemeClr val="bg1"/>
                          </a:solidFill>
                        </a:rPr>
                        <a:t>L&amp;D team</a:t>
                      </a:r>
                    </a:p>
                  </a:txBody>
                  <a:tcPr marL="65089" marR="65089" marT="65089" marB="32544"/>
                </a:tc>
                <a:tc>
                  <a:txBody>
                    <a:bodyPr/>
                    <a:lstStyle/>
                    <a:p>
                      <a:r>
                        <a:rPr lang="en-US" sz="1050" cap="none" spc="0" dirty="0">
                          <a:solidFill>
                            <a:schemeClr val="bg1"/>
                          </a:solidFill>
                        </a:rPr>
                        <a:t>8, proficiency level E-learning courses to be completed 6 months</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mn-lt"/>
                          <a:ea typeface="+mn-ea"/>
                          <a:cs typeface="+mn-cs"/>
                        </a:rPr>
                        <a:t>August</a:t>
                      </a:r>
                    </a:p>
                  </a:txBody>
                  <a:tcPr marL="65089" marR="65089" marT="65089" marB="32544"/>
                </a:tc>
                <a:tc>
                  <a:txBody>
                    <a:bodyPr/>
                    <a:lstStyle/>
                    <a:p>
                      <a:r>
                        <a:rPr lang="en-US" sz="1050" cap="none" spc="0" dirty="0">
                          <a:solidFill>
                            <a:schemeClr val="bg1"/>
                          </a:solidFill>
                        </a:rPr>
                        <a:t>Bands G &amp; Above</a:t>
                      </a:r>
                    </a:p>
                  </a:txBody>
                  <a:tcPr marL="65089" marR="65089" marT="65089" marB="32544"/>
                </a:tc>
                <a:tc>
                  <a:txBody>
                    <a:bodyPr/>
                    <a:lstStyle/>
                    <a:p>
                      <a:endParaRPr lang="en-US" sz="1050" cap="none" spc="0" dirty="0">
                        <a:solidFill>
                          <a:schemeClr val="bg1"/>
                        </a:solidFill>
                      </a:endParaRPr>
                    </a:p>
                  </a:txBody>
                  <a:tcPr marL="65089" marR="65089" marT="65089" marB="32544"/>
                </a:tc>
                <a:extLst>
                  <a:ext uri="{0D108BD9-81ED-4DB2-BD59-A6C34878D82A}">
                    <a16:rowId xmlns:a16="http://schemas.microsoft.com/office/drawing/2014/main" val="1827671372"/>
                  </a:ext>
                </a:extLst>
              </a:tr>
              <a:tr h="433322">
                <a:tc>
                  <a:txBody>
                    <a:bodyPr/>
                    <a:lstStyle/>
                    <a:p>
                      <a:pPr algn="ctr"/>
                      <a:r>
                        <a:rPr lang="en-US" sz="1050" cap="none" spc="0" dirty="0">
                          <a:solidFill>
                            <a:schemeClr val="bg1"/>
                          </a:solidFill>
                        </a:rPr>
                        <a:t>7</a:t>
                      </a:r>
                    </a:p>
                  </a:txBody>
                  <a:tcPr marL="65089" marR="65089" marT="65089" marB="32544"/>
                </a:tc>
                <a:tc>
                  <a:txBody>
                    <a:bodyPr/>
                    <a:lstStyle/>
                    <a:p>
                      <a:r>
                        <a:rPr lang="en-US" sz="1050" cap="none" spc="0">
                          <a:solidFill>
                            <a:schemeClr val="bg1"/>
                          </a:solidFill>
                        </a:rPr>
                        <a:t>TTT for L&amp;D Leads Application workshops</a:t>
                      </a:r>
                    </a:p>
                  </a:txBody>
                  <a:tcPr marL="65089" marR="65089" marT="65089" marB="32544"/>
                </a:tc>
                <a:tc>
                  <a:txBody>
                    <a:bodyPr/>
                    <a:lstStyle/>
                    <a:p>
                      <a:r>
                        <a:rPr lang="en-US" sz="1050" cap="none" spc="0">
                          <a:solidFill>
                            <a:schemeClr val="bg1"/>
                          </a:solidFill>
                        </a:rPr>
                        <a:t>Group L&amp;D will conduct TTTs for L&amp;D leads to conduct localized application workshops</a:t>
                      </a:r>
                    </a:p>
                  </a:txBody>
                  <a:tcPr marL="65089" marR="65089" marT="65089" marB="32544"/>
                </a:tc>
                <a:tc>
                  <a:txBody>
                    <a:bodyPr/>
                    <a:lstStyle/>
                    <a:p>
                      <a:r>
                        <a:rPr lang="en-US" sz="1050" cap="none" spc="0">
                          <a:solidFill>
                            <a:schemeClr val="bg1"/>
                          </a:solidFill>
                        </a:rPr>
                        <a:t>Group L&amp;D</a:t>
                      </a:r>
                    </a:p>
                  </a:txBody>
                  <a:tcPr marL="65089" marR="65089" marT="65089" marB="32544"/>
                </a:tc>
                <a:tc>
                  <a:txBody>
                    <a:bodyPr/>
                    <a:lstStyle/>
                    <a:p>
                      <a:r>
                        <a:rPr lang="en-US" sz="1050" cap="none" spc="0" dirty="0">
                          <a:solidFill>
                            <a:schemeClr val="bg1"/>
                          </a:solidFill>
                        </a:rPr>
                        <a:t>Application Cohorts</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cap="none" spc="0" dirty="0">
                          <a:solidFill>
                            <a:schemeClr val="bg1"/>
                          </a:solidFill>
                        </a:rPr>
                        <a:t>August</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cap="none" spc="0" dirty="0">
                          <a:solidFill>
                            <a:schemeClr val="bg1"/>
                          </a:solidFill>
                        </a:rPr>
                        <a:t>Bands G &amp; above</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050" cap="none" spc="0" dirty="0">
                        <a:solidFill>
                          <a:schemeClr val="bg1"/>
                        </a:solidFill>
                      </a:endParaRPr>
                    </a:p>
                  </a:txBody>
                  <a:tcPr marL="65089" marR="65089" marT="65089" marB="32544"/>
                </a:tc>
                <a:extLst>
                  <a:ext uri="{0D108BD9-81ED-4DB2-BD59-A6C34878D82A}">
                    <a16:rowId xmlns:a16="http://schemas.microsoft.com/office/drawing/2014/main" val="207318126"/>
                  </a:ext>
                </a:extLst>
              </a:tr>
              <a:tr h="433322">
                <a:tc>
                  <a:txBody>
                    <a:bodyPr/>
                    <a:lstStyle/>
                    <a:p>
                      <a:pPr algn="ctr"/>
                      <a:r>
                        <a:rPr lang="en-US" sz="1050" cap="none" spc="0" dirty="0">
                          <a:solidFill>
                            <a:schemeClr val="bg1"/>
                          </a:solidFill>
                        </a:rPr>
                        <a:t>8</a:t>
                      </a:r>
                    </a:p>
                  </a:txBody>
                  <a:tcPr marL="65089" marR="65089" marT="65089" marB="32544"/>
                </a:tc>
                <a:tc>
                  <a:txBody>
                    <a:bodyPr/>
                    <a:lstStyle/>
                    <a:p>
                      <a:r>
                        <a:rPr lang="en-US" sz="1050" cap="none" spc="0" dirty="0">
                          <a:solidFill>
                            <a:schemeClr val="bg1"/>
                          </a:solidFill>
                        </a:rPr>
                        <a:t>Virtual/F2F L&amp;D lead workshops</a:t>
                      </a:r>
                    </a:p>
                  </a:txBody>
                  <a:tcPr marL="65089" marR="65089" marT="65089" marB="32544"/>
                </a:tc>
                <a:tc>
                  <a:txBody>
                    <a:bodyPr/>
                    <a:lstStyle/>
                    <a:p>
                      <a:r>
                        <a:rPr lang="en-US" sz="1050" cap="none" spc="0" dirty="0">
                          <a:solidFill>
                            <a:schemeClr val="bg1"/>
                          </a:solidFill>
                        </a:rPr>
                        <a:t>Application Workshop</a:t>
                      </a:r>
                    </a:p>
                  </a:txBody>
                  <a:tcPr marL="65089" marR="65089" marT="65089" marB="32544"/>
                </a:tc>
                <a:tc>
                  <a:txBody>
                    <a:bodyPr/>
                    <a:lstStyle/>
                    <a:p>
                      <a:r>
                        <a:rPr lang="en-US" sz="1050" cap="none" spc="0" dirty="0">
                          <a:solidFill>
                            <a:schemeClr val="bg1"/>
                          </a:solidFill>
                        </a:rPr>
                        <a:t>L&amp;D Leads</a:t>
                      </a:r>
                    </a:p>
                  </a:txBody>
                  <a:tcPr marL="65089" marR="65089" marT="65089" marB="32544"/>
                </a:tc>
                <a:tc>
                  <a:txBody>
                    <a:bodyPr/>
                    <a:lstStyle/>
                    <a:p>
                      <a:r>
                        <a:rPr lang="en-US" sz="1050" cap="none" spc="0" dirty="0">
                          <a:solidFill>
                            <a:schemeClr val="bg1"/>
                          </a:solidFill>
                        </a:rPr>
                        <a:t>Application Cohorts</a:t>
                      </a:r>
                    </a:p>
                  </a:txBody>
                  <a:tcPr marL="65089" marR="65089" marT="65089" marB="32544"/>
                </a:tc>
                <a:tc>
                  <a:txBody>
                    <a:bodyPr/>
                    <a:lstStyle/>
                    <a:p>
                      <a:r>
                        <a:rPr lang="en-US" sz="1050" cap="none" spc="0" dirty="0">
                          <a:solidFill>
                            <a:schemeClr val="bg1"/>
                          </a:solidFill>
                        </a:rPr>
                        <a:t>September onwards</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cap="none" spc="0" dirty="0">
                          <a:solidFill>
                            <a:schemeClr val="bg1"/>
                          </a:solidFill>
                        </a:rPr>
                        <a:t>Bands G &amp; above</a:t>
                      </a:r>
                    </a:p>
                  </a:txBody>
                  <a:tcPr marL="65089" marR="65089" marT="65089" marB="32544"/>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050" cap="none" spc="0" dirty="0">
                        <a:solidFill>
                          <a:schemeClr val="bg1"/>
                        </a:solidFill>
                      </a:endParaRPr>
                    </a:p>
                  </a:txBody>
                  <a:tcPr marL="65089" marR="65089" marT="65089" marB="32544"/>
                </a:tc>
                <a:extLst>
                  <a:ext uri="{0D108BD9-81ED-4DB2-BD59-A6C34878D82A}">
                    <a16:rowId xmlns:a16="http://schemas.microsoft.com/office/drawing/2014/main" val="92457843"/>
                  </a:ext>
                </a:extLst>
              </a:tr>
            </a:tbl>
          </a:graphicData>
        </a:graphic>
      </p:graphicFrame>
    </p:spTree>
    <p:extLst>
      <p:ext uri="{BB962C8B-B14F-4D97-AF65-F5344CB8AC3E}">
        <p14:creationId xmlns:p14="http://schemas.microsoft.com/office/powerpoint/2010/main" val="1797724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3" name="Rectangle 819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21918B5-8AA7-4EE8-A112-BC365ACC5239}"/>
              </a:ext>
            </a:extLst>
          </p:cNvPr>
          <p:cNvSpPr txBox="1"/>
          <p:nvPr/>
        </p:nvSpPr>
        <p:spPr>
          <a:xfrm>
            <a:off x="335117" y="52743"/>
            <a:ext cx="4846483" cy="180730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latin typeface="+mj-lt"/>
                <a:ea typeface="+mj-ea"/>
                <a:cs typeface="+mj-cs"/>
              </a:rPr>
              <a:t>Grow our Business</a:t>
            </a:r>
          </a:p>
        </p:txBody>
      </p:sp>
      <p:sp>
        <p:nvSpPr>
          <p:cNvPr id="5" name="TextBox 4">
            <a:extLst>
              <a:ext uri="{FF2B5EF4-FFF2-40B4-BE49-F238E27FC236}">
                <a16:creationId xmlns:a16="http://schemas.microsoft.com/office/drawing/2014/main" id="{418DD51E-0D04-44A2-90EA-53DB519F0611}"/>
              </a:ext>
            </a:extLst>
          </p:cNvPr>
          <p:cNvSpPr txBox="1"/>
          <p:nvPr/>
        </p:nvSpPr>
        <p:spPr>
          <a:xfrm>
            <a:off x="243154" y="1860048"/>
            <a:ext cx="3464715" cy="3843666"/>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b="1" dirty="0"/>
              <a:t>Commercial Drive</a:t>
            </a:r>
          </a:p>
          <a:p>
            <a:pPr marL="285750" indent="-228600">
              <a:lnSpc>
                <a:spcPct val="90000"/>
              </a:lnSpc>
              <a:spcAft>
                <a:spcPts val="600"/>
              </a:spcAft>
              <a:buFont typeface="Arial" panose="020B0604020202020204" pitchFamily="34" charset="0"/>
              <a:buChar char="•"/>
            </a:pPr>
            <a:r>
              <a:rPr lang="en-US" b="1" dirty="0"/>
              <a:t>Goal Driven</a:t>
            </a:r>
          </a:p>
          <a:p>
            <a:pPr marL="285750" indent="-228600">
              <a:lnSpc>
                <a:spcPct val="90000"/>
              </a:lnSpc>
              <a:spcAft>
                <a:spcPts val="600"/>
              </a:spcAft>
              <a:buFont typeface="Arial" panose="020B0604020202020204" pitchFamily="34" charset="0"/>
              <a:buChar char="•"/>
            </a:pPr>
            <a:r>
              <a:rPr lang="en-US" b="1" dirty="0"/>
              <a:t>Managing Complexity</a:t>
            </a:r>
          </a:p>
          <a:p>
            <a:pPr marL="285750" indent="-228600">
              <a:lnSpc>
                <a:spcPct val="90000"/>
              </a:lnSpc>
              <a:spcAft>
                <a:spcPts val="600"/>
              </a:spcAft>
              <a:buFont typeface="Arial" panose="020B0604020202020204" pitchFamily="34" charset="0"/>
              <a:buChar char="•"/>
            </a:pPr>
            <a:endParaRPr lang="en-US" b="1" dirty="0"/>
          </a:p>
        </p:txBody>
      </p:sp>
      <p:pic>
        <p:nvPicPr>
          <p:cNvPr id="8194" name="Picture 2" descr="Grow Your Money, Business, Finance">
            <a:extLst>
              <a:ext uri="{FF2B5EF4-FFF2-40B4-BE49-F238E27FC236}">
                <a16:creationId xmlns:a16="http://schemas.microsoft.com/office/drawing/2014/main" id="{9E4586F7-DABC-4562-9233-16D811E77D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553" r="20918" b="-1"/>
          <a:stretch/>
        </p:blipFill>
        <p:spPr bwMode="auto">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graphicFrame>
        <p:nvGraphicFramePr>
          <p:cNvPr id="24" name="Diagram 23">
            <a:extLst>
              <a:ext uri="{FF2B5EF4-FFF2-40B4-BE49-F238E27FC236}">
                <a16:creationId xmlns:a16="http://schemas.microsoft.com/office/drawing/2014/main" id="{1F69D61B-90CE-4E7D-9F88-7328186F3A08}"/>
              </a:ext>
            </a:extLst>
          </p:cNvPr>
          <p:cNvGraphicFramePr/>
          <p:nvPr>
            <p:extLst>
              <p:ext uri="{D42A27DB-BD31-4B8C-83A1-F6EECF244321}">
                <p14:modId xmlns:p14="http://schemas.microsoft.com/office/powerpoint/2010/main" val="3797721122"/>
              </p:ext>
            </p:extLst>
          </p:nvPr>
        </p:nvGraphicFramePr>
        <p:xfrm>
          <a:off x="-304800" y="2821374"/>
          <a:ext cx="5562600" cy="39838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30988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B4FA0-CECE-410A-A1FE-EB3E349E4D91}"/>
              </a:ext>
            </a:extLst>
          </p:cNvPr>
          <p:cNvSpPr txBox="1"/>
          <p:nvPr/>
        </p:nvSpPr>
        <p:spPr>
          <a:xfrm>
            <a:off x="76200" y="795164"/>
            <a:ext cx="9067800" cy="646331"/>
          </a:xfrm>
          <a:prstGeom prst="rect">
            <a:avLst/>
          </a:prstGeom>
          <a:noFill/>
        </p:spPr>
        <p:txBody>
          <a:bodyPr wrap="square">
            <a:spAutoFit/>
          </a:bodyPr>
          <a:lstStyle/>
          <a:p>
            <a:r>
              <a:rPr lang="en-US" dirty="0"/>
              <a:t>Results focused, delivering stretching outcomes both as an individual and through teams, with no fear of failure, showing enthusiasm and self-motivation to perform</a:t>
            </a:r>
          </a:p>
        </p:txBody>
      </p:sp>
      <p:sp>
        <p:nvSpPr>
          <p:cNvPr id="4" name="TextBox 3">
            <a:extLst>
              <a:ext uri="{FF2B5EF4-FFF2-40B4-BE49-F238E27FC236}">
                <a16:creationId xmlns:a16="http://schemas.microsoft.com/office/drawing/2014/main" id="{ED48C7C0-1B84-40C9-9838-E52637D934EF}"/>
              </a:ext>
            </a:extLst>
          </p:cNvPr>
          <p:cNvSpPr txBox="1"/>
          <p:nvPr/>
        </p:nvSpPr>
        <p:spPr>
          <a:xfrm>
            <a:off x="3124465" y="198825"/>
            <a:ext cx="2184637" cy="584775"/>
          </a:xfrm>
          <a:prstGeom prst="rect">
            <a:avLst/>
          </a:prstGeom>
          <a:noFill/>
        </p:spPr>
        <p:txBody>
          <a:bodyPr wrap="none" rtlCol="0">
            <a:spAutoFit/>
          </a:bodyPr>
          <a:lstStyle/>
          <a:p>
            <a:pPr algn="ctr"/>
            <a:r>
              <a:rPr lang="en-US" sz="3200" b="1" dirty="0"/>
              <a:t>Goal Driven</a:t>
            </a:r>
          </a:p>
        </p:txBody>
      </p:sp>
      <p:sp>
        <p:nvSpPr>
          <p:cNvPr id="5" name="Rectangle: Rounded Corners 4">
            <a:extLst>
              <a:ext uri="{FF2B5EF4-FFF2-40B4-BE49-F238E27FC236}">
                <a16:creationId xmlns:a16="http://schemas.microsoft.com/office/drawing/2014/main" id="{8551ECE5-EA68-462A-9929-A829AF965E98}"/>
              </a:ext>
            </a:extLst>
          </p:cNvPr>
          <p:cNvSpPr/>
          <p:nvPr/>
        </p:nvSpPr>
        <p:spPr>
          <a:xfrm>
            <a:off x="37886" y="1876448"/>
            <a:ext cx="2833147" cy="4782727"/>
          </a:xfrm>
          <a:prstGeom prst="roundRect">
            <a:avLst/>
          </a:prstGeom>
          <a:solidFill>
            <a:schemeClr val="tx2">
              <a:lumMod val="25000"/>
              <a:lumOff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b="0" i="0" u="none" strike="noStrike" dirty="0">
                <a:solidFill>
                  <a:schemeClr val="tx1"/>
                </a:solidFill>
                <a:effectLst/>
                <a:latin typeface="Calibri" panose="020F0502020204030204" pitchFamily="34" charset="0"/>
              </a:rPr>
              <a:t>Understands what is required, brings alignment with organization vision &amp; drives team performance</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Conveys clear performance expectations and consistently monitors results and outcomes against goals</a:t>
            </a:r>
            <a:endParaRPr lang="en-US" sz="1200" dirty="0">
              <a:solidFill>
                <a:schemeClr val="tx1"/>
              </a:solidFill>
              <a:latin typeface="Calibri" panose="020F0502020204030204" pitchFamily="34" charset="0"/>
            </a:endParaRP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Pushes self and provides appropriate guidance and direction based on employee capabilities</a:t>
            </a:r>
            <a:endParaRPr lang="en-US" sz="1200" dirty="0">
              <a:solidFill>
                <a:schemeClr val="tx1"/>
              </a:solidFill>
              <a:latin typeface="Calibri" panose="020F0502020204030204" pitchFamily="34" charset="0"/>
            </a:endParaRP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Demonstrates courage to address unacceptable performance.</a:t>
            </a:r>
          </a:p>
          <a:p>
            <a:pPr algn="l" fontAlgn="ctr"/>
            <a:endParaRPr lang="en-US" sz="1200" dirty="0">
              <a:solidFill>
                <a:schemeClr val="tx1"/>
              </a:solidFill>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Fosters a culture of acknowledgement and recognition </a:t>
            </a:r>
          </a:p>
        </p:txBody>
      </p:sp>
      <p:sp>
        <p:nvSpPr>
          <p:cNvPr id="15" name="Rectangle: Rounded Corners 14">
            <a:extLst>
              <a:ext uri="{FF2B5EF4-FFF2-40B4-BE49-F238E27FC236}">
                <a16:creationId xmlns:a16="http://schemas.microsoft.com/office/drawing/2014/main" id="{6FC54FCF-D174-4422-AF02-A0E4D075AA5D}"/>
              </a:ext>
            </a:extLst>
          </p:cNvPr>
          <p:cNvSpPr/>
          <p:nvPr/>
        </p:nvSpPr>
        <p:spPr>
          <a:xfrm>
            <a:off x="2608701" y="1864277"/>
            <a:ext cx="3267827" cy="4917523"/>
          </a:xfrm>
          <a:prstGeom prst="roundRect">
            <a:avLst/>
          </a:prstGeom>
          <a:solidFill>
            <a:schemeClr val="tx2">
              <a:lumMod val="75000"/>
              <a:lumOff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Contributes insights &amp; data that will drive strategic creation</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Ensures  the relevant link between the division/department's vision and business objectives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Sets stretch goals and objectives , pushing individuals or teams to perform at a higher level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Enables the right behaviors to achieve goals individually &amp; collaboratively</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Drives projects to completion, while monitoring &amp; adjusting along the way, bringing flexibility where required.</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Persists in accomplishing objectives despites obstacles and setbacks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Demonstrates accountability, ownership and transparency with key stake holders in the face of inconsistencies and shortfalls in business objectives</a:t>
            </a:r>
          </a:p>
        </p:txBody>
      </p:sp>
      <p:sp>
        <p:nvSpPr>
          <p:cNvPr id="16" name="Rectangle: Rounded Corners 15">
            <a:extLst>
              <a:ext uri="{FF2B5EF4-FFF2-40B4-BE49-F238E27FC236}">
                <a16:creationId xmlns:a16="http://schemas.microsoft.com/office/drawing/2014/main" id="{940B7297-2D4C-4213-A50D-E4A168DCB0A3}"/>
              </a:ext>
            </a:extLst>
          </p:cNvPr>
          <p:cNvSpPr/>
          <p:nvPr/>
        </p:nvSpPr>
        <p:spPr>
          <a:xfrm>
            <a:off x="5723772" y="1876448"/>
            <a:ext cx="3267828" cy="4917523"/>
          </a:xfrm>
          <a:prstGeom prst="roundRect">
            <a:avLst/>
          </a:prstGeom>
          <a:solidFill>
            <a:schemeClr val="tx2">
              <a:lumMod val="90000"/>
              <a:lumOff val="1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Communicates, Inspires and gives clear direction, engaging others behind the strategic imperatives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Influences &amp; aligns multiple stake holders/departments to operationalize the strategy</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Defines metrics of success with clear KPIs.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Drives  accountability for results across organization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Builds a culture that drives and rewards high performance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Demonstrates agility to course correct  business and people performance</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Shows the ability to retain a long-term perspective, while executing short term goals. </a:t>
            </a:r>
          </a:p>
        </p:txBody>
      </p:sp>
      <p:sp>
        <p:nvSpPr>
          <p:cNvPr id="7" name="TextBox 6">
            <a:extLst>
              <a:ext uri="{FF2B5EF4-FFF2-40B4-BE49-F238E27FC236}">
                <a16:creationId xmlns:a16="http://schemas.microsoft.com/office/drawing/2014/main" id="{245AF605-1469-4C89-9959-55611E5A9208}"/>
              </a:ext>
            </a:extLst>
          </p:cNvPr>
          <p:cNvSpPr txBox="1"/>
          <p:nvPr/>
        </p:nvSpPr>
        <p:spPr>
          <a:xfrm>
            <a:off x="228600" y="1417077"/>
            <a:ext cx="2140779" cy="461665"/>
          </a:xfrm>
          <a:prstGeom prst="rect">
            <a:avLst/>
          </a:prstGeom>
          <a:noFill/>
        </p:spPr>
        <p:txBody>
          <a:bodyPr wrap="none" rtlCol="0">
            <a:spAutoFit/>
          </a:bodyPr>
          <a:lstStyle/>
          <a:p>
            <a:r>
              <a:rPr lang="en-US" sz="2400" b="1" dirty="0"/>
              <a:t>Level 1 (G &amp; H )</a:t>
            </a:r>
          </a:p>
        </p:txBody>
      </p:sp>
      <p:sp>
        <p:nvSpPr>
          <p:cNvPr id="18" name="TextBox 17">
            <a:extLst>
              <a:ext uri="{FF2B5EF4-FFF2-40B4-BE49-F238E27FC236}">
                <a16:creationId xmlns:a16="http://schemas.microsoft.com/office/drawing/2014/main" id="{2F923E22-1B1D-4345-9D18-5A2A98CA08A9}"/>
              </a:ext>
            </a:extLst>
          </p:cNvPr>
          <p:cNvSpPr txBox="1"/>
          <p:nvPr/>
        </p:nvSpPr>
        <p:spPr>
          <a:xfrm>
            <a:off x="2871033" y="1427169"/>
            <a:ext cx="2004523" cy="461665"/>
          </a:xfrm>
          <a:prstGeom prst="rect">
            <a:avLst/>
          </a:prstGeom>
          <a:noFill/>
        </p:spPr>
        <p:txBody>
          <a:bodyPr wrap="none" rtlCol="0">
            <a:spAutoFit/>
          </a:bodyPr>
          <a:lstStyle/>
          <a:p>
            <a:r>
              <a:rPr lang="en-US" sz="2400" b="1" dirty="0"/>
              <a:t>Level 2 ( I &amp; J )</a:t>
            </a:r>
          </a:p>
        </p:txBody>
      </p:sp>
      <p:sp>
        <p:nvSpPr>
          <p:cNvPr id="19" name="TextBox 18">
            <a:extLst>
              <a:ext uri="{FF2B5EF4-FFF2-40B4-BE49-F238E27FC236}">
                <a16:creationId xmlns:a16="http://schemas.microsoft.com/office/drawing/2014/main" id="{DDF57A31-24EC-478C-8CE5-B68FCCE1700B}"/>
              </a:ext>
            </a:extLst>
          </p:cNvPr>
          <p:cNvSpPr txBox="1"/>
          <p:nvPr/>
        </p:nvSpPr>
        <p:spPr>
          <a:xfrm>
            <a:off x="6110229" y="1414783"/>
            <a:ext cx="2118337" cy="461665"/>
          </a:xfrm>
          <a:prstGeom prst="rect">
            <a:avLst/>
          </a:prstGeom>
          <a:noFill/>
        </p:spPr>
        <p:txBody>
          <a:bodyPr wrap="none" rtlCol="0">
            <a:spAutoFit/>
          </a:bodyPr>
          <a:lstStyle/>
          <a:p>
            <a:r>
              <a:rPr lang="en-US" sz="2400" b="1" dirty="0"/>
              <a:t>Level 3 ( K &amp; L )</a:t>
            </a:r>
          </a:p>
        </p:txBody>
      </p:sp>
      <p:graphicFrame>
        <p:nvGraphicFramePr>
          <p:cNvPr id="11" name="Diagram 10">
            <a:extLst>
              <a:ext uri="{FF2B5EF4-FFF2-40B4-BE49-F238E27FC236}">
                <a16:creationId xmlns:a16="http://schemas.microsoft.com/office/drawing/2014/main" id="{AA091B11-20D5-42A6-8F65-28818AD36F28}"/>
              </a:ext>
            </a:extLst>
          </p:cNvPr>
          <p:cNvGraphicFramePr/>
          <p:nvPr>
            <p:extLst>
              <p:ext uri="{D42A27DB-BD31-4B8C-83A1-F6EECF244321}">
                <p14:modId xmlns:p14="http://schemas.microsoft.com/office/powerpoint/2010/main" val="1903655628"/>
              </p:ext>
            </p:extLst>
          </p:nvPr>
        </p:nvGraphicFramePr>
        <p:xfrm>
          <a:off x="-76200" y="102159"/>
          <a:ext cx="981126" cy="577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48129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48C7C0-1B84-40C9-9838-E52637D934EF}"/>
              </a:ext>
            </a:extLst>
          </p:cNvPr>
          <p:cNvSpPr txBox="1"/>
          <p:nvPr/>
        </p:nvSpPr>
        <p:spPr>
          <a:xfrm>
            <a:off x="2106198" y="201361"/>
            <a:ext cx="3713645" cy="523220"/>
          </a:xfrm>
          <a:prstGeom prst="rect">
            <a:avLst/>
          </a:prstGeom>
          <a:noFill/>
        </p:spPr>
        <p:txBody>
          <a:bodyPr wrap="none" rtlCol="0">
            <a:spAutoFit/>
          </a:bodyPr>
          <a:lstStyle/>
          <a:p>
            <a:pPr algn="ctr"/>
            <a:r>
              <a:rPr lang="en-US" sz="2800" b="1" dirty="0"/>
              <a:t>Goal Driven - Resources</a:t>
            </a:r>
          </a:p>
        </p:txBody>
      </p:sp>
      <p:pic>
        <p:nvPicPr>
          <p:cNvPr id="39" name="Picture 38">
            <a:extLst>
              <a:ext uri="{FF2B5EF4-FFF2-40B4-BE49-F238E27FC236}">
                <a16:creationId xmlns:a16="http://schemas.microsoft.com/office/drawing/2014/main" id="{AF50AF8C-9769-4824-9A28-9A06829C993F}"/>
              </a:ext>
            </a:extLst>
          </p:cNvPr>
          <p:cNvPicPr>
            <a:picLocks noChangeAspect="1"/>
          </p:cNvPicPr>
          <p:nvPr/>
        </p:nvPicPr>
        <p:blipFill rotWithShape="1">
          <a:blip r:embed="rId3">
            <a:extLst>
              <a:ext uri="{28A0092B-C50C-407E-A947-70E740481C1C}">
                <a14:useLocalDpi xmlns:a14="http://schemas.microsoft.com/office/drawing/2010/main" val="0"/>
              </a:ext>
            </a:extLst>
          </a:blip>
          <a:srcRect t="18827" b="10761"/>
          <a:stretch/>
        </p:blipFill>
        <p:spPr>
          <a:xfrm>
            <a:off x="-23829" y="8250863"/>
            <a:ext cx="9702232" cy="4550738"/>
          </a:xfrm>
          <a:prstGeom prst="rect">
            <a:avLst/>
          </a:prstGeom>
        </p:spPr>
      </p:pic>
      <p:sp>
        <p:nvSpPr>
          <p:cNvPr id="42" name="TextBox 41">
            <a:extLst>
              <a:ext uri="{FF2B5EF4-FFF2-40B4-BE49-F238E27FC236}">
                <a16:creationId xmlns:a16="http://schemas.microsoft.com/office/drawing/2014/main" id="{550A49C3-D316-45F7-9BF2-10C3DDD00FE8}"/>
              </a:ext>
            </a:extLst>
          </p:cNvPr>
          <p:cNvSpPr txBox="1"/>
          <p:nvPr/>
        </p:nvSpPr>
        <p:spPr>
          <a:xfrm>
            <a:off x="5040603" y="1290631"/>
            <a:ext cx="4047143" cy="923330"/>
          </a:xfrm>
          <a:prstGeom prst="rect">
            <a:avLst/>
          </a:prstGeom>
          <a:noFill/>
        </p:spPr>
        <p:txBody>
          <a:bodyPr wrap="square" rtlCol="0">
            <a:spAutoFit/>
          </a:bodyPr>
          <a:lstStyle/>
          <a:p>
            <a:pPr defTabSz="489783" fontAlgn="ctr">
              <a:defRPr/>
            </a:pPr>
            <a:r>
              <a:rPr lang="en-US" sz="1800" dirty="0">
                <a:cs typeface="Calibri" panose="020F0502020204030204" pitchFamily="34" charset="0"/>
              </a:rPr>
              <a:t>How can the Goal Driven behaviors help me, and my team re-prioritize, to accelerate business outcomes?</a:t>
            </a:r>
          </a:p>
        </p:txBody>
      </p:sp>
      <p:cxnSp>
        <p:nvCxnSpPr>
          <p:cNvPr id="43" name="Straight Connector 42">
            <a:extLst>
              <a:ext uri="{FF2B5EF4-FFF2-40B4-BE49-F238E27FC236}">
                <a16:creationId xmlns:a16="http://schemas.microsoft.com/office/drawing/2014/main" id="{76A36D67-5B66-445F-86F8-2E5D94D3AEF3}"/>
              </a:ext>
            </a:extLst>
          </p:cNvPr>
          <p:cNvCxnSpPr/>
          <p:nvPr/>
        </p:nvCxnSpPr>
        <p:spPr>
          <a:xfrm>
            <a:off x="0" y="777811"/>
            <a:ext cx="4607794" cy="0"/>
          </a:xfrm>
          <a:prstGeom prst="line">
            <a:avLst/>
          </a:prstGeom>
          <a:noFill/>
          <a:ln w="6350" cap="flat" cmpd="sng" algn="ctr">
            <a:solidFill>
              <a:srgbClr val="4472C4"/>
            </a:solidFill>
            <a:prstDash val="solid"/>
            <a:miter lim="800000"/>
          </a:ln>
          <a:effectLst/>
        </p:spPr>
      </p:cxnSp>
      <p:sp>
        <p:nvSpPr>
          <p:cNvPr id="45" name="TextBox 44">
            <a:extLst>
              <a:ext uri="{FF2B5EF4-FFF2-40B4-BE49-F238E27FC236}">
                <a16:creationId xmlns:a16="http://schemas.microsoft.com/office/drawing/2014/main" id="{EBBBCA0A-EED7-4622-9AAE-709549716A4B}"/>
              </a:ext>
            </a:extLst>
          </p:cNvPr>
          <p:cNvSpPr txBox="1"/>
          <p:nvPr/>
        </p:nvSpPr>
        <p:spPr>
          <a:xfrm>
            <a:off x="5040603" y="2450495"/>
            <a:ext cx="3851831" cy="1200329"/>
          </a:xfrm>
          <a:prstGeom prst="rect">
            <a:avLst/>
          </a:prstGeom>
          <a:noFill/>
        </p:spPr>
        <p:txBody>
          <a:bodyPr wrap="square" rtlCol="0">
            <a:spAutoFit/>
          </a:bodyPr>
          <a:lstStyle/>
          <a:p>
            <a:pPr defTabSz="489783" fontAlgn="ctr">
              <a:defRPr/>
            </a:pPr>
            <a:r>
              <a:rPr lang="en-US" sz="1800" dirty="0">
                <a:cs typeface="Calibri" panose="020F0502020204030204" pitchFamily="34" charset="0"/>
              </a:rPr>
              <a:t>What new actions and behaviors should I integrate in my self-management </a:t>
            </a:r>
            <a:r>
              <a:rPr lang="en-US" dirty="0">
                <a:cs typeface="Calibri" panose="020F0502020204030204" pitchFamily="34" charset="0"/>
              </a:rPr>
              <a:t>and team management approaches?</a:t>
            </a:r>
            <a:endParaRPr lang="en-US" sz="1800" dirty="0">
              <a:cs typeface="Calibri" panose="020F0502020204030204" pitchFamily="34" charset="0"/>
            </a:endParaRPr>
          </a:p>
        </p:txBody>
      </p:sp>
      <p:sp>
        <p:nvSpPr>
          <p:cNvPr id="46" name="TextBox 45">
            <a:extLst>
              <a:ext uri="{FF2B5EF4-FFF2-40B4-BE49-F238E27FC236}">
                <a16:creationId xmlns:a16="http://schemas.microsoft.com/office/drawing/2014/main" id="{B1DAF3C7-F5F6-4BD3-9785-F3299423D2D7}"/>
              </a:ext>
            </a:extLst>
          </p:cNvPr>
          <p:cNvSpPr txBox="1"/>
          <p:nvPr/>
        </p:nvSpPr>
        <p:spPr>
          <a:xfrm>
            <a:off x="5040603" y="3861437"/>
            <a:ext cx="3778219" cy="646331"/>
          </a:xfrm>
          <a:prstGeom prst="rect">
            <a:avLst/>
          </a:prstGeom>
          <a:noFill/>
        </p:spPr>
        <p:txBody>
          <a:bodyPr wrap="square" rtlCol="0">
            <a:spAutoFit/>
          </a:bodyPr>
          <a:lstStyle/>
          <a:p>
            <a:pPr defTabSz="489783" fontAlgn="ctr">
              <a:defRPr/>
            </a:pPr>
            <a:r>
              <a:rPr lang="en-US" dirty="0">
                <a:cs typeface="Calibri" panose="020F0502020204030204" pitchFamily="34" charset="0"/>
              </a:rPr>
              <a:t>How can I leverage the behavioral anchors to achieve my goals</a:t>
            </a:r>
            <a:r>
              <a:rPr lang="en-US" sz="1800" dirty="0">
                <a:cs typeface="Calibri" panose="020F0502020204030204" pitchFamily="34" charset="0"/>
              </a:rPr>
              <a:t>?</a:t>
            </a:r>
          </a:p>
        </p:txBody>
      </p:sp>
      <p:pic>
        <p:nvPicPr>
          <p:cNvPr id="47" name="Picture 46">
            <a:extLst>
              <a:ext uri="{FF2B5EF4-FFF2-40B4-BE49-F238E27FC236}">
                <a16:creationId xmlns:a16="http://schemas.microsoft.com/office/drawing/2014/main" id="{6E7985B9-460F-4E7D-A536-BFD93361DE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08085" y="3796750"/>
            <a:ext cx="898601" cy="898601"/>
          </a:xfrm>
          <a:prstGeom prst="rect">
            <a:avLst/>
          </a:prstGeom>
        </p:spPr>
      </p:pic>
      <p:pic>
        <p:nvPicPr>
          <p:cNvPr id="48" name="Picture 47">
            <a:extLst>
              <a:ext uri="{FF2B5EF4-FFF2-40B4-BE49-F238E27FC236}">
                <a16:creationId xmlns:a16="http://schemas.microsoft.com/office/drawing/2014/main" id="{012439CA-004B-485B-9D78-EE3B2D2204A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99034" y="1353146"/>
            <a:ext cx="828918" cy="828918"/>
          </a:xfrm>
          <a:prstGeom prst="rect">
            <a:avLst/>
          </a:prstGeom>
        </p:spPr>
      </p:pic>
      <p:pic>
        <p:nvPicPr>
          <p:cNvPr id="49" name="Picture 48">
            <a:extLst>
              <a:ext uri="{FF2B5EF4-FFF2-40B4-BE49-F238E27FC236}">
                <a16:creationId xmlns:a16="http://schemas.microsoft.com/office/drawing/2014/main" id="{F1F036CF-0C10-4796-A2AF-438F6506D7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48960" y="2449462"/>
            <a:ext cx="898602" cy="898602"/>
          </a:xfrm>
          <a:prstGeom prst="rect">
            <a:avLst/>
          </a:prstGeom>
        </p:spPr>
      </p:pic>
      <p:grpSp>
        <p:nvGrpSpPr>
          <p:cNvPr id="50" name="Group 49">
            <a:extLst>
              <a:ext uri="{FF2B5EF4-FFF2-40B4-BE49-F238E27FC236}">
                <a16:creationId xmlns:a16="http://schemas.microsoft.com/office/drawing/2014/main" id="{94158EA9-AEFC-451F-A11A-08EAC37BCABF}"/>
              </a:ext>
            </a:extLst>
          </p:cNvPr>
          <p:cNvGrpSpPr/>
          <p:nvPr/>
        </p:nvGrpSpPr>
        <p:grpSpPr>
          <a:xfrm>
            <a:off x="32549" y="805701"/>
            <a:ext cx="3875536" cy="3156699"/>
            <a:chOff x="201750" y="1092352"/>
            <a:chExt cx="3514703" cy="3156699"/>
          </a:xfrm>
        </p:grpSpPr>
        <p:sp>
          <p:nvSpPr>
            <p:cNvPr id="51" name="Rectangle: Rounded Corners 50">
              <a:extLst>
                <a:ext uri="{FF2B5EF4-FFF2-40B4-BE49-F238E27FC236}">
                  <a16:creationId xmlns:a16="http://schemas.microsoft.com/office/drawing/2014/main" id="{85C1AF67-482C-48C7-8F54-F7BE2BE8E9C6}"/>
                </a:ext>
              </a:extLst>
            </p:cNvPr>
            <p:cNvSpPr/>
            <p:nvPr/>
          </p:nvSpPr>
          <p:spPr>
            <a:xfrm>
              <a:off x="223248" y="1305365"/>
              <a:ext cx="3493205" cy="2943686"/>
            </a:xfrm>
            <a:prstGeom prst="roundRect">
              <a:avLst>
                <a:gd name="adj" fmla="val 9183"/>
              </a:avLst>
            </a:prstGeom>
            <a:solidFill>
              <a:sysClr val="window" lastClr="FFFFFF">
                <a:lumMod val="8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3" name="Picture 52">
              <a:extLst>
                <a:ext uri="{FF2B5EF4-FFF2-40B4-BE49-F238E27FC236}">
                  <a16:creationId xmlns:a16="http://schemas.microsoft.com/office/drawing/2014/main" id="{79218B48-FE01-4308-AE43-1C4CEBFC183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01750" y="1092352"/>
              <a:ext cx="578841" cy="578841"/>
            </a:xfrm>
            <a:prstGeom prst="rect">
              <a:avLst/>
            </a:prstGeom>
          </p:spPr>
        </p:pic>
        <p:sp>
          <p:nvSpPr>
            <p:cNvPr id="56" name="TextBox 55">
              <a:extLst>
                <a:ext uri="{FF2B5EF4-FFF2-40B4-BE49-F238E27FC236}">
                  <a16:creationId xmlns:a16="http://schemas.microsoft.com/office/drawing/2014/main" id="{127BA1E8-A52C-4CC9-BAAA-710748BBDEE4}"/>
                </a:ext>
              </a:extLst>
            </p:cNvPr>
            <p:cNvSpPr txBox="1"/>
            <p:nvPr/>
          </p:nvSpPr>
          <p:spPr>
            <a:xfrm>
              <a:off x="566671" y="1306347"/>
              <a:ext cx="3033496" cy="461665"/>
            </a:xfrm>
            <a:prstGeom prst="rect">
              <a:avLst/>
            </a:prstGeom>
            <a:noFill/>
          </p:spPr>
          <p:txBody>
            <a:bodyPr wrap="square" rtlCol="0">
              <a:spAutoFit/>
            </a:bodyPr>
            <a:lstStyle/>
            <a:p>
              <a:pPr marL="0" marR="0" lvl="0" indent="0" defTabSz="914286" eaLnBrk="1" fontAlgn="ctr"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cs typeface="Calibri" panose="020F0502020204030204" pitchFamily="34" charset="0"/>
                </a:rPr>
                <a:t>Additional Resources</a:t>
              </a:r>
            </a:p>
          </p:txBody>
        </p:sp>
      </p:grpSp>
      <p:pic>
        <p:nvPicPr>
          <p:cNvPr id="57" name="Picture 56">
            <a:extLst>
              <a:ext uri="{FF2B5EF4-FFF2-40B4-BE49-F238E27FC236}">
                <a16:creationId xmlns:a16="http://schemas.microsoft.com/office/drawing/2014/main" id="{4F596E90-8908-49E5-8CBD-D4AF6F5A377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63020" y="4969809"/>
            <a:ext cx="898601" cy="898601"/>
          </a:xfrm>
          <a:prstGeom prst="rect">
            <a:avLst/>
          </a:prstGeom>
        </p:spPr>
      </p:pic>
      <p:sp>
        <p:nvSpPr>
          <p:cNvPr id="58" name="TextBox 57">
            <a:extLst>
              <a:ext uri="{FF2B5EF4-FFF2-40B4-BE49-F238E27FC236}">
                <a16:creationId xmlns:a16="http://schemas.microsoft.com/office/drawing/2014/main" id="{88FEB467-08D7-4DA8-AF9D-99EB0D8DB696}"/>
              </a:ext>
            </a:extLst>
          </p:cNvPr>
          <p:cNvSpPr txBox="1"/>
          <p:nvPr/>
        </p:nvSpPr>
        <p:spPr>
          <a:xfrm>
            <a:off x="5027911" y="5084186"/>
            <a:ext cx="3945399" cy="646331"/>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do I plan to cascade this mindset to my team members? </a:t>
            </a:r>
          </a:p>
        </p:txBody>
      </p:sp>
      <p:pic>
        <p:nvPicPr>
          <p:cNvPr id="59" name="Picture 58">
            <a:extLst>
              <a:ext uri="{FF2B5EF4-FFF2-40B4-BE49-F238E27FC236}">
                <a16:creationId xmlns:a16="http://schemas.microsoft.com/office/drawing/2014/main" id="{BCF9B076-977B-4D1C-AB57-AEF20976C95E}"/>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36933"/>
          <a:stretch/>
        </p:blipFill>
        <p:spPr>
          <a:xfrm>
            <a:off x="7560777" y="12066145"/>
            <a:ext cx="2117626" cy="561180"/>
          </a:xfrm>
          <a:prstGeom prst="rect">
            <a:avLst/>
          </a:prstGeom>
        </p:spPr>
      </p:pic>
      <p:graphicFrame>
        <p:nvGraphicFramePr>
          <p:cNvPr id="60" name="Table 59">
            <a:extLst>
              <a:ext uri="{FF2B5EF4-FFF2-40B4-BE49-F238E27FC236}">
                <a16:creationId xmlns:a16="http://schemas.microsoft.com/office/drawing/2014/main" id="{AFCE439E-28B5-4EBA-8AB2-B276A6F2710C}"/>
              </a:ext>
            </a:extLst>
          </p:cNvPr>
          <p:cNvGraphicFramePr>
            <a:graphicFrameLocks noGrp="1"/>
          </p:cNvGraphicFramePr>
          <p:nvPr>
            <p:extLst>
              <p:ext uri="{D42A27DB-BD31-4B8C-83A1-F6EECF244321}">
                <p14:modId xmlns:p14="http://schemas.microsoft.com/office/powerpoint/2010/main" val="538011117"/>
              </p:ext>
            </p:extLst>
          </p:nvPr>
        </p:nvGraphicFramePr>
        <p:xfrm>
          <a:off x="53599" y="1614951"/>
          <a:ext cx="3732784" cy="2363288"/>
        </p:xfrm>
        <a:graphic>
          <a:graphicData uri="http://schemas.openxmlformats.org/drawingml/2006/table">
            <a:tbl>
              <a:tblPr/>
              <a:tblGrid>
                <a:gridCol w="525293">
                  <a:extLst>
                    <a:ext uri="{9D8B030D-6E8A-4147-A177-3AD203B41FA5}">
                      <a16:colId xmlns:a16="http://schemas.microsoft.com/office/drawing/2014/main" val="2292092926"/>
                    </a:ext>
                  </a:extLst>
                </a:gridCol>
                <a:gridCol w="3207491">
                  <a:extLst>
                    <a:ext uri="{9D8B030D-6E8A-4147-A177-3AD203B41FA5}">
                      <a16:colId xmlns:a16="http://schemas.microsoft.com/office/drawing/2014/main" val="3333233995"/>
                    </a:ext>
                  </a:extLst>
                </a:gridCol>
              </a:tblGrid>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1</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t"/>
                      <a:r>
                        <a:rPr lang="en-US" sz="1400" u="none" strike="noStrike" dirty="0">
                          <a:effectLst/>
                          <a:hlinkClick r:id="rId10"/>
                        </a:rPr>
                        <a:t>Indeed-10 Tips for Being More Goal-Oriented at Work</a:t>
                      </a:r>
                      <a:endParaRPr lang="en-US" sz="1400" u="none" strike="noStrike" dirty="0">
                        <a:effectLst/>
                      </a:endParaRPr>
                    </a:p>
                    <a:p>
                      <a:pPr algn="l" fontAlgn="t"/>
                      <a:endParaRPr lang="en-US" sz="1400" u="none" strike="noStrike" dirty="0">
                        <a:effectLst/>
                      </a:endParaRPr>
                    </a:p>
                  </a:txBody>
                  <a:tcPr marL="4082" marR="4082" marT="4082"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48742838"/>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2</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t"/>
                      <a:r>
                        <a:rPr lang="en-US" sz="1400" u="none" strike="noStrike" dirty="0" err="1">
                          <a:effectLst/>
                          <a:hlinkClick r:id="rId11"/>
                        </a:rPr>
                        <a:t>KornFerry</a:t>
                      </a:r>
                      <a:r>
                        <a:rPr lang="en-US" sz="1400" u="none" strike="noStrike" dirty="0">
                          <a:effectLst/>
                          <a:hlinkClick r:id="rId11"/>
                        </a:rPr>
                        <a:t>-Long-Term Purpose, Short-Term Goals</a:t>
                      </a:r>
                      <a:endParaRPr lang="en-US" sz="1400" u="none" strike="noStrike" dirty="0">
                        <a:effectLst/>
                      </a:endParaRPr>
                    </a:p>
                    <a:p>
                      <a:pPr algn="l" fontAlgn="t"/>
                      <a:endParaRPr lang="en-US" sz="1400" u="none" strike="noStrike" dirty="0">
                        <a:effectLst/>
                      </a:endParaRPr>
                    </a:p>
                  </a:txBody>
                  <a:tcPr marL="4082" marR="4082" marT="4082"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92654841"/>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3</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t"/>
                      <a:r>
                        <a:rPr lang="en-US" sz="1400" u="none" strike="noStrike" dirty="0" err="1">
                          <a:effectLst/>
                          <a:hlinkClick r:id="rId12"/>
                        </a:rPr>
                        <a:t>PositivePsychology</a:t>
                      </a:r>
                      <a:r>
                        <a:rPr lang="en-US" sz="1400" u="none" strike="noStrike" dirty="0">
                          <a:effectLst/>
                          <a:hlinkClick r:id="rId12"/>
                        </a:rPr>
                        <a:t>-What is Goal Setting and How to Do it Well</a:t>
                      </a:r>
                      <a:endParaRPr lang="en-US" sz="1400" u="none" strike="noStrike" dirty="0">
                        <a:effectLst/>
                      </a:endParaRPr>
                    </a:p>
                    <a:p>
                      <a:pPr algn="l" fontAlgn="t"/>
                      <a:endParaRPr lang="en-US" sz="1400" u="none" strike="noStrike" dirty="0">
                        <a:effectLst/>
                      </a:endParaRPr>
                    </a:p>
                  </a:txBody>
                  <a:tcPr marL="4082" marR="4082" marT="4082"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39569084"/>
                  </a:ext>
                </a:extLst>
              </a:tr>
              <a:tr h="19050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4</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t"/>
                      <a:r>
                        <a:rPr lang="en-US" sz="1400" dirty="0">
                          <a:hlinkClick r:id="rId13"/>
                        </a:rPr>
                        <a:t>A Proven Formula For Successfully Reaching Your 2021 Goals (forbes.com)</a:t>
                      </a:r>
                      <a:endParaRPr lang="en-US" sz="1400" u="none" strike="noStrike" dirty="0">
                        <a:effectLst/>
                      </a:endParaRPr>
                    </a:p>
                  </a:txBody>
                  <a:tcPr marL="4082" marR="4082" marT="4082"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400111781"/>
                  </a:ext>
                </a:extLst>
              </a:tr>
            </a:tbl>
          </a:graphicData>
        </a:graphic>
      </p:graphicFrame>
      <p:pic>
        <p:nvPicPr>
          <p:cNvPr id="24" name="Picture 23">
            <a:extLst>
              <a:ext uri="{FF2B5EF4-FFF2-40B4-BE49-F238E27FC236}">
                <a16:creationId xmlns:a16="http://schemas.microsoft.com/office/drawing/2014/main" id="{B4CBD4F5-3503-45A7-9124-57ED85ED6532}"/>
              </a:ext>
            </a:extLst>
          </p:cNvPr>
          <p:cNvPicPr>
            <a:picLocks noChangeAspect="1"/>
          </p:cNvPicPr>
          <p:nvPr/>
        </p:nvPicPr>
        <p:blipFill rotWithShape="1">
          <a:blip r:embed="rId14">
            <a:extLst>
              <a:ext uri="{28A0092B-C50C-407E-A947-70E740481C1C}">
                <a14:useLocalDpi xmlns:a14="http://schemas.microsoft.com/office/drawing/2010/main" val="0"/>
              </a:ext>
            </a:extLst>
          </a:blip>
          <a:srcRect b="13624"/>
          <a:stretch/>
        </p:blipFill>
        <p:spPr>
          <a:xfrm>
            <a:off x="132590" y="4344791"/>
            <a:ext cx="3775495" cy="2134970"/>
          </a:xfrm>
          <a:prstGeom prst="rect">
            <a:avLst/>
          </a:prstGeom>
        </p:spPr>
      </p:pic>
      <p:pic>
        <p:nvPicPr>
          <p:cNvPr id="25" name="Picture 24">
            <a:extLst>
              <a:ext uri="{FF2B5EF4-FFF2-40B4-BE49-F238E27FC236}">
                <a16:creationId xmlns:a16="http://schemas.microsoft.com/office/drawing/2014/main" id="{3534A664-7D14-40B1-A0A4-F3CCBABC31CD}"/>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36933"/>
          <a:stretch/>
        </p:blipFill>
        <p:spPr>
          <a:xfrm>
            <a:off x="28308" y="4246050"/>
            <a:ext cx="2117626" cy="561180"/>
          </a:xfrm>
          <a:prstGeom prst="rect">
            <a:avLst/>
          </a:prstGeom>
        </p:spPr>
      </p:pic>
      <p:graphicFrame>
        <p:nvGraphicFramePr>
          <p:cNvPr id="22" name="Diagram 21">
            <a:extLst>
              <a:ext uri="{FF2B5EF4-FFF2-40B4-BE49-F238E27FC236}">
                <a16:creationId xmlns:a16="http://schemas.microsoft.com/office/drawing/2014/main" id="{4A151E8A-C2DB-4F43-983F-9B93C73A20EE}"/>
              </a:ext>
            </a:extLst>
          </p:cNvPr>
          <p:cNvGraphicFramePr/>
          <p:nvPr>
            <p:extLst>
              <p:ext uri="{D42A27DB-BD31-4B8C-83A1-F6EECF244321}">
                <p14:modId xmlns:p14="http://schemas.microsoft.com/office/powerpoint/2010/main" val="4133783484"/>
              </p:ext>
            </p:extLst>
          </p:nvPr>
        </p:nvGraphicFramePr>
        <p:xfrm>
          <a:off x="-76200" y="102159"/>
          <a:ext cx="981126" cy="577282"/>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Tree>
    <p:extLst>
      <p:ext uri="{BB962C8B-B14F-4D97-AF65-F5344CB8AC3E}">
        <p14:creationId xmlns:p14="http://schemas.microsoft.com/office/powerpoint/2010/main" val="1856649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B4FA0-CECE-410A-A1FE-EB3E349E4D91}"/>
              </a:ext>
            </a:extLst>
          </p:cNvPr>
          <p:cNvSpPr txBox="1"/>
          <p:nvPr/>
        </p:nvSpPr>
        <p:spPr>
          <a:xfrm>
            <a:off x="76200" y="795164"/>
            <a:ext cx="9067800" cy="646331"/>
          </a:xfrm>
          <a:prstGeom prst="rect">
            <a:avLst/>
          </a:prstGeom>
          <a:noFill/>
        </p:spPr>
        <p:txBody>
          <a:bodyPr wrap="square">
            <a:spAutoFit/>
          </a:bodyPr>
          <a:lstStyle/>
          <a:p>
            <a:r>
              <a:rPr lang="en-US" dirty="0"/>
              <a:t>An entrepreneurial mindset; recognize and seize opportunities; take measured risk into account. Focus on initiatives that drive  business advancement</a:t>
            </a:r>
          </a:p>
        </p:txBody>
      </p:sp>
      <p:sp>
        <p:nvSpPr>
          <p:cNvPr id="4" name="TextBox 3">
            <a:extLst>
              <a:ext uri="{FF2B5EF4-FFF2-40B4-BE49-F238E27FC236}">
                <a16:creationId xmlns:a16="http://schemas.microsoft.com/office/drawing/2014/main" id="{ED48C7C0-1B84-40C9-9838-E52637D934EF}"/>
              </a:ext>
            </a:extLst>
          </p:cNvPr>
          <p:cNvSpPr txBox="1"/>
          <p:nvPr/>
        </p:nvSpPr>
        <p:spPr>
          <a:xfrm>
            <a:off x="2612822" y="198825"/>
            <a:ext cx="3207929" cy="584775"/>
          </a:xfrm>
          <a:prstGeom prst="rect">
            <a:avLst/>
          </a:prstGeom>
          <a:noFill/>
        </p:spPr>
        <p:txBody>
          <a:bodyPr wrap="none" rtlCol="0">
            <a:spAutoFit/>
          </a:bodyPr>
          <a:lstStyle/>
          <a:p>
            <a:pPr algn="ctr"/>
            <a:r>
              <a:rPr lang="en-US" sz="3200" b="1" dirty="0"/>
              <a:t>Commercial Drive</a:t>
            </a:r>
          </a:p>
        </p:txBody>
      </p:sp>
      <p:sp>
        <p:nvSpPr>
          <p:cNvPr id="5" name="Rectangle: Rounded Corners 4">
            <a:extLst>
              <a:ext uri="{FF2B5EF4-FFF2-40B4-BE49-F238E27FC236}">
                <a16:creationId xmlns:a16="http://schemas.microsoft.com/office/drawing/2014/main" id="{8551ECE5-EA68-462A-9929-A829AF965E98}"/>
              </a:ext>
            </a:extLst>
          </p:cNvPr>
          <p:cNvSpPr/>
          <p:nvPr/>
        </p:nvSpPr>
        <p:spPr>
          <a:xfrm>
            <a:off x="57615" y="1852722"/>
            <a:ext cx="2963661" cy="4782727"/>
          </a:xfrm>
          <a:prstGeom prst="roundRect">
            <a:avLst/>
          </a:prstGeom>
          <a:solidFill>
            <a:schemeClr val="tx2">
              <a:lumMod val="25000"/>
              <a:lumOff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b="0" i="0" u="none" strike="noStrike" dirty="0">
                <a:solidFill>
                  <a:schemeClr val="tx1"/>
                </a:solidFill>
                <a:effectLst/>
                <a:latin typeface="Calibri" panose="020F0502020204030204" pitchFamily="34" charset="0"/>
              </a:rPr>
              <a:t>Demonstrates a working knowledge of Business &amp; Commercial acumen</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Operationalizes and commercializes business processes</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Takes responsibility to implement, execute and align to business requirements.</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Looks for efficiencies while working on initiatives and opportunities.</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Identifies opportunities for improvement, takes measured risks</a:t>
            </a:r>
          </a:p>
          <a:p>
            <a:pPr algn="l" fontAlgn="ctr"/>
            <a:endParaRPr lang="en-US" sz="1200" b="0" i="0" u="none" strike="noStrike" dirty="0">
              <a:solidFill>
                <a:schemeClr val="tx1"/>
              </a:solidFill>
              <a:effectLst/>
              <a:latin typeface="Calibri" panose="020F0502020204030204" pitchFamily="34" charset="0"/>
            </a:endParaRPr>
          </a:p>
        </p:txBody>
      </p:sp>
      <p:sp>
        <p:nvSpPr>
          <p:cNvPr id="15" name="Rectangle: Rounded Corners 14">
            <a:extLst>
              <a:ext uri="{FF2B5EF4-FFF2-40B4-BE49-F238E27FC236}">
                <a16:creationId xmlns:a16="http://schemas.microsoft.com/office/drawing/2014/main" id="{6FC54FCF-D174-4422-AF02-A0E4D075AA5D}"/>
              </a:ext>
            </a:extLst>
          </p:cNvPr>
          <p:cNvSpPr/>
          <p:nvPr/>
        </p:nvSpPr>
        <p:spPr>
          <a:xfrm>
            <a:off x="2900033" y="1876447"/>
            <a:ext cx="3028431" cy="4779743"/>
          </a:xfrm>
          <a:prstGeom prst="roundRect">
            <a:avLst/>
          </a:prstGeom>
          <a:solidFill>
            <a:schemeClr val="tx2">
              <a:lumMod val="75000"/>
              <a:lumOff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Demonstrates a working knowledge of managing a P&amp;L and can provide guidance to others undertaking commercial activities.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Demonstrates the ability to operationalize the business strategy optimizing the commercial outcome </a:t>
            </a:r>
            <a:r>
              <a:rPr lang="en-US" sz="1200" strike="sngStrike" dirty="0">
                <a:solidFill>
                  <a:schemeClr val="bg1"/>
                </a:solidFill>
                <a:latin typeface="Calibri" panose="020F0502020204030204" pitchFamily="34" charset="0"/>
              </a:rPr>
              <a:t>with optimal outcomes.</a:t>
            </a:r>
          </a:p>
          <a:p>
            <a:pPr algn="l" fontAlgn="ctr"/>
            <a:endParaRPr lang="en-US" sz="1200" dirty="0">
              <a:solidFill>
                <a:schemeClr val="bg1"/>
              </a:solidFill>
              <a:latin typeface="Calibri" panose="020F0502020204030204" pitchFamily="34" charset="0"/>
            </a:endParaRPr>
          </a:p>
          <a:p>
            <a:pPr algn="l" fontAlgn="ctr"/>
            <a:r>
              <a:rPr lang="en-US" sz="1200" strike="sngStrike" dirty="0">
                <a:solidFill>
                  <a:schemeClr val="bg1"/>
                </a:solidFill>
                <a:latin typeface="Calibri" panose="020F0502020204030204" pitchFamily="34" charset="0"/>
              </a:rPr>
              <a:t>To</a:t>
            </a:r>
            <a:r>
              <a:rPr lang="en-US" sz="1200" dirty="0">
                <a:solidFill>
                  <a:schemeClr val="bg1"/>
                </a:solidFill>
                <a:latin typeface="Calibri" panose="020F0502020204030204" pitchFamily="34" charset="0"/>
              </a:rPr>
              <a:t> balances calculated risk with commercial outcome.</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 Considers interdependencies of customer profile, market dynamics (consumer insights, market intelligence, socio economic factors) to drive decisions around business opportunities.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Collaborates with different functions to ensure commercial viability of product/service</a:t>
            </a:r>
          </a:p>
        </p:txBody>
      </p:sp>
      <p:sp>
        <p:nvSpPr>
          <p:cNvPr id="16" name="Rectangle: Rounded Corners 15">
            <a:extLst>
              <a:ext uri="{FF2B5EF4-FFF2-40B4-BE49-F238E27FC236}">
                <a16:creationId xmlns:a16="http://schemas.microsoft.com/office/drawing/2014/main" id="{940B7297-2D4C-4213-A50D-E4A168DCB0A3}"/>
              </a:ext>
            </a:extLst>
          </p:cNvPr>
          <p:cNvSpPr/>
          <p:nvPr/>
        </p:nvSpPr>
        <p:spPr>
          <a:xfrm>
            <a:off x="5916191" y="1876447"/>
            <a:ext cx="3092136" cy="4779743"/>
          </a:xfrm>
          <a:prstGeom prst="roundRect">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Communicates,  designs and develops a clear commercial strategy and business model to enable it.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Effectively balances risks and opportunities; and looks for ways to mitigate risks.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Effectively builds and manages relationships with strategic partners.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Demonstrates a Strong understanding of the Business, Market, People and Environment to capture &amp; leverage business opportunities.</a:t>
            </a:r>
          </a:p>
        </p:txBody>
      </p:sp>
      <p:sp>
        <p:nvSpPr>
          <p:cNvPr id="7" name="TextBox 6">
            <a:extLst>
              <a:ext uri="{FF2B5EF4-FFF2-40B4-BE49-F238E27FC236}">
                <a16:creationId xmlns:a16="http://schemas.microsoft.com/office/drawing/2014/main" id="{245AF605-1469-4C89-9959-55611E5A9208}"/>
              </a:ext>
            </a:extLst>
          </p:cNvPr>
          <p:cNvSpPr txBox="1"/>
          <p:nvPr/>
        </p:nvSpPr>
        <p:spPr>
          <a:xfrm>
            <a:off x="228600" y="1417077"/>
            <a:ext cx="2140779" cy="461665"/>
          </a:xfrm>
          <a:prstGeom prst="rect">
            <a:avLst/>
          </a:prstGeom>
          <a:noFill/>
        </p:spPr>
        <p:txBody>
          <a:bodyPr wrap="none" rtlCol="0">
            <a:spAutoFit/>
          </a:bodyPr>
          <a:lstStyle/>
          <a:p>
            <a:r>
              <a:rPr lang="en-US" sz="2400" b="1" dirty="0"/>
              <a:t>Level 1 (G &amp; H )</a:t>
            </a:r>
          </a:p>
        </p:txBody>
      </p:sp>
      <p:sp>
        <p:nvSpPr>
          <p:cNvPr id="18" name="TextBox 17">
            <a:extLst>
              <a:ext uri="{FF2B5EF4-FFF2-40B4-BE49-F238E27FC236}">
                <a16:creationId xmlns:a16="http://schemas.microsoft.com/office/drawing/2014/main" id="{2F923E22-1B1D-4345-9D18-5A2A98CA08A9}"/>
              </a:ext>
            </a:extLst>
          </p:cNvPr>
          <p:cNvSpPr txBox="1"/>
          <p:nvPr/>
        </p:nvSpPr>
        <p:spPr>
          <a:xfrm>
            <a:off x="2871033" y="1427169"/>
            <a:ext cx="2004523" cy="461665"/>
          </a:xfrm>
          <a:prstGeom prst="rect">
            <a:avLst/>
          </a:prstGeom>
          <a:noFill/>
        </p:spPr>
        <p:txBody>
          <a:bodyPr wrap="none" rtlCol="0">
            <a:spAutoFit/>
          </a:bodyPr>
          <a:lstStyle/>
          <a:p>
            <a:r>
              <a:rPr lang="en-US" sz="2400" b="1" dirty="0"/>
              <a:t>Level 2 ( I &amp; J )</a:t>
            </a:r>
          </a:p>
        </p:txBody>
      </p:sp>
      <p:sp>
        <p:nvSpPr>
          <p:cNvPr id="19" name="TextBox 18">
            <a:extLst>
              <a:ext uri="{FF2B5EF4-FFF2-40B4-BE49-F238E27FC236}">
                <a16:creationId xmlns:a16="http://schemas.microsoft.com/office/drawing/2014/main" id="{DDF57A31-24EC-478C-8CE5-B68FCCE1700B}"/>
              </a:ext>
            </a:extLst>
          </p:cNvPr>
          <p:cNvSpPr txBox="1"/>
          <p:nvPr/>
        </p:nvSpPr>
        <p:spPr>
          <a:xfrm>
            <a:off x="6110229" y="1414783"/>
            <a:ext cx="2118337" cy="461665"/>
          </a:xfrm>
          <a:prstGeom prst="rect">
            <a:avLst/>
          </a:prstGeom>
          <a:noFill/>
        </p:spPr>
        <p:txBody>
          <a:bodyPr wrap="none" rtlCol="0">
            <a:spAutoFit/>
          </a:bodyPr>
          <a:lstStyle/>
          <a:p>
            <a:r>
              <a:rPr lang="en-US" sz="2400" b="1" dirty="0"/>
              <a:t>Level 3 ( K &amp; L )</a:t>
            </a:r>
          </a:p>
        </p:txBody>
      </p:sp>
      <p:graphicFrame>
        <p:nvGraphicFramePr>
          <p:cNvPr id="11" name="Diagram 10">
            <a:extLst>
              <a:ext uri="{FF2B5EF4-FFF2-40B4-BE49-F238E27FC236}">
                <a16:creationId xmlns:a16="http://schemas.microsoft.com/office/drawing/2014/main" id="{535E5691-8003-4991-81DE-4BE103657B79}"/>
              </a:ext>
            </a:extLst>
          </p:cNvPr>
          <p:cNvGraphicFramePr/>
          <p:nvPr>
            <p:extLst>
              <p:ext uri="{D42A27DB-BD31-4B8C-83A1-F6EECF244321}">
                <p14:modId xmlns:p14="http://schemas.microsoft.com/office/powerpoint/2010/main" val="4133783484"/>
              </p:ext>
            </p:extLst>
          </p:nvPr>
        </p:nvGraphicFramePr>
        <p:xfrm>
          <a:off x="-76200" y="102159"/>
          <a:ext cx="981126" cy="577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5209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48C7C0-1B84-40C9-9838-E52637D934EF}"/>
              </a:ext>
            </a:extLst>
          </p:cNvPr>
          <p:cNvSpPr txBox="1"/>
          <p:nvPr/>
        </p:nvSpPr>
        <p:spPr>
          <a:xfrm>
            <a:off x="1699166" y="201361"/>
            <a:ext cx="4527714" cy="523220"/>
          </a:xfrm>
          <a:prstGeom prst="rect">
            <a:avLst/>
          </a:prstGeom>
          <a:noFill/>
        </p:spPr>
        <p:txBody>
          <a:bodyPr wrap="none" rtlCol="0">
            <a:spAutoFit/>
          </a:bodyPr>
          <a:lstStyle/>
          <a:p>
            <a:pPr algn="ctr"/>
            <a:r>
              <a:rPr lang="en-US" sz="2800" b="1" dirty="0"/>
              <a:t>Commercial Drive- Resources</a:t>
            </a:r>
          </a:p>
        </p:txBody>
      </p:sp>
      <p:pic>
        <p:nvPicPr>
          <p:cNvPr id="39" name="Picture 38">
            <a:extLst>
              <a:ext uri="{FF2B5EF4-FFF2-40B4-BE49-F238E27FC236}">
                <a16:creationId xmlns:a16="http://schemas.microsoft.com/office/drawing/2014/main" id="{AF50AF8C-9769-4824-9A28-9A06829C993F}"/>
              </a:ext>
            </a:extLst>
          </p:cNvPr>
          <p:cNvPicPr>
            <a:picLocks noChangeAspect="1"/>
          </p:cNvPicPr>
          <p:nvPr/>
        </p:nvPicPr>
        <p:blipFill rotWithShape="1">
          <a:blip r:embed="rId3">
            <a:extLst>
              <a:ext uri="{28A0092B-C50C-407E-A947-70E740481C1C}">
                <a14:useLocalDpi xmlns:a14="http://schemas.microsoft.com/office/drawing/2010/main" val="0"/>
              </a:ext>
            </a:extLst>
          </a:blip>
          <a:srcRect t="18827" b="10761"/>
          <a:stretch/>
        </p:blipFill>
        <p:spPr>
          <a:xfrm>
            <a:off x="-23829" y="8250863"/>
            <a:ext cx="9702232" cy="4550738"/>
          </a:xfrm>
          <a:prstGeom prst="rect">
            <a:avLst/>
          </a:prstGeom>
        </p:spPr>
      </p:pic>
      <p:sp>
        <p:nvSpPr>
          <p:cNvPr id="42" name="TextBox 41">
            <a:extLst>
              <a:ext uri="{FF2B5EF4-FFF2-40B4-BE49-F238E27FC236}">
                <a16:creationId xmlns:a16="http://schemas.microsoft.com/office/drawing/2014/main" id="{550A49C3-D316-45F7-9BF2-10C3DDD00FE8}"/>
              </a:ext>
            </a:extLst>
          </p:cNvPr>
          <p:cNvSpPr txBox="1"/>
          <p:nvPr/>
        </p:nvSpPr>
        <p:spPr>
          <a:xfrm>
            <a:off x="5040603" y="1290631"/>
            <a:ext cx="4047143" cy="646331"/>
          </a:xfrm>
          <a:prstGeom prst="rect">
            <a:avLst/>
          </a:prstGeom>
          <a:noFill/>
        </p:spPr>
        <p:txBody>
          <a:bodyPr wrap="square" rtlCol="0">
            <a:spAutoFit/>
          </a:bodyPr>
          <a:lstStyle/>
          <a:p>
            <a:pPr defTabSz="489783" fontAlgn="ctr">
              <a:defRPr/>
            </a:pPr>
            <a:r>
              <a:rPr lang="en-US" sz="1800" dirty="0">
                <a:cs typeface="Calibri" panose="020F0502020204030204" pitchFamily="34" charset="0"/>
              </a:rPr>
              <a:t>What are the current business challenges that require prioritization</a:t>
            </a:r>
          </a:p>
        </p:txBody>
      </p:sp>
      <p:cxnSp>
        <p:nvCxnSpPr>
          <p:cNvPr id="43" name="Straight Connector 42">
            <a:extLst>
              <a:ext uri="{FF2B5EF4-FFF2-40B4-BE49-F238E27FC236}">
                <a16:creationId xmlns:a16="http://schemas.microsoft.com/office/drawing/2014/main" id="{76A36D67-5B66-445F-86F8-2E5D94D3AEF3}"/>
              </a:ext>
            </a:extLst>
          </p:cNvPr>
          <p:cNvCxnSpPr/>
          <p:nvPr/>
        </p:nvCxnSpPr>
        <p:spPr>
          <a:xfrm>
            <a:off x="0" y="777811"/>
            <a:ext cx="4607794" cy="0"/>
          </a:xfrm>
          <a:prstGeom prst="line">
            <a:avLst/>
          </a:prstGeom>
          <a:noFill/>
          <a:ln w="6350" cap="flat" cmpd="sng" algn="ctr">
            <a:solidFill>
              <a:srgbClr val="4472C4"/>
            </a:solidFill>
            <a:prstDash val="solid"/>
            <a:miter lim="800000"/>
          </a:ln>
          <a:effectLst/>
        </p:spPr>
      </p:cxnSp>
      <p:sp>
        <p:nvSpPr>
          <p:cNvPr id="45" name="TextBox 44">
            <a:extLst>
              <a:ext uri="{FF2B5EF4-FFF2-40B4-BE49-F238E27FC236}">
                <a16:creationId xmlns:a16="http://schemas.microsoft.com/office/drawing/2014/main" id="{EBBBCA0A-EED7-4622-9AAE-709549716A4B}"/>
              </a:ext>
            </a:extLst>
          </p:cNvPr>
          <p:cNvSpPr txBox="1"/>
          <p:nvPr/>
        </p:nvSpPr>
        <p:spPr>
          <a:xfrm>
            <a:off x="5040603" y="2450495"/>
            <a:ext cx="3609753" cy="923330"/>
          </a:xfrm>
          <a:prstGeom prst="rect">
            <a:avLst/>
          </a:prstGeom>
          <a:noFill/>
        </p:spPr>
        <p:txBody>
          <a:bodyPr wrap="square" rtlCol="0">
            <a:spAutoFit/>
          </a:bodyPr>
          <a:lstStyle/>
          <a:p>
            <a:pPr defTabSz="489783" fontAlgn="ctr">
              <a:defRPr/>
            </a:pPr>
            <a:r>
              <a:rPr lang="en-US" sz="1800" dirty="0">
                <a:cs typeface="Calibri" panose="020F0502020204030204" pitchFamily="34" charset="0"/>
              </a:rPr>
              <a:t>What actions and behaviors should I be leveraging/developing  to be more Commercially focused?</a:t>
            </a:r>
          </a:p>
        </p:txBody>
      </p:sp>
      <p:sp>
        <p:nvSpPr>
          <p:cNvPr id="46" name="TextBox 45">
            <a:extLst>
              <a:ext uri="{FF2B5EF4-FFF2-40B4-BE49-F238E27FC236}">
                <a16:creationId xmlns:a16="http://schemas.microsoft.com/office/drawing/2014/main" id="{B1DAF3C7-F5F6-4BD3-9785-F3299423D2D7}"/>
              </a:ext>
            </a:extLst>
          </p:cNvPr>
          <p:cNvSpPr txBox="1"/>
          <p:nvPr/>
        </p:nvSpPr>
        <p:spPr>
          <a:xfrm>
            <a:off x="5040602" y="3740125"/>
            <a:ext cx="3778219" cy="1200329"/>
          </a:xfrm>
          <a:prstGeom prst="rect">
            <a:avLst/>
          </a:prstGeom>
          <a:noFill/>
        </p:spPr>
        <p:txBody>
          <a:bodyPr wrap="square" rtlCol="0">
            <a:spAutoFit/>
          </a:bodyPr>
          <a:lstStyle/>
          <a:p>
            <a:pPr defTabSz="489783" fontAlgn="ctr">
              <a:defRPr/>
            </a:pPr>
            <a:r>
              <a:rPr lang="en-US" sz="1800" dirty="0">
                <a:cs typeface="Calibri" panose="020F0502020204030204" pitchFamily="34" charset="0"/>
              </a:rPr>
              <a:t>What are the business outcomes that I can positively impact, if I aligned my actions with the commercial drive behaviors?</a:t>
            </a:r>
          </a:p>
        </p:txBody>
      </p:sp>
      <p:pic>
        <p:nvPicPr>
          <p:cNvPr id="47" name="Picture 46">
            <a:extLst>
              <a:ext uri="{FF2B5EF4-FFF2-40B4-BE49-F238E27FC236}">
                <a16:creationId xmlns:a16="http://schemas.microsoft.com/office/drawing/2014/main" id="{6E7985B9-460F-4E7D-A536-BFD93361DE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08085" y="3796750"/>
            <a:ext cx="898601" cy="898601"/>
          </a:xfrm>
          <a:prstGeom prst="rect">
            <a:avLst/>
          </a:prstGeom>
        </p:spPr>
      </p:pic>
      <p:pic>
        <p:nvPicPr>
          <p:cNvPr id="48" name="Picture 47">
            <a:extLst>
              <a:ext uri="{FF2B5EF4-FFF2-40B4-BE49-F238E27FC236}">
                <a16:creationId xmlns:a16="http://schemas.microsoft.com/office/drawing/2014/main" id="{012439CA-004B-485B-9D78-EE3B2D2204A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99034" y="1353146"/>
            <a:ext cx="828918" cy="828918"/>
          </a:xfrm>
          <a:prstGeom prst="rect">
            <a:avLst/>
          </a:prstGeom>
        </p:spPr>
      </p:pic>
      <p:pic>
        <p:nvPicPr>
          <p:cNvPr id="49" name="Picture 48">
            <a:extLst>
              <a:ext uri="{FF2B5EF4-FFF2-40B4-BE49-F238E27FC236}">
                <a16:creationId xmlns:a16="http://schemas.microsoft.com/office/drawing/2014/main" id="{F1F036CF-0C10-4796-A2AF-438F6506D7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48960" y="2449462"/>
            <a:ext cx="898602" cy="898602"/>
          </a:xfrm>
          <a:prstGeom prst="rect">
            <a:avLst/>
          </a:prstGeom>
        </p:spPr>
      </p:pic>
      <p:grpSp>
        <p:nvGrpSpPr>
          <p:cNvPr id="50" name="Group 49">
            <a:extLst>
              <a:ext uri="{FF2B5EF4-FFF2-40B4-BE49-F238E27FC236}">
                <a16:creationId xmlns:a16="http://schemas.microsoft.com/office/drawing/2014/main" id="{94158EA9-AEFC-451F-A11A-08EAC37BCABF}"/>
              </a:ext>
            </a:extLst>
          </p:cNvPr>
          <p:cNvGrpSpPr/>
          <p:nvPr/>
        </p:nvGrpSpPr>
        <p:grpSpPr>
          <a:xfrm>
            <a:off x="32549" y="805701"/>
            <a:ext cx="3875536" cy="3156699"/>
            <a:chOff x="201750" y="1092352"/>
            <a:chExt cx="3514703" cy="3156699"/>
          </a:xfrm>
        </p:grpSpPr>
        <p:sp>
          <p:nvSpPr>
            <p:cNvPr id="51" name="Rectangle: Rounded Corners 50">
              <a:extLst>
                <a:ext uri="{FF2B5EF4-FFF2-40B4-BE49-F238E27FC236}">
                  <a16:creationId xmlns:a16="http://schemas.microsoft.com/office/drawing/2014/main" id="{85C1AF67-482C-48C7-8F54-F7BE2BE8E9C6}"/>
                </a:ext>
              </a:extLst>
            </p:cNvPr>
            <p:cNvSpPr/>
            <p:nvPr/>
          </p:nvSpPr>
          <p:spPr>
            <a:xfrm>
              <a:off x="223248" y="1305365"/>
              <a:ext cx="3493205" cy="2943686"/>
            </a:xfrm>
            <a:prstGeom prst="roundRect">
              <a:avLst>
                <a:gd name="adj" fmla="val 9183"/>
              </a:avLst>
            </a:prstGeom>
            <a:solidFill>
              <a:sysClr val="window" lastClr="FFFFFF">
                <a:lumMod val="8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3" name="Picture 52">
              <a:extLst>
                <a:ext uri="{FF2B5EF4-FFF2-40B4-BE49-F238E27FC236}">
                  <a16:creationId xmlns:a16="http://schemas.microsoft.com/office/drawing/2014/main" id="{79218B48-FE01-4308-AE43-1C4CEBFC183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01750" y="1092352"/>
              <a:ext cx="578841" cy="578841"/>
            </a:xfrm>
            <a:prstGeom prst="rect">
              <a:avLst/>
            </a:prstGeom>
          </p:spPr>
        </p:pic>
        <p:sp>
          <p:nvSpPr>
            <p:cNvPr id="56" name="TextBox 55">
              <a:extLst>
                <a:ext uri="{FF2B5EF4-FFF2-40B4-BE49-F238E27FC236}">
                  <a16:creationId xmlns:a16="http://schemas.microsoft.com/office/drawing/2014/main" id="{127BA1E8-A52C-4CC9-BAAA-710748BBDEE4}"/>
                </a:ext>
              </a:extLst>
            </p:cNvPr>
            <p:cNvSpPr txBox="1"/>
            <p:nvPr/>
          </p:nvSpPr>
          <p:spPr>
            <a:xfrm>
              <a:off x="566671" y="1306347"/>
              <a:ext cx="3033496" cy="461665"/>
            </a:xfrm>
            <a:prstGeom prst="rect">
              <a:avLst/>
            </a:prstGeom>
            <a:noFill/>
          </p:spPr>
          <p:txBody>
            <a:bodyPr wrap="square" rtlCol="0">
              <a:spAutoFit/>
            </a:bodyPr>
            <a:lstStyle/>
            <a:p>
              <a:pPr marL="0" marR="0" lvl="0" indent="0" defTabSz="914286" eaLnBrk="1" fontAlgn="ctr"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cs typeface="Calibri" panose="020F0502020204030204" pitchFamily="34" charset="0"/>
                </a:rPr>
                <a:t>Additional Resources</a:t>
              </a:r>
            </a:p>
          </p:txBody>
        </p:sp>
      </p:grpSp>
      <p:pic>
        <p:nvPicPr>
          <p:cNvPr id="57" name="Picture 56">
            <a:extLst>
              <a:ext uri="{FF2B5EF4-FFF2-40B4-BE49-F238E27FC236}">
                <a16:creationId xmlns:a16="http://schemas.microsoft.com/office/drawing/2014/main" id="{4F596E90-8908-49E5-8CBD-D4AF6F5A377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48960" y="5129944"/>
            <a:ext cx="898601" cy="898601"/>
          </a:xfrm>
          <a:prstGeom prst="rect">
            <a:avLst/>
          </a:prstGeom>
        </p:spPr>
      </p:pic>
      <p:sp>
        <p:nvSpPr>
          <p:cNvPr id="58" name="TextBox 57">
            <a:extLst>
              <a:ext uri="{FF2B5EF4-FFF2-40B4-BE49-F238E27FC236}">
                <a16:creationId xmlns:a16="http://schemas.microsoft.com/office/drawing/2014/main" id="{88FEB467-08D7-4DA8-AF9D-99EB0D8DB696}"/>
              </a:ext>
            </a:extLst>
          </p:cNvPr>
          <p:cNvSpPr txBox="1"/>
          <p:nvPr/>
        </p:nvSpPr>
        <p:spPr>
          <a:xfrm>
            <a:off x="5082052" y="5330522"/>
            <a:ext cx="3945399" cy="646331"/>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can I build this understanding in my team members? </a:t>
            </a:r>
          </a:p>
        </p:txBody>
      </p:sp>
      <p:pic>
        <p:nvPicPr>
          <p:cNvPr id="59" name="Picture 58">
            <a:extLst>
              <a:ext uri="{FF2B5EF4-FFF2-40B4-BE49-F238E27FC236}">
                <a16:creationId xmlns:a16="http://schemas.microsoft.com/office/drawing/2014/main" id="{BCF9B076-977B-4D1C-AB57-AEF20976C95E}"/>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36933"/>
          <a:stretch/>
        </p:blipFill>
        <p:spPr>
          <a:xfrm>
            <a:off x="7560777" y="12066145"/>
            <a:ext cx="2117626" cy="561180"/>
          </a:xfrm>
          <a:prstGeom prst="rect">
            <a:avLst/>
          </a:prstGeom>
        </p:spPr>
      </p:pic>
      <p:graphicFrame>
        <p:nvGraphicFramePr>
          <p:cNvPr id="60" name="Table 59">
            <a:extLst>
              <a:ext uri="{FF2B5EF4-FFF2-40B4-BE49-F238E27FC236}">
                <a16:creationId xmlns:a16="http://schemas.microsoft.com/office/drawing/2014/main" id="{AFCE439E-28B5-4EBA-8AB2-B276A6F2710C}"/>
              </a:ext>
            </a:extLst>
          </p:cNvPr>
          <p:cNvGraphicFramePr>
            <a:graphicFrameLocks noGrp="1"/>
          </p:cNvGraphicFramePr>
          <p:nvPr>
            <p:extLst>
              <p:ext uri="{D42A27DB-BD31-4B8C-83A1-F6EECF244321}">
                <p14:modId xmlns:p14="http://schemas.microsoft.com/office/powerpoint/2010/main" val="2763101863"/>
              </p:ext>
            </p:extLst>
          </p:nvPr>
        </p:nvGraphicFramePr>
        <p:xfrm>
          <a:off x="53599" y="1614951"/>
          <a:ext cx="3732784" cy="2370364"/>
        </p:xfrm>
        <a:graphic>
          <a:graphicData uri="http://schemas.openxmlformats.org/drawingml/2006/table">
            <a:tbl>
              <a:tblPr/>
              <a:tblGrid>
                <a:gridCol w="525293">
                  <a:extLst>
                    <a:ext uri="{9D8B030D-6E8A-4147-A177-3AD203B41FA5}">
                      <a16:colId xmlns:a16="http://schemas.microsoft.com/office/drawing/2014/main" val="2292092926"/>
                    </a:ext>
                  </a:extLst>
                </a:gridCol>
                <a:gridCol w="3207491">
                  <a:extLst>
                    <a:ext uri="{9D8B030D-6E8A-4147-A177-3AD203B41FA5}">
                      <a16:colId xmlns:a16="http://schemas.microsoft.com/office/drawing/2014/main" val="3333233995"/>
                    </a:ext>
                  </a:extLst>
                </a:gridCol>
              </a:tblGrid>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1</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10"/>
                        </a:rPr>
                        <a:t>McKinsey-Commercial Excellence: Your Path to Growth</a:t>
                      </a:r>
                      <a:endParaRPr lang="en-US" sz="1400" u="sng" strike="noStrike" dirty="0">
                        <a:effectLst/>
                      </a:endParaRPr>
                    </a:p>
                    <a:p>
                      <a:pPr algn="l" fontAlgn="b"/>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48742838"/>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2</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11"/>
                        </a:rPr>
                        <a:t>CIPD-Commercial Drive</a:t>
                      </a:r>
                      <a:endParaRPr lang="en-US" sz="1400" u="sng" strike="noStrike" dirty="0">
                        <a:effectLst/>
                      </a:endParaRPr>
                    </a:p>
                    <a:p>
                      <a:pPr algn="l" fontAlgn="b"/>
                      <a:endParaRPr lang="en-US" sz="1400" b="0" i="0" u="sng" strike="noStrike" dirty="0">
                        <a:solidFill>
                          <a:srgbClr val="0563C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92654841"/>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3</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t"/>
                      <a:r>
                        <a:rPr lang="en-US" sz="1400" u="none" strike="noStrike" dirty="0">
                          <a:effectLst/>
                          <a:hlinkClick r:id="rId12"/>
                        </a:rPr>
                        <a:t>https://www.exed.hbs.edu/driving-profitable-growth/</a:t>
                      </a:r>
                      <a:endParaRPr lang="en-US" sz="1400" u="none" strike="noStrike" dirty="0">
                        <a:effectLst/>
                      </a:endParaRPr>
                    </a:p>
                    <a:p>
                      <a:pPr algn="l" fontAlgn="t"/>
                      <a:endParaRPr lang="en-US" sz="1400" u="none" strike="noStrike" dirty="0">
                        <a:effectLst/>
                      </a:endParaRPr>
                    </a:p>
                  </a:txBody>
                  <a:tcPr marL="4082" marR="4082" marT="4082"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39569084"/>
                  </a:ext>
                </a:extLst>
              </a:tr>
              <a:tr h="19050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4</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t"/>
                      <a:r>
                        <a:rPr lang="en-US" sz="1400" u="none" strike="noStrike" dirty="0">
                          <a:effectLst/>
                          <a:hlinkClick r:id="rId13"/>
                        </a:rPr>
                        <a:t>https://psychologyatwork.blog/2020/08/24/developing-a-commercial-mindset/</a:t>
                      </a:r>
                      <a:endParaRPr lang="en-US" sz="1400" u="none" strike="noStrike" dirty="0">
                        <a:effectLst/>
                      </a:endParaRPr>
                    </a:p>
                    <a:p>
                      <a:pPr algn="l" fontAlgn="t"/>
                      <a:endParaRPr lang="en-US" sz="1400" u="none" strike="noStrike" dirty="0">
                        <a:effectLst/>
                      </a:endParaRPr>
                    </a:p>
                  </a:txBody>
                  <a:tcPr marL="4082" marR="4082" marT="4082"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400111781"/>
                  </a:ext>
                </a:extLst>
              </a:tr>
            </a:tbl>
          </a:graphicData>
        </a:graphic>
      </p:graphicFrame>
      <p:pic>
        <p:nvPicPr>
          <p:cNvPr id="25" name="Picture 24">
            <a:extLst>
              <a:ext uri="{FF2B5EF4-FFF2-40B4-BE49-F238E27FC236}">
                <a16:creationId xmlns:a16="http://schemas.microsoft.com/office/drawing/2014/main" id="{3534A664-7D14-40B1-A0A4-F3CCBABC31CD}"/>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36933"/>
          <a:stretch/>
        </p:blipFill>
        <p:spPr>
          <a:xfrm>
            <a:off x="28308" y="4246050"/>
            <a:ext cx="2117626" cy="561180"/>
          </a:xfrm>
          <a:prstGeom prst="rect">
            <a:avLst/>
          </a:prstGeom>
        </p:spPr>
      </p:pic>
      <p:pic>
        <p:nvPicPr>
          <p:cNvPr id="22" name="Picture 21">
            <a:extLst>
              <a:ext uri="{FF2B5EF4-FFF2-40B4-BE49-F238E27FC236}">
                <a16:creationId xmlns:a16="http://schemas.microsoft.com/office/drawing/2014/main" id="{EC97C66B-81D8-434D-A5E0-19D909ED508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5942" y="4456074"/>
            <a:ext cx="3871058" cy="2097126"/>
          </a:xfrm>
          <a:prstGeom prst="rect">
            <a:avLst/>
          </a:prstGeom>
        </p:spPr>
      </p:pic>
      <p:graphicFrame>
        <p:nvGraphicFramePr>
          <p:cNvPr id="23" name="Diagram 22">
            <a:extLst>
              <a:ext uri="{FF2B5EF4-FFF2-40B4-BE49-F238E27FC236}">
                <a16:creationId xmlns:a16="http://schemas.microsoft.com/office/drawing/2014/main" id="{0DB0E5E4-C5BF-4E9A-961F-9619B4510C15}"/>
              </a:ext>
            </a:extLst>
          </p:cNvPr>
          <p:cNvGraphicFramePr/>
          <p:nvPr>
            <p:extLst>
              <p:ext uri="{D42A27DB-BD31-4B8C-83A1-F6EECF244321}">
                <p14:modId xmlns:p14="http://schemas.microsoft.com/office/powerpoint/2010/main" val="4133783484"/>
              </p:ext>
            </p:extLst>
          </p:nvPr>
        </p:nvGraphicFramePr>
        <p:xfrm>
          <a:off x="-76200" y="102159"/>
          <a:ext cx="981126" cy="577282"/>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Tree>
    <p:extLst>
      <p:ext uri="{BB962C8B-B14F-4D97-AF65-F5344CB8AC3E}">
        <p14:creationId xmlns:p14="http://schemas.microsoft.com/office/powerpoint/2010/main" val="99908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B4FA0-CECE-410A-A1FE-EB3E349E4D91}"/>
              </a:ext>
            </a:extLst>
          </p:cNvPr>
          <p:cNvSpPr txBox="1"/>
          <p:nvPr/>
        </p:nvSpPr>
        <p:spPr>
          <a:xfrm>
            <a:off x="76200" y="795164"/>
            <a:ext cx="9067800" cy="646331"/>
          </a:xfrm>
          <a:prstGeom prst="rect">
            <a:avLst/>
          </a:prstGeom>
          <a:noFill/>
        </p:spPr>
        <p:txBody>
          <a:bodyPr wrap="square">
            <a:spAutoFit/>
          </a:bodyPr>
          <a:lstStyle/>
          <a:p>
            <a:r>
              <a:rPr lang="en-US" dirty="0"/>
              <a:t>Confident managing the various challenges that our increasingly complex workplace and roles demand: global, digital, competitor, consumer, employees</a:t>
            </a:r>
          </a:p>
        </p:txBody>
      </p:sp>
      <p:sp>
        <p:nvSpPr>
          <p:cNvPr id="4" name="TextBox 3">
            <a:extLst>
              <a:ext uri="{FF2B5EF4-FFF2-40B4-BE49-F238E27FC236}">
                <a16:creationId xmlns:a16="http://schemas.microsoft.com/office/drawing/2014/main" id="{ED48C7C0-1B84-40C9-9838-E52637D934EF}"/>
              </a:ext>
            </a:extLst>
          </p:cNvPr>
          <p:cNvSpPr txBox="1"/>
          <p:nvPr/>
        </p:nvSpPr>
        <p:spPr>
          <a:xfrm>
            <a:off x="2272187" y="198825"/>
            <a:ext cx="3889206" cy="584775"/>
          </a:xfrm>
          <a:prstGeom prst="rect">
            <a:avLst/>
          </a:prstGeom>
          <a:noFill/>
        </p:spPr>
        <p:txBody>
          <a:bodyPr wrap="none" rtlCol="0">
            <a:spAutoFit/>
          </a:bodyPr>
          <a:lstStyle/>
          <a:p>
            <a:pPr algn="ctr"/>
            <a:r>
              <a:rPr lang="en-US" sz="3200" b="1" dirty="0"/>
              <a:t>Managing Complexity</a:t>
            </a:r>
          </a:p>
        </p:txBody>
      </p:sp>
      <p:sp>
        <p:nvSpPr>
          <p:cNvPr id="5" name="Rectangle: Rounded Corners 4">
            <a:extLst>
              <a:ext uri="{FF2B5EF4-FFF2-40B4-BE49-F238E27FC236}">
                <a16:creationId xmlns:a16="http://schemas.microsoft.com/office/drawing/2014/main" id="{8551ECE5-EA68-462A-9929-A829AF965E98}"/>
              </a:ext>
            </a:extLst>
          </p:cNvPr>
          <p:cNvSpPr/>
          <p:nvPr/>
        </p:nvSpPr>
        <p:spPr>
          <a:xfrm>
            <a:off x="57615" y="1852722"/>
            <a:ext cx="2963661" cy="4782727"/>
          </a:xfrm>
          <a:prstGeom prst="roundRect">
            <a:avLst/>
          </a:prstGeom>
          <a:solidFill>
            <a:schemeClr val="tx2">
              <a:lumMod val="25000"/>
              <a:lumOff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b="0" i="0" u="none" strike="noStrike" dirty="0">
                <a:solidFill>
                  <a:schemeClr val="tx1"/>
                </a:solidFill>
                <a:effectLst/>
                <a:latin typeface="Calibri" panose="020F0502020204030204" pitchFamily="34" charset="0"/>
              </a:rPr>
              <a:t>Ability to follow &amp; guide others through  processes and SOPs.</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Uncovers root causes to difficult problems by asking the right questions.</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Shows the ability to seek support and input from the right stake holders to make sense of the situation and move forward. </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Demonstrates self management and flexibility, while working with ambiguity.</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Finds ways to simplify issues and helps others navigate.</a:t>
            </a:r>
          </a:p>
          <a:p>
            <a:pPr algn="l" fontAlgn="ctr"/>
            <a:endParaRPr lang="en-US" sz="1200" b="0" i="0" u="none" strike="noStrike" dirty="0">
              <a:solidFill>
                <a:schemeClr val="tx1"/>
              </a:solidFill>
              <a:effectLst/>
              <a:latin typeface="Calibri" panose="020F0502020204030204" pitchFamily="34" charset="0"/>
            </a:endParaRPr>
          </a:p>
          <a:p>
            <a:pPr algn="l" fontAlgn="ctr"/>
            <a:endParaRPr lang="en-US" sz="1200" b="0" i="0" u="none" strike="noStrike" dirty="0">
              <a:solidFill>
                <a:schemeClr val="tx1"/>
              </a:solidFill>
              <a:effectLst/>
              <a:latin typeface="Calibri" panose="020F0502020204030204" pitchFamily="34" charset="0"/>
            </a:endParaRPr>
          </a:p>
        </p:txBody>
      </p:sp>
      <p:sp>
        <p:nvSpPr>
          <p:cNvPr id="15" name="Rectangle: Rounded Corners 14">
            <a:extLst>
              <a:ext uri="{FF2B5EF4-FFF2-40B4-BE49-F238E27FC236}">
                <a16:creationId xmlns:a16="http://schemas.microsoft.com/office/drawing/2014/main" id="{6FC54FCF-D174-4422-AF02-A0E4D075AA5D}"/>
              </a:ext>
            </a:extLst>
          </p:cNvPr>
          <p:cNvSpPr/>
          <p:nvPr/>
        </p:nvSpPr>
        <p:spPr>
          <a:xfrm>
            <a:off x="2900033" y="1876447"/>
            <a:ext cx="3028431" cy="4779743"/>
          </a:xfrm>
          <a:prstGeom prst="roundRect">
            <a:avLst/>
          </a:prstGeom>
          <a:solidFill>
            <a:schemeClr val="tx2">
              <a:lumMod val="75000"/>
              <a:lumOff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Acquires data and perspectives from multiple and diverse sources (including historical experiences) when solving problems, evaluating the Pros and Cons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Ability to work with complex structures and workplace models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Readily distinguishes, between what's relevant and what's unimportant, to make sense of complex situations.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Demonstrates self resilience and seeks to enable resilience in others.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Ability to break complex challenges into workable chunks.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Demonstrates political savviness.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Understands the impact of complexity on others and actively takes steps to provide support.</a:t>
            </a:r>
          </a:p>
        </p:txBody>
      </p:sp>
      <p:sp>
        <p:nvSpPr>
          <p:cNvPr id="16" name="Rectangle: Rounded Corners 15">
            <a:extLst>
              <a:ext uri="{FF2B5EF4-FFF2-40B4-BE49-F238E27FC236}">
                <a16:creationId xmlns:a16="http://schemas.microsoft.com/office/drawing/2014/main" id="{940B7297-2D4C-4213-A50D-E4A168DCB0A3}"/>
              </a:ext>
            </a:extLst>
          </p:cNvPr>
          <p:cNvSpPr/>
          <p:nvPr/>
        </p:nvSpPr>
        <p:spPr>
          <a:xfrm>
            <a:off x="5916191" y="1876447"/>
            <a:ext cx="3092136" cy="4779743"/>
          </a:xfrm>
          <a:prstGeom prst="roundRect">
            <a:avLst/>
          </a:prstGeom>
          <a:solidFill>
            <a:schemeClr val="tx2">
              <a:lumMod val="90000"/>
              <a:lumOff val="1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Enables the organization to make sense of the complex challenges, analyze perspectives &amp; facilitates the creation of the roadmap/action plans.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Secures alignment of direction, focus and effort whilst navigating complexity.</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Demonstrates courage and ability to take calculated risks especially while dealing with ambiguous situations.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Demonstrates political savviness, understands how decisions are made and who influences them, understands and promotes the interests of others to obtain their support</a:t>
            </a:r>
          </a:p>
        </p:txBody>
      </p:sp>
      <p:sp>
        <p:nvSpPr>
          <p:cNvPr id="7" name="TextBox 6">
            <a:extLst>
              <a:ext uri="{FF2B5EF4-FFF2-40B4-BE49-F238E27FC236}">
                <a16:creationId xmlns:a16="http://schemas.microsoft.com/office/drawing/2014/main" id="{245AF605-1469-4C89-9959-55611E5A9208}"/>
              </a:ext>
            </a:extLst>
          </p:cNvPr>
          <p:cNvSpPr txBox="1"/>
          <p:nvPr/>
        </p:nvSpPr>
        <p:spPr>
          <a:xfrm>
            <a:off x="305457" y="1416276"/>
            <a:ext cx="2140779" cy="461665"/>
          </a:xfrm>
          <a:prstGeom prst="rect">
            <a:avLst/>
          </a:prstGeom>
          <a:noFill/>
        </p:spPr>
        <p:txBody>
          <a:bodyPr wrap="none" rtlCol="0">
            <a:spAutoFit/>
          </a:bodyPr>
          <a:lstStyle/>
          <a:p>
            <a:r>
              <a:rPr lang="en-US" sz="2400" b="1" dirty="0"/>
              <a:t>Level 1 (G &amp; H )</a:t>
            </a:r>
          </a:p>
        </p:txBody>
      </p:sp>
      <p:sp>
        <p:nvSpPr>
          <p:cNvPr id="18" name="TextBox 17">
            <a:extLst>
              <a:ext uri="{FF2B5EF4-FFF2-40B4-BE49-F238E27FC236}">
                <a16:creationId xmlns:a16="http://schemas.microsoft.com/office/drawing/2014/main" id="{2F923E22-1B1D-4345-9D18-5A2A98CA08A9}"/>
              </a:ext>
            </a:extLst>
          </p:cNvPr>
          <p:cNvSpPr txBox="1"/>
          <p:nvPr/>
        </p:nvSpPr>
        <p:spPr>
          <a:xfrm>
            <a:off x="3242746" y="1403102"/>
            <a:ext cx="2004523" cy="461665"/>
          </a:xfrm>
          <a:prstGeom prst="rect">
            <a:avLst/>
          </a:prstGeom>
          <a:noFill/>
        </p:spPr>
        <p:txBody>
          <a:bodyPr wrap="none" rtlCol="0">
            <a:spAutoFit/>
          </a:bodyPr>
          <a:lstStyle/>
          <a:p>
            <a:r>
              <a:rPr lang="en-US" sz="2400" b="1" dirty="0"/>
              <a:t>Level 2 ( I &amp; J )</a:t>
            </a:r>
          </a:p>
        </p:txBody>
      </p:sp>
      <p:sp>
        <p:nvSpPr>
          <p:cNvPr id="19" name="TextBox 18">
            <a:extLst>
              <a:ext uri="{FF2B5EF4-FFF2-40B4-BE49-F238E27FC236}">
                <a16:creationId xmlns:a16="http://schemas.microsoft.com/office/drawing/2014/main" id="{DDF57A31-24EC-478C-8CE5-B68FCCE1700B}"/>
              </a:ext>
            </a:extLst>
          </p:cNvPr>
          <p:cNvSpPr txBox="1"/>
          <p:nvPr/>
        </p:nvSpPr>
        <p:spPr>
          <a:xfrm>
            <a:off x="6394789" y="1404777"/>
            <a:ext cx="2118337" cy="461665"/>
          </a:xfrm>
          <a:prstGeom prst="rect">
            <a:avLst/>
          </a:prstGeom>
          <a:noFill/>
        </p:spPr>
        <p:txBody>
          <a:bodyPr wrap="none" rtlCol="0">
            <a:spAutoFit/>
          </a:bodyPr>
          <a:lstStyle/>
          <a:p>
            <a:r>
              <a:rPr lang="en-US" sz="2400" b="1" dirty="0"/>
              <a:t>Level 3 ( K &amp; L )</a:t>
            </a:r>
          </a:p>
        </p:txBody>
      </p:sp>
      <p:graphicFrame>
        <p:nvGraphicFramePr>
          <p:cNvPr id="11" name="Diagram 10">
            <a:extLst>
              <a:ext uri="{FF2B5EF4-FFF2-40B4-BE49-F238E27FC236}">
                <a16:creationId xmlns:a16="http://schemas.microsoft.com/office/drawing/2014/main" id="{7D610621-4C3F-460F-8F25-ABCE57A746A6}"/>
              </a:ext>
            </a:extLst>
          </p:cNvPr>
          <p:cNvGraphicFramePr/>
          <p:nvPr>
            <p:extLst>
              <p:ext uri="{D42A27DB-BD31-4B8C-83A1-F6EECF244321}">
                <p14:modId xmlns:p14="http://schemas.microsoft.com/office/powerpoint/2010/main" val="4133783484"/>
              </p:ext>
            </p:extLst>
          </p:nvPr>
        </p:nvGraphicFramePr>
        <p:xfrm>
          <a:off x="-76200" y="102159"/>
          <a:ext cx="981126" cy="577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6119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48C7C0-1B84-40C9-9838-E52637D934EF}"/>
              </a:ext>
            </a:extLst>
          </p:cNvPr>
          <p:cNvSpPr txBox="1"/>
          <p:nvPr/>
        </p:nvSpPr>
        <p:spPr>
          <a:xfrm>
            <a:off x="1456542" y="201361"/>
            <a:ext cx="5012975" cy="523220"/>
          </a:xfrm>
          <a:prstGeom prst="rect">
            <a:avLst/>
          </a:prstGeom>
          <a:noFill/>
        </p:spPr>
        <p:txBody>
          <a:bodyPr wrap="none" rtlCol="0">
            <a:spAutoFit/>
          </a:bodyPr>
          <a:lstStyle/>
          <a:p>
            <a:pPr algn="ctr"/>
            <a:r>
              <a:rPr lang="en-US" sz="2800" b="1" dirty="0"/>
              <a:t>Managing Complexity Resources</a:t>
            </a:r>
          </a:p>
        </p:txBody>
      </p:sp>
      <p:pic>
        <p:nvPicPr>
          <p:cNvPr id="39" name="Picture 38">
            <a:extLst>
              <a:ext uri="{FF2B5EF4-FFF2-40B4-BE49-F238E27FC236}">
                <a16:creationId xmlns:a16="http://schemas.microsoft.com/office/drawing/2014/main" id="{AF50AF8C-9769-4824-9A28-9A06829C993F}"/>
              </a:ext>
            </a:extLst>
          </p:cNvPr>
          <p:cNvPicPr>
            <a:picLocks noChangeAspect="1"/>
          </p:cNvPicPr>
          <p:nvPr/>
        </p:nvPicPr>
        <p:blipFill rotWithShape="1">
          <a:blip r:embed="rId3">
            <a:extLst>
              <a:ext uri="{28A0092B-C50C-407E-A947-70E740481C1C}">
                <a14:useLocalDpi xmlns:a14="http://schemas.microsoft.com/office/drawing/2010/main" val="0"/>
              </a:ext>
            </a:extLst>
          </a:blip>
          <a:srcRect t="18827" b="10761"/>
          <a:stretch/>
        </p:blipFill>
        <p:spPr>
          <a:xfrm>
            <a:off x="-23829" y="8250863"/>
            <a:ext cx="9702232" cy="4550738"/>
          </a:xfrm>
          <a:prstGeom prst="rect">
            <a:avLst/>
          </a:prstGeom>
        </p:spPr>
      </p:pic>
      <p:sp>
        <p:nvSpPr>
          <p:cNvPr id="42" name="TextBox 41">
            <a:extLst>
              <a:ext uri="{FF2B5EF4-FFF2-40B4-BE49-F238E27FC236}">
                <a16:creationId xmlns:a16="http://schemas.microsoft.com/office/drawing/2014/main" id="{550A49C3-D316-45F7-9BF2-10C3DDD00FE8}"/>
              </a:ext>
            </a:extLst>
          </p:cNvPr>
          <p:cNvSpPr txBox="1"/>
          <p:nvPr/>
        </p:nvSpPr>
        <p:spPr>
          <a:xfrm>
            <a:off x="5040603" y="1142949"/>
            <a:ext cx="4047143" cy="923330"/>
          </a:xfrm>
          <a:prstGeom prst="rect">
            <a:avLst/>
          </a:prstGeom>
          <a:noFill/>
        </p:spPr>
        <p:txBody>
          <a:bodyPr wrap="square" rtlCol="0">
            <a:spAutoFit/>
          </a:bodyPr>
          <a:lstStyle/>
          <a:p>
            <a:pPr defTabSz="489783" fontAlgn="ctr">
              <a:defRPr/>
            </a:pPr>
            <a:r>
              <a:rPr lang="en-US" sz="1800" dirty="0">
                <a:cs typeface="Calibri" panose="020F0502020204030204" pitchFamily="34" charset="0"/>
              </a:rPr>
              <a:t>How can I leverage these </a:t>
            </a:r>
            <a:r>
              <a:rPr lang="en-US" sz="1800" dirty="0" err="1">
                <a:cs typeface="Calibri" panose="020F0502020204030204" pitchFamily="34" charset="0"/>
              </a:rPr>
              <a:t>behaviours</a:t>
            </a:r>
            <a:r>
              <a:rPr lang="en-US" sz="1800" dirty="0">
                <a:cs typeface="Calibri" panose="020F0502020204030204" pitchFamily="34" charset="0"/>
              </a:rPr>
              <a:t>, to address business complexities more effectively?</a:t>
            </a:r>
          </a:p>
        </p:txBody>
      </p:sp>
      <p:cxnSp>
        <p:nvCxnSpPr>
          <p:cNvPr id="43" name="Straight Connector 42">
            <a:extLst>
              <a:ext uri="{FF2B5EF4-FFF2-40B4-BE49-F238E27FC236}">
                <a16:creationId xmlns:a16="http://schemas.microsoft.com/office/drawing/2014/main" id="{76A36D67-5B66-445F-86F8-2E5D94D3AEF3}"/>
              </a:ext>
            </a:extLst>
          </p:cNvPr>
          <p:cNvCxnSpPr/>
          <p:nvPr/>
        </p:nvCxnSpPr>
        <p:spPr>
          <a:xfrm>
            <a:off x="0" y="777811"/>
            <a:ext cx="4607794" cy="0"/>
          </a:xfrm>
          <a:prstGeom prst="line">
            <a:avLst/>
          </a:prstGeom>
          <a:noFill/>
          <a:ln w="6350" cap="flat" cmpd="sng" algn="ctr">
            <a:solidFill>
              <a:srgbClr val="4472C4"/>
            </a:solidFill>
            <a:prstDash val="solid"/>
            <a:miter lim="800000"/>
          </a:ln>
          <a:effectLst/>
        </p:spPr>
      </p:cxnSp>
      <p:sp>
        <p:nvSpPr>
          <p:cNvPr id="45" name="TextBox 44">
            <a:extLst>
              <a:ext uri="{FF2B5EF4-FFF2-40B4-BE49-F238E27FC236}">
                <a16:creationId xmlns:a16="http://schemas.microsoft.com/office/drawing/2014/main" id="{EBBBCA0A-EED7-4622-9AAE-709549716A4B}"/>
              </a:ext>
            </a:extLst>
          </p:cNvPr>
          <p:cNvSpPr txBox="1"/>
          <p:nvPr/>
        </p:nvSpPr>
        <p:spPr>
          <a:xfrm>
            <a:off x="5082052" y="2372043"/>
            <a:ext cx="3609753" cy="923330"/>
          </a:xfrm>
          <a:prstGeom prst="rect">
            <a:avLst/>
          </a:prstGeom>
          <a:noFill/>
        </p:spPr>
        <p:txBody>
          <a:bodyPr wrap="square" rtlCol="0">
            <a:spAutoFit/>
          </a:bodyPr>
          <a:lstStyle/>
          <a:p>
            <a:pPr defTabSz="489783" fontAlgn="ctr">
              <a:defRPr/>
            </a:pPr>
            <a:r>
              <a:rPr lang="en-US" sz="1800" dirty="0">
                <a:cs typeface="Calibri" panose="020F0502020204030204" pitchFamily="34" charset="0"/>
              </a:rPr>
              <a:t>What </a:t>
            </a:r>
            <a:r>
              <a:rPr lang="en-US" sz="1800" dirty="0" err="1">
                <a:cs typeface="Calibri" panose="020F0502020204030204" pitchFamily="34" charset="0"/>
              </a:rPr>
              <a:t>behaviours</a:t>
            </a:r>
            <a:r>
              <a:rPr lang="en-US" sz="1800" dirty="0">
                <a:cs typeface="Calibri" panose="020F0502020204030204" pitchFamily="34" charset="0"/>
              </a:rPr>
              <a:t> do I need to strengthen, to get more effective at managing complexity?</a:t>
            </a:r>
          </a:p>
        </p:txBody>
      </p:sp>
      <p:sp>
        <p:nvSpPr>
          <p:cNvPr id="46" name="TextBox 45">
            <a:extLst>
              <a:ext uri="{FF2B5EF4-FFF2-40B4-BE49-F238E27FC236}">
                <a16:creationId xmlns:a16="http://schemas.microsoft.com/office/drawing/2014/main" id="{B1DAF3C7-F5F6-4BD3-9785-F3299423D2D7}"/>
              </a:ext>
            </a:extLst>
          </p:cNvPr>
          <p:cNvSpPr txBox="1"/>
          <p:nvPr/>
        </p:nvSpPr>
        <p:spPr>
          <a:xfrm>
            <a:off x="5082052" y="3665658"/>
            <a:ext cx="3778219" cy="923330"/>
          </a:xfrm>
          <a:prstGeom prst="rect">
            <a:avLst/>
          </a:prstGeom>
          <a:noFill/>
        </p:spPr>
        <p:txBody>
          <a:bodyPr wrap="square" rtlCol="0">
            <a:spAutoFit/>
          </a:bodyPr>
          <a:lstStyle/>
          <a:p>
            <a:pPr defTabSz="489783" fontAlgn="ctr">
              <a:defRPr/>
            </a:pPr>
            <a:r>
              <a:rPr lang="en-US" sz="1800" dirty="0">
                <a:cs typeface="Calibri" panose="020F0502020204030204" pitchFamily="34" charset="0"/>
              </a:rPr>
              <a:t>Are there areas in my business I can proactively work on to minimize complexity?</a:t>
            </a:r>
          </a:p>
        </p:txBody>
      </p:sp>
      <p:pic>
        <p:nvPicPr>
          <p:cNvPr id="47" name="Picture 46">
            <a:extLst>
              <a:ext uri="{FF2B5EF4-FFF2-40B4-BE49-F238E27FC236}">
                <a16:creationId xmlns:a16="http://schemas.microsoft.com/office/drawing/2014/main" id="{6E7985B9-460F-4E7D-A536-BFD93361DE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3029" y="3786651"/>
            <a:ext cx="898601" cy="898601"/>
          </a:xfrm>
          <a:prstGeom prst="rect">
            <a:avLst/>
          </a:prstGeom>
        </p:spPr>
      </p:pic>
      <p:pic>
        <p:nvPicPr>
          <p:cNvPr id="48" name="Picture 47">
            <a:extLst>
              <a:ext uri="{FF2B5EF4-FFF2-40B4-BE49-F238E27FC236}">
                <a16:creationId xmlns:a16="http://schemas.microsoft.com/office/drawing/2014/main" id="{012439CA-004B-485B-9D78-EE3B2D2204A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67919" y="1095121"/>
            <a:ext cx="828918" cy="828918"/>
          </a:xfrm>
          <a:prstGeom prst="rect">
            <a:avLst/>
          </a:prstGeom>
        </p:spPr>
      </p:pic>
      <p:pic>
        <p:nvPicPr>
          <p:cNvPr id="49" name="Picture 48">
            <a:extLst>
              <a:ext uri="{FF2B5EF4-FFF2-40B4-BE49-F238E27FC236}">
                <a16:creationId xmlns:a16="http://schemas.microsoft.com/office/drawing/2014/main" id="{F1F036CF-0C10-4796-A2AF-438F6506D7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25042" y="2358632"/>
            <a:ext cx="898602" cy="898602"/>
          </a:xfrm>
          <a:prstGeom prst="rect">
            <a:avLst/>
          </a:prstGeom>
        </p:spPr>
      </p:pic>
      <p:grpSp>
        <p:nvGrpSpPr>
          <p:cNvPr id="50" name="Group 49">
            <a:extLst>
              <a:ext uri="{FF2B5EF4-FFF2-40B4-BE49-F238E27FC236}">
                <a16:creationId xmlns:a16="http://schemas.microsoft.com/office/drawing/2014/main" id="{94158EA9-AEFC-451F-A11A-08EAC37BCABF}"/>
              </a:ext>
            </a:extLst>
          </p:cNvPr>
          <p:cNvGrpSpPr/>
          <p:nvPr/>
        </p:nvGrpSpPr>
        <p:grpSpPr>
          <a:xfrm>
            <a:off x="32549" y="805701"/>
            <a:ext cx="3875536" cy="3156699"/>
            <a:chOff x="201750" y="1092352"/>
            <a:chExt cx="3514703" cy="3156699"/>
          </a:xfrm>
        </p:grpSpPr>
        <p:sp>
          <p:nvSpPr>
            <p:cNvPr id="51" name="Rectangle: Rounded Corners 50">
              <a:extLst>
                <a:ext uri="{FF2B5EF4-FFF2-40B4-BE49-F238E27FC236}">
                  <a16:creationId xmlns:a16="http://schemas.microsoft.com/office/drawing/2014/main" id="{85C1AF67-482C-48C7-8F54-F7BE2BE8E9C6}"/>
                </a:ext>
              </a:extLst>
            </p:cNvPr>
            <p:cNvSpPr/>
            <p:nvPr/>
          </p:nvSpPr>
          <p:spPr>
            <a:xfrm>
              <a:off x="223248" y="1305365"/>
              <a:ext cx="3493205" cy="2943686"/>
            </a:xfrm>
            <a:prstGeom prst="roundRect">
              <a:avLst>
                <a:gd name="adj" fmla="val 9183"/>
              </a:avLst>
            </a:prstGeom>
            <a:solidFill>
              <a:sysClr val="window" lastClr="FFFFFF">
                <a:lumMod val="8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3" name="Picture 52">
              <a:extLst>
                <a:ext uri="{FF2B5EF4-FFF2-40B4-BE49-F238E27FC236}">
                  <a16:creationId xmlns:a16="http://schemas.microsoft.com/office/drawing/2014/main" id="{79218B48-FE01-4308-AE43-1C4CEBFC183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01750" y="1092352"/>
              <a:ext cx="578841" cy="578841"/>
            </a:xfrm>
            <a:prstGeom prst="rect">
              <a:avLst/>
            </a:prstGeom>
          </p:spPr>
        </p:pic>
        <p:sp>
          <p:nvSpPr>
            <p:cNvPr id="56" name="TextBox 55">
              <a:extLst>
                <a:ext uri="{FF2B5EF4-FFF2-40B4-BE49-F238E27FC236}">
                  <a16:creationId xmlns:a16="http://schemas.microsoft.com/office/drawing/2014/main" id="{127BA1E8-A52C-4CC9-BAAA-710748BBDEE4}"/>
                </a:ext>
              </a:extLst>
            </p:cNvPr>
            <p:cNvSpPr txBox="1"/>
            <p:nvPr/>
          </p:nvSpPr>
          <p:spPr>
            <a:xfrm>
              <a:off x="566671" y="1306347"/>
              <a:ext cx="3033496" cy="461665"/>
            </a:xfrm>
            <a:prstGeom prst="rect">
              <a:avLst/>
            </a:prstGeom>
            <a:noFill/>
          </p:spPr>
          <p:txBody>
            <a:bodyPr wrap="square" rtlCol="0">
              <a:spAutoFit/>
            </a:bodyPr>
            <a:lstStyle/>
            <a:p>
              <a:pPr marL="0" marR="0" lvl="0" indent="0" defTabSz="914286" eaLnBrk="1" fontAlgn="ctr"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cs typeface="Calibri" panose="020F0502020204030204" pitchFamily="34" charset="0"/>
                </a:rPr>
                <a:t>Additional Resources</a:t>
              </a:r>
            </a:p>
          </p:txBody>
        </p:sp>
      </p:grpSp>
      <p:pic>
        <p:nvPicPr>
          <p:cNvPr id="57" name="Picture 56">
            <a:extLst>
              <a:ext uri="{FF2B5EF4-FFF2-40B4-BE49-F238E27FC236}">
                <a16:creationId xmlns:a16="http://schemas.microsoft.com/office/drawing/2014/main" id="{4F596E90-8908-49E5-8CBD-D4AF6F5A377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96936" y="5119846"/>
            <a:ext cx="898601" cy="898601"/>
          </a:xfrm>
          <a:prstGeom prst="rect">
            <a:avLst/>
          </a:prstGeom>
        </p:spPr>
      </p:pic>
      <p:sp>
        <p:nvSpPr>
          <p:cNvPr id="58" name="TextBox 57">
            <a:extLst>
              <a:ext uri="{FF2B5EF4-FFF2-40B4-BE49-F238E27FC236}">
                <a16:creationId xmlns:a16="http://schemas.microsoft.com/office/drawing/2014/main" id="{88FEB467-08D7-4DA8-AF9D-99EB0D8DB696}"/>
              </a:ext>
            </a:extLst>
          </p:cNvPr>
          <p:cNvSpPr txBox="1"/>
          <p:nvPr/>
        </p:nvSpPr>
        <p:spPr>
          <a:xfrm>
            <a:off x="5142347" y="5256078"/>
            <a:ext cx="3945399" cy="646331"/>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do I plan to support my team members around complexity? </a:t>
            </a:r>
          </a:p>
        </p:txBody>
      </p:sp>
      <p:pic>
        <p:nvPicPr>
          <p:cNvPr id="59" name="Picture 58">
            <a:extLst>
              <a:ext uri="{FF2B5EF4-FFF2-40B4-BE49-F238E27FC236}">
                <a16:creationId xmlns:a16="http://schemas.microsoft.com/office/drawing/2014/main" id="{BCF9B076-977B-4D1C-AB57-AEF20976C95E}"/>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36933"/>
          <a:stretch/>
        </p:blipFill>
        <p:spPr>
          <a:xfrm>
            <a:off x="7560777" y="12066145"/>
            <a:ext cx="2117626" cy="561180"/>
          </a:xfrm>
          <a:prstGeom prst="rect">
            <a:avLst/>
          </a:prstGeom>
        </p:spPr>
      </p:pic>
      <p:graphicFrame>
        <p:nvGraphicFramePr>
          <p:cNvPr id="60" name="Table 59">
            <a:extLst>
              <a:ext uri="{FF2B5EF4-FFF2-40B4-BE49-F238E27FC236}">
                <a16:creationId xmlns:a16="http://schemas.microsoft.com/office/drawing/2014/main" id="{AFCE439E-28B5-4EBA-8AB2-B276A6F2710C}"/>
              </a:ext>
            </a:extLst>
          </p:cNvPr>
          <p:cNvGraphicFramePr>
            <a:graphicFrameLocks noGrp="1"/>
          </p:cNvGraphicFramePr>
          <p:nvPr>
            <p:extLst>
              <p:ext uri="{D42A27DB-BD31-4B8C-83A1-F6EECF244321}">
                <p14:modId xmlns:p14="http://schemas.microsoft.com/office/powerpoint/2010/main" val="3853230651"/>
              </p:ext>
            </p:extLst>
          </p:nvPr>
        </p:nvGraphicFramePr>
        <p:xfrm>
          <a:off x="53599" y="1614951"/>
          <a:ext cx="3732784" cy="1737360"/>
        </p:xfrm>
        <a:graphic>
          <a:graphicData uri="http://schemas.openxmlformats.org/drawingml/2006/table">
            <a:tbl>
              <a:tblPr/>
              <a:tblGrid>
                <a:gridCol w="525293">
                  <a:extLst>
                    <a:ext uri="{9D8B030D-6E8A-4147-A177-3AD203B41FA5}">
                      <a16:colId xmlns:a16="http://schemas.microsoft.com/office/drawing/2014/main" val="2292092926"/>
                    </a:ext>
                  </a:extLst>
                </a:gridCol>
                <a:gridCol w="3207491">
                  <a:extLst>
                    <a:ext uri="{9D8B030D-6E8A-4147-A177-3AD203B41FA5}">
                      <a16:colId xmlns:a16="http://schemas.microsoft.com/office/drawing/2014/main" val="3333233995"/>
                    </a:ext>
                  </a:extLst>
                </a:gridCol>
              </a:tblGrid>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1</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10"/>
                        </a:rPr>
                        <a:t>HBR-Taming Complexity</a:t>
                      </a:r>
                      <a:endParaRPr lang="en-US" sz="1400" u="sng" strike="noStrike" dirty="0">
                        <a:effectLst/>
                      </a:endParaRPr>
                    </a:p>
                    <a:p>
                      <a:pPr algn="l" fontAlgn="b"/>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48742838"/>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2</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11"/>
                        </a:rPr>
                        <a:t>How to Manage Complexity in Strategy</a:t>
                      </a:r>
                      <a:endParaRPr lang="en-US" sz="1400" u="sng" strike="noStrike" dirty="0">
                        <a:effectLst/>
                      </a:endParaRPr>
                    </a:p>
                    <a:p>
                      <a:pPr algn="l" fontAlgn="b"/>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92654841"/>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3</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12"/>
                        </a:rPr>
                        <a:t>McKinsey-How do I Manage Complexity in My Organization</a:t>
                      </a:r>
                      <a:endParaRPr lang="en-US" sz="1400" u="sng" strike="noStrike" dirty="0">
                        <a:effectLst/>
                      </a:endParaRPr>
                    </a:p>
                    <a:p>
                      <a:pPr algn="l" fontAlgn="b"/>
                      <a:endParaRPr lang="en-US" sz="1400" b="0" i="0" u="sng" strike="noStrike" dirty="0">
                        <a:solidFill>
                          <a:srgbClr val="0563C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39569084"/>
                  </a:ext>
                </a:extLst>
              </a:tr>
              <a:tr h="19050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4</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r>
                        <a:rPr lang="en-US" sz="1350" u="sng" kern="1200" dirty="0">
                          <a:solidFill>
                            <a:schemeClr val="tx1"/>
                          </a:solidFill>
                          <a:effectLst/>
                          <a:latin typeface="+mn-lt"/>
                          <a:ea typeface="+mn-ea"/>
                          <a:cs typeface="+mn-cs"/>
                          <a:hlinkClick r:id="rId13"/>
                        </a:rPr>
                        <a:t>Managing complexity with simplicity</a:t>
                      </a:r>
                      <a:endParaRPr lang="en-US" sz="1350" u="sng" kern="1200" dirty="0">
                        <a:solidFill>
                          <a:schemeClr val="tx1"/>
                        </a:solidFill>
                        <a:effectLst/>
                        <a:latin typeface="+mn-lt"/>
                        <a:ea typeface="+mn-ea"/>
                        <a:cs typeface="+mn-cs"/>
                      </a:endParaRPr>
                    </a:p>
                  </a:txBody>
                  <a:tcPr marL="4082" marR="4082" marT="4082"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400111781"/>
                  </a:ext>
                </a:extLst>
              </a:tr>
            </a:tbl>
          </a:graphicData>
        </a:graphic>
      </p:graphicFrame>
      <p:pic>
        <p:nvPicPr>
          <p:cNvPr id="25" name="Picture 24">
            <a:extLst>
              <a:ext uri="{FF2B5EF4-FFF2-40B4-BE49-F238E27FC236}">
                <a16:creationId xmlns:a16="http://schemas.microsoft.com/office/drawing/2014/main" id="{3534A664-7D14-40B1-A0A4-F3CCBABC31CD}"/>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36933"/>
          <a:stretch/>
        </p:blipFill>
        <p:spPr>
          <a:xfrm>
            <a:off x="28308" y="4246050"/>
            <a:ext cx="2117626" cy="561180"/>
          </a:xfrm>
          <a:prstGeom prst="rect">
            <a:avLst/>
          </a:prstGeom>
        </p:spPr>
      </p:pic>
      <p:pic>
        <p:nvPicPr>
          <p:cNvPr id="22" name="Picture 21">
            <a:extLst>
              <a:ext uri="{FF2B5EF4-FFF2-40B4-BE49-F238E27FC236}">
                <a16:creationId xmlns:a16="http://schemas.microsoft.com/office/drawing/2014/main" id="{EC97C66B-81D8-434D-A5E0-19D909ED508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5942" y="4456074"/>
            <a:ext cx="3871058" cy="2097126"/>
          </a:xfrm>
          <a:prstGeom prst="rect">
            <a:avLst/>
          </a:prstGeom>
        </p:spPr>
      </p:pic>
      <p:graphicFrame>
        <p:nvGraphicFramePr>
          <p:cNvPr id="23" name="Diagram 22">
            <a:extLst>
              <a:ext uri="{FF2B5EF4-FFF2-40B4-BE49-F238E27FC236}">
                <a16:creationId xmlns:a16="http://schemas.microsoft.com/office/drawing/2014/main" id="{08B1C37C-91CE-4FC3-8647-15A9A1EFA2D8}"/>
              </a:ext>
            </a:extLst>
          </p:cNvPr>
          <p:cNvGraphicFramePr/>
          <p:nvPr>
            <p:extLst>
              <p:ext uri="{D42A27DB-BD31-4B8C-83A1-F6EECF244321}">
                <p14:modId xmlns:p14="http://schemas.microsoft.com/office/powerpoint/2010/main" val="4133783484"/>
              </p:ext>
            </p:extLst>
          </p:nvPr>
        </p:nvGraphicFramePr>
        <p:xfrm>
          <a:off x="-76200" y="102159"/>
          <a:ext cx="981126" cy="577282"/>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Tree>
    <p:extLst>
      <p:ext uri="{BB962C8B-B14F-4D97-AF65-F5344CB8AC3E}">
        <p14:creationId xmlns:p14="http://schemas.microsoft.com/office/powerpoint/2010/main" val="3389729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1918B5-8AA7-4EE8-A112-BC365ACC5239}"/>
              </a:ext>
            </a:extLst>
          </p:cNvPr>
          <p:cNvSpPr txBox="1"/>
          <p:nvPr/>
        </p:nvSpPr>
        <p:spPr>
          <a:xfrm>
            <a:off x="335117" y="52743"/>
            <a:ext cx="4922683" cy="180730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latin typeface="+mj-lt"/>
                <a:ea typeface="+mj-ea"/>
                <a:cs typeface="+mj-cs"/>
              </a:rPr>
              <a:t>Activates Innovation</a:t>
            </a:r>
          </a:p>
        </p:txBody>
      </p:sp>
      <p:sp>
        <p:nvSpPr>
          <p:cNvPr id="5" name="TextBox 4">
            <a:extLst>
              <a:ext uri="{FF2B5EF4-FFF2-40B4-BE49-F238E27FC236}">
                <a16:creationId xmlns:a16="http://schemas.microsoft.com/office/drawing/2014/main" id="{418DD51E-0D04-44A2-90EA-53DB519F0611}"/>
              </a:ext>
            </a:extLst>
          </p:cNvPr>
          <p:cNvSpPr txBox="1"/>
          <p:nvPr/>
        </p:nvSpPr>
        <p:spPr>
          <a:xfrm>
            <a:off x="243154" y="1860048"/>
            <a:ext cx="3464715" cy="3843666"/>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b="1" dirty="0"/>
              <a:t>Customer Centricity</a:t>
            </a:r>
          </a:p>
          <a:p>
            <a:pPr marL="285750" indent="-228600">
              <a:lnSpc>
                <a:spcPct val="90000"/>
              </a:lnSpc>
              <a:spcAft>
                <a:spcPts val="600"/>
              </a:spcAft>
              <a:buFont typeface="Arial" panose="020B0604020202020204" pitchFamily="34" charset="0"/>
              <a:buChar char="•"/>
            </a:pPr>
            <a:r>
              <a:rPr lang="en-US" b="1" dirty="0"/>
              <a:t>Future Proofing </a:t>
            </a:r>
          </a:p>
          <a:p>
            <a:pPr marL="285750" indent="-228600">
              <a:lnSpc>
                <a:spcPct val="90000"/>
              </a:lnSpc>
              <a:spcAft>
                <a:spcPts val="600"/>
              </a:spcAft>
              <a:buFont typeface="Arial" panose="020B0604020202020204" pitchFamily="34" charset="0"/>
              <a:buChar char="•"/>
            </a:pPr>
            <a:r>
              <a:rPr lang="en-US" b="1" dirty="0"/>
              <a:t>Change Agile</a:t>
            </a:r>
          </a:p>
          <a:p>
            <a:pPr marL="285750" indent="-228600">
              <a:lnSpc>
                <a:spcPct val="90000"/>
              </a:lnSpc>
              <a:spcAft>
                <a:spcPts val="600"/>
              </a:spcAft>
              <a:buFont typeface="Arial" panose="020B0604020202020204" pitchFamily="34" charset="0"/>
              <a:buChar char="•"/>
            </a:pPr>
            <a:endParaRPr lang="en-US" b="1" dirty="0"/>
          </a:p>
        </p:txBody>
      </p:sp>
      <p:pic>
        <p:nvPicPr>
          <p:cNvPr id="1030" name="Picture 6" descr="Free photos of Newton's cradle">
            <a:extLst>
              <a:ext uri="{FF2B5EF4-FFF2-40B4-BE49-F238E27FC236}">
                <a16:creationId xmlns:a16="http://schemas.microsoft.com/office/drawing/2014/main" id="{4B219BF1-EC70-4823-B8FA-9A0C3E903D2E}"/>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349763" y="751438"/>
            <a:ext cx="3794237" cy="595416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Diagram 9">
            <a:extLst>
              <a:ext uri="{FF2B5EF4-FFF2-40B4-BE49-F238E27FC236}">
                <a16:creationId xmlns:a16="http://schemas.microsoft.com/office/drawing/2014/main" id="{E28191FD-03E5-4AFA-8EE0-25285DA3B31D}"/>
              </a:ext>
            </a:extLst>
          </p:cNvPr>
          <p:cNvGraphicFramePr/>
          <p:nvPr>
            <p:extLst>
              <p:ext uri="{D42A27DB-BD31-4B8C-83A1-F6EECF244321}">
                <p14:modId xmlns:p14="http://schemas.microsoft.com/office/powerpoint/2010/main" val="3834576536"/>
              </p:ext>
            </p:extLst>
          </p:nvPr>
        </p:nvGraphicFramePr>
        <p:xfrm>
          <a:off x="-304800" y="2821374"/>
          <a:ext cx="5562600" cy="39838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76645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B4FA0-CECE-410A-A1FE-EB3E349E4D91}"/>
              </a:ext>
            </a:extLst>
          </p:cNvPr>
          <p:cNvSpPr txBox="1"/>
          <p:nvPr/>
        </p:nvSpPr>
        <p:spPr>
          <a:xfrm>
            <a:off x="76200" y="795164"/>
            <a:ext cx="9067800" cy="646331"/>
          </a:xfrm>
          <a:prstGeom prst="rect">
            <a:avLst/>
          </a:prstGeom>
          <a:noFill/>
        </p:spPr>
        <p:txBody>
          <a:bodyPr wrap="square">
            <a:spAutoFit/>
          </a:bodyPr>
          <a:lstStyle/>
          <a:p>
            <a:r>
              <a:rPr lang="en-US" dirty="0"/>
              <a:t>Works to delight internal and external customers with exceptional service and products, acting as a trusted advisor</a:t>
            </a:r>
          </a:p>
        </p:txBody>
      </p:sp>
      <p:sp>
        <p:nvSpPr>
          <p:cNvPr id="4" name="TextBox 3">
            <a:extLst>
              <a:ext uri="{FF2B5EF4-FFF2-40B4-BE49-F238E27FC236}">
                <a16:creationId xmlns:a16="http://schemas.microsoft.com/office/drawing/2014/main" id="{ED48C7C0-1B84-40C9-9838-E52637D934EF}"/>
              </a:ext>
            </a:extLst>
          </p:cNvPr>
          <p:cNvSpPr txBox="1"/>
          <p:nvPr/>
        </p:nvSpPr>
        <p:spPr>
          <a:xfrm>
            <a:off x="2395129" y="198825"/>
            <a:ext cx="3643305" cy="584775"/>
          </a:xfrm>
          <a:prstGeom prst="rect">
            <a:avLst/>
          </a:prstGeom>
          <a:noFill/>
        </p:spPr>
        <p:txBody>
          <a:bodyPr wrap="none" rtlCol="0">
            <a:spAutoFit/>
          </a:bodyPr>
          <a:lstStyle/>
          <a:p>
            <a:pPr algn="ctr"/>
            <a:r>
              <a:rPr lang="en-US" sz="3200" b="1" dirty="0"/>
              <a:t>Customer Centricity</a:t>
            </a:r>
          </a:p>
        </p:txBody>
      </p:sp>
      <p:sp>
        <p:nvSpPr>
          <p:cNvPr id="5" name="Rectangle: Rounded Corners 4">
            <a:extLst>
              <a:ext uri="{FF2B5EF4-FFF2-40B4-BE49-F238E27FC236}">
                <a16:creationId xmlns:a16="http://schemas.microsoft.com/office/drawing/2014/main" id="{8551ECE5-EA68-462A-9929-A829AF965E98}"/>
              </a:ext>
            </a:extLst>
          </p:cNvPr>
          <p:cNvSpPr/>
          <p:nvPr/>
        </p:nvSpPr>
        <p:spPr>
          <a:xfrm>
            <a:off x="76200" y="1978216"/>
            <a:ext cx="2933914" cy="4677975"/>
          </a:xfrm>
          <a:prstGeom prst="roundRect">
            <a:avLst/>
          </a:prstGeom>
          <a:solidFill>
            <a:schemeClr val="accent4">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b="0" i="0" u="none" strike="noStrike" dirty="0">
                <a:solidFill>
                  <a:schemeClr val="bg1"/>
                </a:solidFill>
                <a:effectLst/>
                <a:latin typeface="Calibri" panose="020F0502020204030204" pitchFamily="34" charset="0"/>
              </a:rPr>
              <a:t>Collates customer insights &amp; feedback and articulates customer expectations clearly to anticipate customer needs .</a:t>
            </a:r>
          </a:p>
          <a:p>
            <a:pPr algn="l" fontAlgn="ctr"/>
            <a:endParaRPr lang="en-US" sz="1200" dirty="0">
              <a:solidFill>
                <a:schemeClr val="bg1"/>
              </a:solidFill>
              <a:latin typeface="Calibri" panose="020F0502020204030204" pitchFamily="34" charset="0"/>
            </a:endParaRPr>
          </a:p>
          <a:p>
            <a:pPr algn="l" fontAlgn="ctr"/>
            <a:r>
              <a:rPr lang="en-US" sz="1200" b="0" i="0" u="none" strike="noStrike" dirty="0">
                <a:solidFill>
                  <a:schemeClr val="bg1"/>
                </a:solidFill>
                <a:effectLst/>
                <a:latin typeface="Calibri" panose="020F0502020204030204" pitchFamily="34" charset="0"/>
              </a:rPr>
              <a:t>Provides direction, monitors &amp; provides feedback to ensure team members are providing optimal customer experience. </a:t>
            </a:r>
          </a:p>
          <a:p>
            <a:pPr algn="l" fontAlgn="ctr"/>
            <a:endParaRPr lang="en-US" sz="1200" dirty="0">
              <a:solidFill>
                <a:schemeClr val="bg1"/>
              </a:solidFill>
              <a:latin typeface="Calibri" panose="020F0502020204030204" pitchFamily="34" charset="0"/>
            </a:endParaRPr>
          </a:p>
          <a:p>
            <a:pPr algn="l" fontAlgn="ctr"/>
            <a:r>
              <a:rPr lang="en-US" sz="1200" b="0" i="0" u="none" strike="noStrike" dirty="0">
                <a:solidFill>
                  <a:schemeClr val="bg1"/>
                </a:solidFill>
                <a:effectLst/>
                <a:latin typeface="Calibri" panose="020F0502020204030204" pitchFamily="34" charset="0"/>
              </a:rPr>
              <a:t>Establishes and maintains effective customer relationships. </a:t>
            </a:r>
          </a:p>
          <a:p>
            <a:pPr algn="l" fontAlgn="ctr"/>
            <a:endParaRPr lang="en-US" sz="1200" dirty="0">
              <a:solidFill>
                <a:schemeClr val="bg1"/>
              </a:solidFill>
              <a:latin typeface="Calibri" panose="020F0502020204030204" pitchFamily="34" charset="0"/>
            </a:endParaRPr>
          </a:p>
          <a:p>
            <a:pPr algn="l" fontAlgn="ctr"/>
            <a:r>
              <a:rPr lang="en-US" sz="1200" b="0" i="0" u="none" strike="noStrike" dirty="0">
                <a:solidFill>
                  <a:schemeClr val="bg1"/>
                </a:solidFill>
                <a:effectLst/>
                <a:latin typeface="Calibri" panose="020F0502020204030204" pitchFamily="34" charset="0"/>
              </a:rPr>
              <a:t>Leverages &amp; engages with key stake holders that can help drive customer requirements.</a:t>
            </a:r>
          </a:p>
        </p:txBody>
      </p:sp>
      <p:sp>
        <p:nvSpPr>
          <p:cNvPr id="15" name="Rectangle: Rounded Corners 14">
            <a:extLst>
              <a:ext uri="{FF2B5EF4-FFF2-40B4-BE49-F238E27FC236}">
                <a16:creationId xmlns:a16="http://schemas.microsoft.com/office/drawing/2014/main" id="{6FC54FCF-D174-4422-AF02-A0E4D075AA5D}"/>
              </a:ext>
            </a:extLst>
          </p:cNvPr>
          <p:cNvSpPr/>
          <p:nvPr/>
        </p:nvSpPr>
        <p:spPr>
          <a:xfrm>
            <a:off x="2786433" y="1995132"/>
            <a:ext cx="3113031" cy="4661059"/>
          </a:xfrm>
          <a:prstGeom prst="roundRect">
            <a:avLst/>
          </a:prstGeom>
          <a:solidFill>
            <a:schemeClr val="accent2">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Collates customer insights &amp; market trends to drive decisions around new business initiatives  and offerings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Puts the customer in the heart of design in building &amp; delivering solutions (including services &amp; products)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Takes short-, medium- and long-term perspectives when building relationships with key customers &amp; stake holders.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Maintains a balance between business and customer needs</a:t>
            </a:r>
          </a:p>
        </p:txBody>
      </p:sp>
      <p:sp>
        <p:nvSpPr>
          <p:cNvPr id="16" name="Rectangle: Rounded Corners 15">
            <a:extLst>
              <a:ext uri="{FF2B5EF4-FFF2-40B4-BE49-F238E27FC236}">
                <a16:creationId xmlns:a16="http://schemas.microsoft.com/office/drawing/2014/main" id="{940B7297-2D4C-4213-A50D-E4A168DCB0A3}"/>
              </a:ext>
            </a:extLst>
          </p:cNvPr>
          <p:cNvSpPr/>
          <p:nvPr/>
        </p:nvSpPr>
        <p:spPr>
          <a:xfrm>
            <a:off x="5723772" y="2031945"/>
            <a:ext cx="3267828" cy="4638178"/>
          </a:xfrm>
          <a:prstGeom prst="roundRect">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Creates and drives a culture of customer centricity.</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Defines customer success metrics, benchmarking current performance with external market &amp; Global Customer Trends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Drives strategic initiatives, that are rooted in customer data analytics, socioeconomic understanding &amp; current market trends.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Cultivates enriching diplomatic relationships</a:t>
            </a:r>
          </a:p>
        </p:txBody>
      </p:sp>
      <p:sp>
        <p:nvSpPr>
          <p:cNvPr id="7" name="TextBox 6">
            <a:extLst>
              <a:ext uri="{FF2B5EF4-FFF2-40B4-BE49-F238E27FC236}">
                <a16:creationId xmlns:a16="http://schemas.microsoft.com/office/drawing/2014/main" id="{245AF605-1469-4C89-9959-55611E5A9208}"/>
              </a:ext>
            </a:extLst>
          </p:cNvPr>
          <p:cNvSpPr txBox="1"/>
          <p:nvPr/>
        </p:nvSpPr>
        <p:spPr>
          <a:xfrm>
            <a:off x="234099" y="1480515"/>
            <a:ext cx="2140779" cy="461665"/>
          </a:xfrm>
          <a:prstGeom prst="rect">
            <a:avLst/>
          </a:prstGeom>
          <a:noFill/>
        </p:spPr>
        <p:txBody>
          <a:bodyPr wrap="none" rtlCol="0">
            <a:spAutoFit/>
          </a:bodyPr>
          <a:lstStyle/>
          <a:p>
            <a:r>
              <a:rPr lang="en-US" sz="2400" b="1" dirty="0"/>
              <a:t>Level 1 (G &amp; H )</a:t>
            </a:r>
          </a:p>
        </p:txBody>
      </p:sp>
      <p:sp>
        <p:nvSpPr>
          <p:cNvPr id="18" name="TextBox 17">
            <a:extLst>
              <a:ext uri="{FF2B5EF4-FFF2-40B4-BE49-F238E27FC236}">
                <a16:creationId xmlns:a16="http://schemas.microsoft.com/office/drawing/2014/main" id="{2F923E22-1B1D-4345-9D18-5A2A98CA08A9}"/>
              </a:ext>
            </a:extLst>
          </p:cNvPr>
          <p:cNvSpPr txBox="1"/>
          <p:nvPr/>
        </p:nvSpPr>
        <p:spPr>
          <a:xfrm>
            <a:off x="2934739" y="1505603"/>
            <a:ext cx="2004523" cy="461665"/>
          </a:xfrm>
          <a:prstGeom prst="rect">
            <a:avLst/>
          </a:prstGeom>
          <a:noFill/>
        </p:spPr>
        <p:txBody>
          <a:bodyPr wrap="none" rtlCol="0">
            <a:spAutoFit/>
          </a:bodyPr>
          <a:lstStyle/>
          <a:p>
            <a:r>
              <a:rPr lang="en-US" sz="2400" b="1" dirty="0"/>
              <a:t>Level 2 ( I &amp; J )</a:t>
            </a:r>
          </a:p>
        </p:txBody>
      </p:sp>
      <p:sp>
        <p:nvSpPr>
          <p:cNvPr id="19" name="TextBox 18">
            <a:extLst>
              <a:ext uri="{FF2B5EF4-FFF2-40B4-BE49-F238E27FC236}">
                <a16:creationId xmlns:a16="http://schemas.microsoft.com/office/drawing/2014/main" id="{DDF57A31-24EC-478C-8CE5-B68FCCE1700B}"/>
              </a:ext>
            </a:extLst>
          </p:cNvPr>
          <p:cNvSpPr txBox="1"/>
          <p:nvPr/>
        </p:nvSpPr>
        <p:spPr>
          <a:xfrm>
            <a:off x="5996467" y="1480515"/>
            <a:ext cx="2118337" cy="461665"/>
          </a:xfrm>
          <a:prstGeom prst="rect">
            <a:avLst/>
          </a:prstGeom>
          <a:noFill/>
        </p:spPr>
        <p:txBody>
          <a:bodyPr wrap="none" rtlCol="0">
            <a:spAutoFit/>
          </a:bodyPr>
          <a:lstStyle/>
          <a:p>
            <a:r>
              <a:rPr lang="en-US" sz="2400" b="1" dirty="0"/>
              <a:t>Level 3 ( K &amp; L )</a:t>
            </a:r>
          </a:p>
        </p:txBody>
      </p:sp>
      <p:graphicFrame>
        <p:nvGraphicFramePr>
          <p:cNvPr id="11" name="Diagram 10">
            <a:extLst>
              <a:ext uri="{FF2B5EF4-FFF2-40B4-BE49-F238E27FC236}">
                <a16:creationId xmlns:a16="http://schemas.microsoft.com/office/drawing/2014/main" id="{4598A3EE-7CA3-4814-AF5C-353E52FC2B65}"/>
              </a:ext>
            </a:extLst>
          </p:cNvPr>
          <p:cNvGraphicFramePr/>
          <p:nvPr>
            <p:extLst>
              <p:ext uri="{D42A27DB-BD31-4B8C-83A1-F6EECF244321}">
                <p14:modId xmlns:p14="http://schemas.microsoft.com/office/powerpoint/2010/main" val="4146824300"/>
              </p:ext>
            </p:extLst>
          </p:nvPr>
        </p:nvGraphicFramePr>
        <p:xfrm>
          <a:off x="0" y="-9525"/>
          <a:ext cx="792480" cy="8463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07102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48C7C0-1B84-40C9-9838-E52637D934EF}"/>
              </a:ext>
            </a:extLst>
          </p:cNvPr>
          <p:cNvSpPr txBox="1"/>
          <p:nvPr/>
        </p:nvSpPr>
        <p:spPr>
          <a:xfrm>
            <a:off x="1504843" y="201361"/>
            <a:ext cx="4916347" cy="523220"/>
          </a:xfrm>
          <a:prstGeom prst="rect">
            <a:avLst/>
          </a:prstGeom>
          <a:noFill/>
        </p:spPr>
        <p:txBody>
          <a:bodyPr wrap="none" rtlCol="0">
            <a:spAutoFit/>
          </a:bodyPr>
          <a:lstStyle/>
          <a:p>
            <a:pPr algn="ctr"/>
            <a:r>
              <a:rPr lang="en-US" sz="2800" b="1" dirty="0"/>
              <a:t>Customer Centricity - Resources</a:t>
            </a:r>
          </a:p>
        </p:txBody>
      </p:sp>
      <p:sp>
        <p:nvSpPr>
          <p:cNvPr id="42" name="TextBox 41">
            <a:extLst>
              <a:ext uri="{FF2B5EF4-FFF2-40B4-BE49-F238E27FC236}">
                <a16:creationId xmlns:a16="http://schemas.microsoft.com/office/drawing/2014/main" id="{550A49C3-D316-45F7-9BF2-10C3DDD00FE8}"/>
              </a:ext>
            </a:extLst>
          </p:cNvPr>
          <p:cNvSpPr txBox="1"/>
          <p:nvPr/>
        </p:nvSpPr>
        <p:spPr>
          <a:xfrm>
            <a:off x="5040603" y="1290631"/>
            <a:ext cx="3609753" cy="923330"/>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am I planning to leverage the Leadership Behaviors to be more customer centric? </a:t>
            </a:r>
          </a:p>
        </p:txBody>
      </p:sp>
      <p:cxnSp>
        <p:nvCxnSpPr>
          <p:cNvPr id="43" name="Straight Connector 42">
            <a:extLst>
              <a:ext uri="{FF2B5EF4-FFF2-40B4-BE49-F238E27FC236}">
                <a16:creationId xmlns:a16="http://schemas.microsoft.com/office/drawing/2014/main" id="{76A36D67-5B66-445F-86F8-2E5D94D3AEF3}"/>
              </a:ext>
            </a:extLst>
          </p:cNvPr>
          <p:cNvCxnSpPr/>
          <p:nvPr/>
        </p:nvCxnSpPr>
        <p:spPr>
          <a:xfrm>
            <a:off x="0" y="777811"/>
            <a:ext cx="4607794" cy="0"/>
          </a:xfrm>
          <a:prstGeom prst="line">
            <a:avLst/>
          </a:prstGeom>
          <a:noFill/>
          <a:ln w="6350" cap="flat" cmpd="sng" algn="ctr">
            <a:solidFill>
              <a:srgbClr val="4472C4"/>
            </a:solidFill>
            <a:prstDash val="solid"/>
            <a:miter lim="800000"/>
          </a:ln>
          <a:effectLst/>
        </p:spPr>
      </p:cxnSp>
      <p:sp>
        <p:nvSpPr>
          <p:cNvPr id="45" name="TextBox 44">
            <a:extLst>
              <a:ext uri="{FF2B5EF4-FFF2-40B4-BE49-F238E27FC236}">
                <a16:creationId xmlns:a16="http://schemas.microsoft.com/office/drawing/2014/main" id="{EBBBCA0A-EED7-4622-9AAE-709549716A4B}"/>
              </a:ext>
            </a:extLst>
          </p:cNvPr>
          <p:cNvSpPr txBox="1"/>
          <p:nvPr/>
        </p:nvSpPr>
        <p:spPr>
          <a:xfrm>
            <a:off x="5040603" y="2450495"/>
            <a:ext cx="3609753" cy="923330"/>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can I reset my actions using the Leadership behaviors to amplify Customer Centricity?</a:t>
            </a:r>
          </a:p>
        </p:txBody>
      </p:sp>
      <p:sp>
        <p:nvSpPr>
          <p:cNvPr id="46" name="TextBox 45">
            <a:extLst>
              <a:ext uri="{FF2B5EF4-FFF2-40B4-BE49-F238E27FC236}">
                <a16:creationId xmlns:a16="http://schemas.microsoft.com/office/drawing/2014/main" id="{B1DAF3C7-F5F6-4BD3-9785-F3299423D2D7}"/>
              </a:ext>
            </a:extLst>
          </p:cNvPr>
          <p:cNvSpPr txBox="1"/>
          <p:nvPr/>
        </p:nvSpPr>
        <p:spPr>
          <a:xfrm>
            <a:off x="5040602" y="3740125"/>
            <a:ext cx="3778219" cy="923330"/>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am I planning to create a better customer impact using the Leadership Behaviors?</a:t>
            </a:r>
          </a:p>
        </p:txBody>
      </p:sp>
      <p:pic>
        <p:nvPicPr>
          <p:cNvPr id="47" name="Picture 46">
            <a:extLst>
              <a:ext uri="{FF2B5EF4-FFF2-40B4-BE49-F238E27FC236}">
                <a16:creationId xmlns:a16="http://schemas.microsoft.com/office/drawing/2014/main" id="{6E7985B9-460F-4E7D-A536-BFD93361DE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08085" y="3796750"/>
            <a:ext cx="898601" cy="898601"/>
          </a:xfrm>
          <a:prstGeom prst="rect">
            <a:avLst/>
          </a:prstGeom>
        </p:spPr>
      </p:pic>
      <p:pic>
        <p:nvPicPr>
          <p:cNvPr id="48" name="Picture 47">
            <a:extLst>
              <a:ext uri="{FF2B5EF4-FFF2-40B4-BE49-F238E27FC236}">
                <a16:creationId xmlns:a16="http://schemas.microsoft.com/office/drawing/2014/main" id="{012439CA-004B-485B-9D78-EE3B2D2204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99034" y="1353146"/>
            <a:ext cx="828918" cy="828918"/>
          </a:xfrm>
          <a:prstGeom prst="rect">
            <a:avLst/>
          </a:prstGeom>
        </p:spPr>
      </p:pic>
      <p:pic>
        <p:nvPicPr>
          <p:cNvPr id="49" name="Picture 48">
            <a:extLst>
              <a:ext uri="{FF2B5EF4-FFF2-40B4-BE49-F238E27FC236}">
                <a16:creationId xmlns:a16="http://schemas.microsoft.com/office/drawing/2014/main" id="{F1F036CF-0C10-4796-A2AF-438F6506D7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48960" y="2449462"/>
            <a:ext cx="898602" cy="898602"/>
          </a:xfrm>
          <a:prstGeom prst="rect">
            <a:avLst/>
          </a:prstGeom>
        </p:spPr>
      </p:pic>
      <p:grpSp>
        <p:nvGrpSpPr>
          <p:cNvPr id="50" name="Group 49">
            <a:extLst>
              <a:ext uri="{FF2B5EF4-FFF2-40B4-BE49-F238E27FC236}">
                <a16:creationId xmlns:a16="http://schemas.microsoft.com/office/drawing/2014/main" id="{94158EA9-AEFC-451F-A11A-08EAC37BCABF}"/>
              </a:ext>
            </a:extLst>
          </p:cNvPr>
          <p:cNvGrpSpPr/>
          <p:nvPr/>
        </p:nvGrpSpPr>
        <p:grpSpPr>
          <a:xfrm>
            <a:off x="32549" y="805701"/>
            <a:ext cx="3875536" cy="3156699"/>
            <a:chOff x="201750" y="1092352"/>
            <a:chExt cx="3514703" cy="3156699"/>
          </a:xfrm>
        </p:grpSpPr>
        <p:sp>
          <p:nvSpPr>
            <p:cNvPr id="51" name="Rectangle: Rounded Corners 50">
              <a:extLst>
                <a:ext uri="{FF2B5EF4-FFF2-40B4-BE49-F238E27FC236}">
                  <a16:creationId xmlns:a16="http://schemas.microsoft.com/office/drawing/2014/main" id="{85C1AF67-482C-48C7-8F54-F7BE2BE8E9C6}"/>
                </a:ext>
              </a:extLst>
            </p:cNvPr>
            <p:cNvSpPr/>
            <p:nvPr/>
          </p:nvSpPr>
          <p:spPr>
            <a:xfrm>
              <a:off x="223248" y="1305365"/>
              <a:ext cx="3493205" cy="2943686"/>
            </a:xfrm>
            <a:prstGeom prst="roundRect">
              <a:avLst>
                <a:gd name="adj" fmla="val 9183"/>
              </a:avLst>
            </a:prstGeom>
            <a:solidFill>
              <a:sysClr val="window" lastClr="FFFFFF">
                <a:lumMod val="8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3" name="Picture 52">
              <a:extLst>
                <a:ext uri="{FF2B5EF4-FFF2-40B4-BE49-F238E27FC236}">
                  <a16:creationId xmlns:a16="http://schemas.microsoft.com/office/drawing/2014/main" id="{79218B48-FE01-4308-AE43-1C4CEBFC183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1750" y="1092352"/>
              <a:ext cx="578841" cy="578841"/>
            </a:xfrm>
            <a:prstGeom prst="rect">
              <a:avLst/>
            </a:prstGeom>
          </p:spPr>
        </p:pic>
        <p:sp>
          <p:nvSpPr>
            <p:cNvPr id="56" name="TextBox 55">
              <a:extLst>
                <a:ext uri="{FF2B5EF4-FFF2-40B4-BE49-F238E27FC236}">
                  <a16:creationId xmlns:a16="http://schemas.microsoft.com/office/drawing/2014/main" id="{127BA1E8-A52C-4CC9-BAAA-710748BBDEE4}"/>
                </a:ext>
              </a:extLst>
            </p:cNvPr>
            <p:cNvSpPr txBox="1"/>
            <p:nvPr/>
          </p:nvSpPr>
          <p:spPr>
            <a:xfrm>
              <a:off x="566671" y="1306347"/>
              <a:ext cx="3033496" cy="461665"/>
            </a:xfrm>
            <a:prstGeom prst="rect">
              <a:avLst/>
            </a:prstGeom>
            <a:noFill/>
          </p:spPr>
          <p:txBody>
            <a:bodyPr wrap="square" rtlCol="0">
              <a:spAutoFit/>
            </a:bodyPr>
            <a:lstStyle/>
            <a:p>
              <a:pPr marL="0" marR="0" lvl="0" indent="0" defTabSz="914286" eaLnBrk="1" fontAlgn="ctr"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cs typeface="Calibri" panose="020F0502020204030204" pitchFamily="34" charset="0"/>
                </a:rPr>
                <a:t>Additional Resources</a:t>
              </a:r>
            </a:p>
          </p:txBody>
        </p:sp>
      </p:grpSp>
      <p:pic>
        <p:nvPicPr>
          <p:cNvPr id="57" name="Picture 56">
            <a:extLst>
              <a:ext uri="{FF2B5EF4-FFF2-40B4-BE49-F238E27FC236}">
                <a16:creationId xmlns:a16="http://schemas.microsoft.com/office/drawing/2014/main" id="{4F596E90-8908-49E5-8CBD-D4AF6F5A377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8960" y="5129944"/>
            <a:ext cx="898601" cy="898601"/>
          </a:xfrm>
          <a:prstGeom prst="rect">
            <a:avLst/>
          </a:prstGeom>
        </p:spPr>
      </p:pic>
      <p:sp>
        <p:nvSpPr>
          <p:cNvPr id="58" name="TextBox 57">
            <a:extLst>
              <a:ext uri="{FF2B5EF4-FFF2-40B4-BE49-F238E27FC236}">
                <a16:creationId xmlns:a16="http://schemas.microsoft.com/office/drawing/2014/main" id="{88FEB467-08D7-4DA8-AF9D-99EB0D8DB696}"/>
              </a:ext>
            </a:extLst>
          </p:cNvPr>
          <p:cNvSpPr txBox="1"/>
          <p:nvPr/>
        </p:nvSpPr>
        <p:spPr>
          <a:xfrm>
            <a:off x="5082052" y="5330522"/>
            <a:ext cx="3945399" cy="646331"/>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would I plan to enhance this mindset with my team members? </a:t>
            </a:r>
          </a:p>
        </p:txBody>
      </p:sp>
      <p:grpSp>
        <p:nvGrpSpPr>
          <p:cNvPr id="3" name="Group 2">
            <a:extLst>
              <a:ext uri="{FF2B5EF4-FFF2-40B4-BE49-F238E27FC236}">
                <a16:creationId xmlns:a16="http://schemas.microsoft.com/office/drawing/2014/main" id="{BE4BBDD7-06D9-4FF0-9F3B-9E88BF4DABD7}"/>
              </a:ext>
            </a:extLst>
          </p:cNvPr>
          <p:cNvGrpSpPr/>
          <p:nvPr/>
        </p:nvGrpSpPr>
        <p:grpSpPr>
          <a:xfrm>
            <a:off x="91355" y="4174553"/>
            <a:ext cx="3740359" cy="2305266"/>
            <a:chOff x="-23829" y="8250863"/>
            <a:chExt cx="9702232" cy="4550738"/>
          </a:xfrm>
        </p:grpSpPr>
        <p:pic>
          <p:nvPicPr>
            <p:cNvPr id="39" name="Picture 38">
              <a:extLst>
                <a:ext uri="{FF2B5EF4-FFF2-40B4-BE49-F238E27FC236}">
                  <a16:creationId xmlns:a16="http://schemas.microsoft.com/office/drawing/2014/main" id="{AF50AF8C-9769-4824-9A28-9A06829C993F}"/>
                </a:ext>
              </a:extLst>
            </p:cNvPr>
            <p:cNvPicPr>
              <a:picLocks noChangeAspect="1"/>
            </p:cNvPicPr>
            <p:nvPr/>
          </p:nvPicPr>
          <p:blipFill rotWithShape="1">
            <a:blip r:embed="rId8">
              <a:extLst>
                <a:ext uri="{28A0092B-C50C-407E-A947-70E740481C1C}">
                  <a14:useLocalDpi xmlns:a14="http://schemas.microsoft.com/office/drawing/2010/main" val="0"/>
                </a:ext>
              </a:extLst>
            </a:blip>
            <a:srcRect t="18827" b="10761"/>
            <a:stretch/>
          </p:blipFill>
          <p:spPr>
            <a:xfrm>
              <a:off x="-23829" y="8250863"/>
              <a:ext cx="9702232" cy="4550738"/>
            </a:xfrm>
            <a:prstGeom prst="rect">
              <a:avLst/>
            </a:prstGeom>
          </p:spPr>
        </p:pic>
        <p:pic>
          <p:nvPicPr>
            <p:cNvPr id="59" name="Picture 58">
              <a:extLst>
                <a:ext uri="{FF2B5EF4-FFF2-40B4-BE49-F238E27FC236}">
                  <a16:creationId xmlns:a16="http://schemas.microsoft.com/office/drawing/2014/main" id="{BCF9B076-977B-4D1C-AB57-AEF20976C95E}"/>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36933"/>
            <a:stretch/>
          </p:blipFill>
          <p:spPr>
            <a:xfrm>
              <a:off x="7560777" y="12066145"/>
              <a:ext cx="2117626" cy="561180"/>
            </a:xfrm>
            <a:prstGeom prst="rect">
              <a:avLst/>
            </a:prstGeom>
          </p:spPr>
        </p:pic>
      </p:grpSp>
      <p:graphicFrame>
        <p:nvGraphicFramePr>
          <p:cNvPr id="60" name="Table 59">
            <a:extLst>
              <a:ext uri="{FF2B5EF4-FFF2-40B4-BE49-F238E27FC236}">
                <a16:creationId xmlns:a16="http://schemas.microsoft.com/office/drawing/2014/main" id="{AFCE439E-28B5-4EBA-8AB2-B276A6F2710C}"/>
              </a:ext>
            </a:extLst>
          </p:cNvPr>
          <p:cNvGraphicFramePr>
            <a:graphicFrameLocks noGrp="1"/>
          </p:cNvGraphicFramePr>
          <p:nvPr>
            <p:extLst>
              <p:ext uri="{D42A27DB-BD31-4B8C-83A1-F6EECF244321}">
                <p14:modId xmlns:p14="http://schemas.microsoft.com/office/powerpoint/2010/main" val="3964608994"/>
              </p:ext>
            </p:extLst>
          </p:nvPr>
        </p:nvGraphicFramePr>
        <p:xfrm>
          <a:off x="32549" y="1608717"/>
          <a:ext cx="3851831" cy="2377440"/>
        </p:xfrm>
        <a:graphic>
          <a:graphicData uri="http://schemas.openxmlformats.org/drawingml/2006/table">
            <a:tbl>
              <a:tblPr/>
              <a:tblGrid>
                <a:gridCol w="542046">
                  <a:extLst>
                    <a:ext uri="{9D8B030D-6E8A-4147-A177-3AD203B41FA5}">
                      <a16:colId xmlns:a16="http://schemas.microsoft.com/office/drawing/2014/main" val="2292092926"/>
                    </a:ext>
                  </a:extLst>
                </a:gridCol>
                <a:gridCol w="3309785">
                  <a:extLst>
                    <a:ext uri="{9D8B030D-6E8A-4147-A177-3AD203B41FA5}">
                      <a16:colId xmlns:a16="http://schemas.microsoft.com/office/drawing/2014/main" val="3333233995"/>
                    </a:ext>
                  </a:extLst>
                </a:gridCol>
              </a:tblGrid>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1</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l" fontAlgn="b"/>
                      <a:r>
                        <a:rPr lang="en-US" sz="1400" u="sng" strike="noStrike" dirty="0">
                          <a:effectLst/>
                          <a:hlinkClick r:id="rId10"/>
                        </a:rPr>
                        <a:t>Hays-improve-customer-centricity-leadership-team</a:t>
                      </a:r>
                      <a:endParaRPr lang="en-US" sz="1400" u="sng" strike="noStrike" dirty="0">
                        <a:effectLst/>
                      </a:endParaRPr>
                    </a:p>
                    <a:p>
                      <a:pPr algn="l" fontAlgn="b"/>
                      <a:endParaRPr lang="en-US" sz="1400" b="0" i="0" u="sng" strike="noStrike" dirty="0">
                        <a:solidFill>
                          <a:srgbClr val="0563C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48742838"/>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2</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l" fontAlgn="b"/>
                      <a:r>
                        <a:rPr lang="en-US" sz="1400" u="sng" strike="noStrike" dirty="0">
                          <a:effectLst/>
                          <a:hlinkClick r:id="rId11"/>
                        </a:rPr>
                        <a:t>KPMG-Customer First</a:t>
                      </a:r>
                      <a:endParaRPr lang="en-US" sz="1400" u="sng" strike="noStrike" dirty="0">
                        <a:effectLst/>
                      </a:endParaRPr>
                    </a:p>
                    <a:p>
                      <a:pPr algn="l" fontAlgn="b"/>
                      <a:endParaRPr lang="en-US" sz="1400" b="0" i="0" u="sng" strike="noStrike" dirty="0">
                        <a:solidFill>
                          <a:srgbClr val="0563C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92654841"/>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3</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l" fontAlgn="b"/>
                      <a:r>
                        <a:rPr lang="en-US" sz="1400" dirty="0">
                          <a:hlinkClick r:id="rId12"/>
                        </a:rPr>
                        <a:t>Break the NPS Plateau: Create a Culture of Customer Experience (gallup.com)</a:t>
                      </a:r>
                      <a:endParaRPr lang="en-US" sz="1400" dirty="0"/>
                    </a:p>
                    <a:p>
                      <a:pPr algn="l" fontAlgn="b"/>
                      <a:endParaRPr lang="en-US" sz="1400" b="0" i="0" u="sng" strike="noStrike" dirty="0">
                        <a:solidFill>
                          <a:srgbClr val="0563C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39569084"/>
                  </a:ext>
                </a:extLst>
              </a:tr>
              <a:tr h="19050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4</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l" fontAlgn="b"/>
                      <a:r>
                        <a:rPr lang="en-US" sz="1400" dirty="0">
                          <a:hlinkClick r:id="rId13"/>
                        </a:rPr>
                        <a:t>Prediction: The future of customer experience | McKinsey</a:t>
                      </a:r>
                      <a:endParaRPr lang="en-US" sz="1400" b="0" i="0" u="sng" strike="noStrike" dirty="0">
                        <a:solidFill>
                          <a:srgbClr val="0563C1"/>
                        </a:solidFill>
                        <a:effectLst/>
                        <a:latin typeface="Calibri" panose="020F0502020204030204" pitchFamily="34" charset="0"/>
                      </a:endParaRPr>
                    </a:p>
                    <a:p>
                      <a:pPr algn="l" fontAlgn="b"/>
                      <a:endParaRPr lang="en-US" sz="1400" b="0" i="0" u="sng" strike="noStrike" dirty="0">
                        <a:solidFill>
                          <a:srgbClr val="0563C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400111781"/>
                  </a:ext>
                </a:extLst>
              </a:tr>
            </a:tbl>
          </a:graphicData>
        </a:graphic>
      </p:graphicFrame>
      <p:graphicFrame>
        <p:nvGraphicFramePr>
          <p:cNvPr id="22" name="Diagram 21">
            <a:extLst>
              <a:ext uri="{FF2B5EF4-FFF2-40B4-BE49-F238E27FC236}">
                <a16:creationId xmlns:a16="http://schemas.microsoft.com/office/drawing/2014/main" id="{5C178666-0962-43B9-8E35-BE6AA9EE6675}"/>
              </a:ext>
            </a:extLst>
          </p:cNvPr>
          <p:cNvGraphicFramePr/>
          <p:nvPr>
            <p:extLst>
              <p:ext uri="{D42A27DB-BD31-4B8C-83A1-F6EECF244321}">
                <p14:modId xmlns:p14="http://schemas.microsoft.com/office/powerpoint/2010/main" val="2250126940"/>
              </p:ext>
            </p:extLst>
          </p:nvPr>
        </p:nvGraphicFramePr>
        <p:xfrm>
          <a:off x="0" y="-9525"/>
          <a:ext cx="792480" cy="846386"/>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3444074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B4FA0-CECE-410A-A1FE-EB3E349E4D91}"/>
              </a:ext>
            </a:extLst>
          </p:cNvPr>
          <p:cNvSpPr txBox="1"/>
          <p:nvPr/>
        </p:nvSpPr>
        <p:spPr>
          <a:xfrm>
            <a:off x="-23018" y="914256"/>
            <a:ext cx="9067800" cy="646331"/>
          </a:xfrm>
          <a:prstGeom prst="rect">
            <a:avLst/>
          </a:prstGeom>
          <a:noFill/>
        </p:spPr>
        <p:txBody>
          <a:bodyPr wrap="square">
            <a:spAutoFit/>
          </a:bodyPr>
          <a:lstStyle/>
          <a:p>
            <a:r>
              <a:rPr lang="en-US" dirty="0"/>
              <a:t>Demonstrate an unquestionable willingness to learn everyday, un-learn old approaches, and partner with others to assist them in doing the same</a:t>
            </a:r>
          </a:p>
        </p:txBody>
      </p:sp>
      <p:sp>
        <p:nvSpPr>
          <p:cNvPr id="4" name="TextBox 3">
            <a:extLst>
              <a:ext uri="{FF2B5EF4-FFF2-40B4-BE49-F238E27FC236}">
                <a16:creationId xmlns:a16="http://schemas.microsoft.com/office/drawing/2014/main" id="{ED48C7C0-1B84-40C9-9838-E52637D934EF}"/>
              </a:ext>
            </a:extLst>
          </p:cNvPr>
          <p:cNvSpPr txBox="1"/>
          <p:nvPr/>
        </p:nvSpPr>
        <p:spPr>
          <a:xfrm>
            <a:off x="2795561" y="198825"/>
            <a:ext cx="2842445" cy="584775"/>
          </a:xfrm>
          <a:prstGeom prst="rect">
            <a:avLst/>
          </a:prstGeom>
          <a:noFill/>
        </p:spPr>
        <p:txBody>
          <a:bodyPr wrap="none" rtlCol="0">
            <a:spAutoFit/>
          </a:bodyPr>
          <a:lstStyle/>
          <a:p>
            <a:pPr algn="ctr"/>
            <a:r>
              <a:rPr lang="en-US" sz="3200" b="1" dirty="0"/>
              <a:t>Future Proofing</a:t>
            </a:r>
          </a:p>
        </p:txBody>
      </p:sp>
      <p:sp>
        <p:nvSpPr>
          <p:cNvPr id="5" name="Rectangle: Rounded Corners 4">
            <a:extLst>
              <a:ext uri="{FF2B5EF4-FFF2-40B4-BE49-F238E27FC236}">
                <a16:creationId xmlns:a16="http://schemas.microsoft.com/office/drawing/2014/main" id="{8551ECE5-EA68-462A-9929-A829AF965E98}"/>
              </a:ext>
            </a:extLst>
          </p:cNvPr>
          <p:cNvSpPr/>
          <p:nvPr/>
        </p:nvSpPr>
        <p:spPr>
          <a:xfrm>
            <a:off x="37886" y="1981200"/>
            <a:ext cx="2933914" cy="4677975"/>
          </a:xfrm>
          <a:prstGeom prst="roundRect">
            <a:avLst/>
          </a:prstGeom>
          <a:solidFill>
            <a:schemeClr val="accent4">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b="0" i="0" u="none" strike="noStrike" dirty="0">
                <a:solidFill>
                  <a:schemeClr val="bg1"/>
                </a:solidFill>
                <a:effectLst/>
                <a:latin typeface="Calibri" panose="020F0502020204030204" pitchFamily="34" charset="0"/>
              </a:rPr>
              <a:t>Shows curiosity to stay up-to date with relevant knowledge and skills for the future</a:t>
            </a:r>
          </a:p>
          <a:p>
            <a:pPr algn="l" fontAlgn="ctr"/>
            <a:endParaRPr lang="en-US" sz="1200" b="0" i="0" u="none" strike="noStrike" dirty="0">
              <a:solidFill>
                <a:schemeClr val="bg1"/>
              </a:solidFill>
              <a:effectLst/>
              <a:latin typeface="Calibri" panose="020F0502020204030204" pitchFamily="34" charset="0"/>
            </a:endParaRPr>
          </a:p>
          <a:p>
            <a:pPr algn="l" fontAlgn="ctr"/>
            <a:r>
              <a:rPr lang="en-US" sz="1200" b="0" i="0" u="none" strike="noStrike" dirty="0">
                <a:solidFill>
                  <a:schemeClr val="bg1"/>
                </a:solidFill>
                <a:effectLst/>
                <a:latin typeface="Calibri" panose="020F0502020204030204" pitchFamily="34" charset="0"/>
              </a:rPr>
              <a:t>Encourages curiosity within team members to reinforce learning within the team </a:t>
            </a:r>
          </a:p>
          <a:p>
            <a:pPr algn="l" fontAlgn="ctr"/>
            <a:endParaRPr lang="en-US" sz="1200" b="0" i="0" u="none" strike="noStrike" dirty="0">
              <a:solidFill>
                <a:schemeClr val="bg1"/>
              </a:solidFill>
              <a:effectLst/>
              <a:latin typeface="Calibri" panose="020F0502020204030204" pitchFamily="34" charset="0"/>
            </a:endParaRPr>
          </a:p>
          <a:p>
            <a:pPr algn="l" fontAlgn="ctr"/>
            <a:r>
              <a:rPr lang="en-US" sz="1200" b="0" i="0" u="none" strike="noStrike" dirty="0">
                <a:solidFill>
                  <a:schemeClr val="bg1"/>
                </a:solidFill>
                <a:effectLst/>
                <a:latin typeface="Calibri" panose="020F0502020204030204" pitchFamily="34" charset="0"/>
              </a:rPr>
              <a:t>Enables team members with the right opportunities and resources to learn on </a:t>
            </a:r>
            <a:r>
              <a:rPr lang="en-US" sz="1200" dirty="0">
                <a:solidFill>
                  <a:schemeClr val="bg1"/>
                </a:solidFill>
                <a:latin typeface="Calibri" panose="020F0502020204030204" pitchFamily="34" charset="0"/>
              </a:rPr>
              <a:t>their job</a:t>
            </a:r>
            <a:endParaRPr lang="en-US" sz="1200" b="0" i="0" u="none" strike="noStrike" dirty="0">
              <a:solidFill>
                <a:schemeClr val="bg1"/>
              </a:solidFill>
              <a:effectLst/>
              <a:latin typeface="Calibri" panose="020F0502020204030204" pitchFamily="34" charset="0"/>
            </a:endParaRPr>
          </a:p>
          <a:p>
            <a:pPr algn="l" fontAlgn="ctr"/>
            <a:endParaRPr lang="en-US" sz="1200" b="0" i="0" u="none" strike="noStrike" dirty="0">
              <a:solidFill>
                <a:schemeClr val="bg1"/>
              </a:solidFill>
              <a:effectLst/>
              <a:latin typeface="Calibri" panose="020F0502020204030204" pitchFamily="34" charset="0"/>
            </a:endParaRPr>
          </a:p>
          <a:p>
            <a:pPr algn="l" fontAlgn="ctr"/>
            <a:r>
              <a:rPr lang="en-US" sz="1200" b="0" i="0" u="none" strike="noStrike" dirty="0">
                <a:solidFill>
                  <a:schemeClr val="bg1"/>
                </a:solidFill>
                <a:effectLst/>
                <a:latin typeface="Calibri" panose="020F0502020204030204" pitchFamily="34" charset="0"/>
              </a:rPr>
              <a:t>Is able to grasp new &amp; relevant technologies, processes and learnings</a:t>
            </a:r>
          </a:p>
        </p:txBody>
      </p:sp>
      <p:sp>
        <p:nvSpPr>
          <p:cNvPr id="15" name="Rectangle: Rounded Corners 14">
            <a:extLst>
              <a:ext uri="{FF2B5EF4-FFF2-40B4-BE49-F238E27FC236}">
                <a16:creationId xmlns:a16="http://schemas.microsoft.com/office/drawing/2014/main" id="{6FC54FCF-D174-4422-AF02-A0E4D075AA5D}"/>
              </a:ext>
            </a:extLst>
          </p:cNvPr>
          <p:cNvSpPr/>
          <p:nvPr/>
        </p:nvSpPr>
        <p:spPr>
          <a:xfrm>
            <a:off x="2786433" y="1995132"/>
            <a:ext cx="3113031" cy="4661059"/>
          </a:xfrm>
          <a:prstGeom prst="roundRect">
            <a:avLst/>
          </a:prstGeom>
          <a:solidFill>
            <a:schemeClr val="accent2">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Anticipates future trends and implications accurately</a:t>
            </a:r>
          </a:p>
          <a:p>
            <a:pPr algn="l" fontAlgn="ctr"/>
            <a:r>
              <a:rPr lang="en-US" sz="1200" dirty="0">
                <a:solidFill>
                  <a:schemeClr val="bg1"/>
                </a:solidFill>
                <a:latin typeface="Calibri" panose="020F0502020204030204" pitchFamily="34" charset="0"/>
              </a:rPr>
              <a:t> </a:t>
            </a:r>
          </a:p>
          <a:p>
            <a:pPr algn="l" fontAlgn="ctr"/>
            <a:r>
              <a:rPr lang="en-US" sz="1200" dirty="0">
                <a:solidFill>
                  <a:schemeClr val="bg1"/>
                </a:solidFill>
                <a:latin typeface="Calibri" panose="020F0502020204030204" pitchFamily="34" charset="0"/>
              </a:rPr>
              <a:t>Defines key skills, tools and resources required for future success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Demonstrates agility to learn new approaches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Has a mindset to develop teams for future readiness developing internal capability and skills required to be successful in the future.</a:t>
            </a:r>
          </a:p>
          <a:p>
            <a:pPr algn="l" fontAlgn="ctr"/>
            <a:r>
              <a:rPr lang="en-US" sz="1200" dirty="0">
                <a:solidFill>
                  <a:schemeClr val="bg1"/>
                </a:solidFill>
                <a:latin typeface="Calibri" panose="020F0502020204030204" pitchFamily="34" charset="0"/>
              </a:rPr>
              <a:t> </a:t>
            </a:r>
          </a:p>
          <a:p>
            <a:pPr algn="l" fontAlgn="ctr"/>
            <a:r>
              <a:rPr lang="en-US" sz="1200" dirty="0">
                <a:solidFill>
                  <a:schemeClr val="bg1"/>
                </a:solidFill>
                <a:latin typeface="Calibri" panose="020F0502020204030204" pitchFamily="34" charset="0"/>
              </a:rPr>
              <a:t>Applies technology &amp; innovative approaches to achieve better results</a:t>
            </a:r>
          </a:p>
          <a:p>
            <a:pPr algn="l" fontAlgn="ctr"/>
            <a:endParaRPr lang="en-US" sz="1200" dirty="0">
              <a:solidFill>
                <a:schemeClr val="bg1"/>
              </a:solidFill>
              <a:latin typeface="Calibri" panose="020F0502020204030204" pitchFamily="34" charset="0"/>
            </a:endParaRPr>
          </a:p>
          <a:p>
            <a:pPr algn="l" fontAlgn="ctr"/>
            <a:endParaRPr lang="en-US" sz="1200" dirty="0">
              <a:solidFill>
                <a:schemeClr val="bg1"/>
              </a:solidFill>
              <a:latin typeface="Calibri" panose="020F0502020204030204" pitchFamily="34" charset="0"/>
            </a:endParaRPr>
          </a:p>
        </p:txBody>
      </p:sp>
      <p:sp>
        <p:nvSpPr>
          <p:cNvPr id="16" name="Rectangle: Rounded Corners 15">
            <a:extLst>
              <a:ext uri="{FF2B5EF4-FFF2-40B4-BE49-F238E27FC236}">
                <a16:creationId xmlns:a16="http://schemas.microsoft.com/office/drawing/2014/main" id="{940B7297-2D4C-4213-A50D-E4A168DCB0A3}"/>
              </a:ext>
            </a:extLst>
          </p:cNvPr>
          <p:cNvSpPr/>
          <p:nvPr/>
        </p:nvSpPr>
        <p:spPr>
          <a:xfrm>
            <a:off x="5723772" y="2031945"/>
            <a:ext cx="3267828" cy="4638178"/>
          </a:xfrm>
          <a:prstGeom prst="roundRect">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Sees the bigger picture, constantly imagining future scenarios and creating strategies to sustain competitive advantages.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Builds a future focused talent &amp; succession plan that optimizes the talent pipeline.</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Formulates a road map, outlining the skills/roles that are required for future success, and how to optimize the current workforce to achieve the vision.</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Demonstrates authenticity to admit shortfalls &amp; allows the space to leverage team expertise</a:t>
            </a:r>
          </a:p>
        </p:txBody>
      </p:sp>
      <p:sp>
        <p:nvSpPr>
          <p:cNvPr id="7" name="TextBox 6">
            <a:extLst>
              <a:ext uri="{FF2B5EF4-FFF2-40B4-BE49-F238E27FC236}">
                <a16:creationId xmlns:a16="http://schemas.microsoft.com/office/drawing/2014/main" id="{245AF605-1469-4C89-9959-55611E5A9208}"/>
              </a:ext>
            </a:extLst>
          </p:cNvPr>
          <p:cNvSpPr txBox="1"/>
          <p:nvPr/>
        </p:nvSpPr>
        <p:spPr>
          <a:xfrm>
            <a:off x="234099" y="1480515"/>
            <a:ext cx="2140779" cy="461665"/>
          </a:xfrm>
          <a:prstGeom prst="rect">
            <a:avLst/>
          </a:prstGeom>
          <a:noFill/>
        </p:spPr>
        <p:txBody>
          <a:bodyPr wrap="none" rtlCol="0">
            <a:spAutoFit/>
          </a:bodyPr>
          <a:lstStyle/>
          <a:p>
            <a:r>
              <a:rPr lang="en-US" sz="2400" b="1" dirty="0"/>
              <a:t>Level 1 (G &amp; H )</a:t>
            </a:r>
          </a:p>
        </p:txBody>
      </p:sp>
      <p:sp>
        <p:nvSpPr>
          <p:cNvPr id="18" name="TextBox 17">
            <a:extLst>
              <a:ext uri="{FF2B5EF4-FFF2-40B4-BE49-F238E27FC236}">
                <a16:creationId xmlns:a16="http://schemas.microsoft.com/office/drawing/2014/main" id="{2F923E22-1B1D-4345-9D18-5A2A98CA08A9}"/>
              </a:ext>
            </a:extLst>
          </p:cNvPr>
          <p:cNvSpPr txBox="1"/>
          <p:nvPr/>
        </p:nvSpPr>
        <p:spPr>
          <a:xfrm>
            <a:off x="2934739" y="1505603"/>
            <a:ext cx="2004523" cy="461665"/>
          </a:xfrm>
          <a:prstGeom prst="rect">
            <a:avLst/>
          </a:prstGeom>
          <a:noFill/>
        </p:spPr>
        <p:txBody>
          <a:bodyPr wrap="none" rtlCol="0">
            <a:spAutoFit/>
          </a:bodyPr>
          <a:lstStyle/>
          <a:p>
            <a:r>
              <a:rPr lang="en-US" sz="2400" b="1" dirty="0"/>
              <a:t>Level 2 ( I &amp; J )</a:t>
            </a:r>
          </a:p>
        </p:txBody>
      </p:sp>
      <p:sp>
        <p:nvSpPr>
          <p:cNvPr id="19" name="TextBox 18">
            <a:extLst>
              <a:ext uri="{FF2B5EF4-FFF2-40B4-BE49-F238E27FC236}">
                <a16:creationId xmlns:a16="http://schemas.microsoft.com/office/drawing/2014/main" id="{DDF57A31-24EC-478C-8CE5-B68FCCE1700B}"/>
              </a:ext>
            </a:extLst>
          </p:cNvPr>
          <p:cNvSpPr txBox="1"/>
          <p:nvPr/>
        </p:nvSpPr>
        <p:spPr>
          <a:xfrm>
            <a:off x="5996467" y="1480515"/>
            <a:ext cx="2118337" cy="461665"/>
          </a:xfrm>
          <a:prstGeom prst="rect">
            <a:avLst/>
          </a:prstGeom>
          <a:noFill/>
        </p:spPr>
        <p:txBody>
          <a:bodyPr wrap="none" rtlCol="0">
            <a:spAutoFit/>
          </a:bodyPr>
          <a:lstStyle/>
          <a:p>
            <a:r>
              <a:rPr lang="en-US" sz="2400" b="1" dirty="0"/>
              <a:t>Level 3 ( K &amp; L )</a:t>
            </a:r>
          </a:p>
        </p:txBody>
      </p:sp>
      <p:graphicFrame>
        <p:nvGraphicFramePr>
          <p:cNvPr id="11" name="Diagram 10">
            <a:extLst>
              <a:ext uri="{FF2B5EF4-FFF2-40B4-BE49-F238E27FC236}">
                <a16:creationId xmlns:a16="http://schemas.microsoft.com/office/drawing/2014/main" id="{E47936F9-60B0-46E7-BBC2-90FE349733A4}"/>
              </a:ext>
            </a:extLst>
          </p:cNvPr>
          <p:cNvGraphicFramePr/>
          <p:nvPr>
            <p:extLst>
              <p:ext uri="{D42A27DB-BD31-4B8C-83A1-F6EECF244321}">
                <p14:modId xmlns:p14="http://schemas.microsoft.com/office/powerpoint/2010/main" val="2250126940"/>
              </p:ext>
            </p:extLst>
          </p:nvPr>
        </p:nvGraphicFramePr>
        <p:xfrm>
          <a:off x="0" y="-9525"/>
          <a:ext cx="792480" cy="8463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4520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48C7C0-1B84-40C9-9838-E52637D934EF}"/>
              </a:ext>
            </a:extLst>
          </p:cNvPr>
          <p:cNvSpPr txBox="1"/>
          <p:nvPr/>
        </p:nvSpPr>
        <p:spPr>
          <a:xfrm>
            <a:off x="1819389" y="201361"/>
            <a:ext cx="4287264" cy="523220"/>
          </a:xfrm>
          <a:prstGeom prst="rect">
            <a:avLst/>
          </a:prstGeom>
          <a:noFill/>
        </p:spPr>
        <p:txBody>
          <a:bodyPr wrap="none" rtlCol="0">
            <a:spAutoFit/>
          </a:bodyPr>
          <a:lstStyle/>
          <a:p>
            <a:pPr algn="ctr"/>
            <a:r>
              <a:rPr lang="en-US" sz="2800" b="1" dirty="0"/>
              <a:t>Future Proofing - Resources</a:t>
            </a:r>
          </a:p>
        </p:txBody>
      </p:sp>
      <p:sp>
        <p:nvSpPr>
          <p:cNvPr id="42" name="TextBox 41">
            <a:extLst>
              <a:ext uri="{FF2B5EF4-FFF2-40B4-BE49-F238E27FC236}">
                <a16:creationId xmlns:a16="http://schemas.microsoft.com/office/drawing/2014/main" id="{550A49C3-D316-45F7-9BF2-10C3DDD00FE8}"/>
              </a:ext>
            </a:extLst>
          </p:cNvPr>
          <p:cNvSpPr txBox="1"/>
          <p:nvPr/>
        </p:nvSpPr>
        <p:spPr>
          <a:xfrm>
            <a:off x="5040603" y="1290631"/>
            <a:ext cx="3609753" cy="646331"/>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Am I using the Leadership Behaviors   to get my business future proofed?</a:t>
            </a:r>
          </a:p>
        </p:txBody>
      </p:sp>
      <p:cxnSp>
        <p:nvCxnSpPr>
          <p:cNvPr id="43" name="Straight Connector 42">
            <a:extLst>
              <a:ext uri="{FF2B5EF4-FFF2-40B4-BE49-F238E27FC236}">
                <a16:creationId xmlns:a16="http://schemas.microsoft.com/office/drawing/2014/main" id="{76A36D67-5B66-445F-86F8-2E5D94D3AEF3}"/>
              </a:ext>
            </a:extLst>
          </p:cNvPr>
          <p:cNvCxnSpPr/>
          <p:nvPr/>
        </p:nvCxnSpPr>
        <p:spPr>
          <a:xfrm>
            <a:off x="0" y="777811"/>
            <a:ext cx="4607794" cy="0"/>
          </a:xfrm>
          <a:prstGeom prst="line">
            <a:avLst/>
          </a:prstGeom>
          <a:noFill/>
          <a:ln w="6350" cap="flat" cmpd="sng" algn="ctr">
            <a:solidFill>
              <a:srgbClr val="4472C4"/>
            </a:solidFill>
            <a:prstDash val="solid"/>
            <a:miter lim="800000"/>
          </a:ln>
          <a:effectLst/>
        </p:spPr>
      </p:cxnSp>
      <p:sp>
        <p:nvSpPr>
          <p:cNvPr id="45" name="TextBox 44">
            <a:extLst>
              <a:ext uri="{FF2B5EF4-FFF2-40B4-BE49-F238E27FC236}">
                <a16:creationId xmlns:a16="http://schemas.microsoft.com/office/drawing/2014/main" id="{EBBBCA0A-EED7-4622-9AAE-709549716A4B}"/>
              </a:ext>
            </a:extLst>
          </p:cNvPr>
          <p:cNvSpPr txBox="1"/>
          <p:nvPr/>
        </p:nvSpPr>
        <p:spPr>
          <a:xfrm>
            <a:off x="5040603" y="2450495"/>
            <a:ext cx="3609753" cy="923330"/>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can I reset my actions using the  Leadership behaviors to be future centric?</a:t>
            </a:r>
          </a:p>
        </p:txBody>
      </p:sp>
      <p:sp>
        <p:nvSpPr>
          <p:cNvPr id="46" name="TextBox 45">
            <a:extLst>
              <a:ext uri="{FF2B5EF4-FFF2-40B4-BE49-F238E27FC236}">
                <a16:creationId xmlns:a16="http://schemas.microsoft.com/office/drawing/2014/main" id="{B1DAF3C7-F5F6-4BD3-9785-F3299423D2D7}"/>
              </a:ext>
            </a:extLst>
          </p:cNvPr>
          <p:cNvSpPr txBox="1"/>
          <p:nvPr/>
        </p:nvSpPr>
        <p:spPr>
          <a:xfrm>
            <a:off x="5040602" y="3740125"/>
            <a:ext cx="3778219" cy="1200329"/>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can my business outcomes be impacted through my future proofing plans? Are my plans realistic and viable?</a:t>
            </a:r>
          </a:p>
        </p:txBody>
      </p:sp>
      <p:pic>
        <p:nvPicPr>
          <p:cNvPr id="47" name="Picture 46">
            <a:extLst>
              <a:ext uri="{FF2B5EF4-FFF2-40B4-BE49-F238E27FC236}">
                <a16:creationId xmlns:a16="http://schemas.microsoft.com/office/drawing/2014/main" id="{6E7985B9-460F-4E7D-A536-BFD93361DE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08085" y="3796750"/>
            <a:ext cx="898601" cy="898601"/>
          </a:xfrm>
          <a:prstGeom prst="rect">
            <a:avLst/>
          </a:prstGeom>
        </p:spPr>
      </p:pic>
      <p:pic>
        <p:nvPicPr>
          <p:cNvPr id="48" name="Picture 47">
            <a:extLst>
              <a:ext uri="{FF2B5EF4-FFF2-40B4-BE49-F238E27FC236}">
                <a16:creationId xmlns:a16="http://schemas.microsoft.com/office/drawing/2014/main" id="{012439CA-004B-485B-9D78-EE3B2D2204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99034" y="1353146"/>
            <a:ext cx="828918" cy="828918"/>
          </a:xfrm>
          <a:prstGeom prst="rect">
            <a:avLst/>
          </a:prstGeom>
        </p:spPr>
      </p:pic>
      <p:pic>
        <p:nvPicPr>
          <p:cNvPr id="49" name="Picture 48">
            <a:extLst>
              <a:ext uri="{FF2B5EF4-FFF2-40B4-BE49-F238E27FC236}">
                <a16:creationId xmlns:a16="http://schemas.microsoft.com/office/drawing/2014/main" id="{F1F036CF-0C10-4796-A2AF-438F6506D7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48960" y="2449462"/>
            <a:ext cx="898602" cy="898602"/>
          </a:xfrm>
          <a:prstGeom prst="rect">
            <a:avLst/>
          </a:prstGeom>
        </p:spPr>
      </p:pic>
      <p:grpSp>
        <p:nvGrpSpPr>
          <p:cNvPr id="50" name="Group 49">
            <a:extLst>
              <a:ext uri="{FF2B5EF4-FFF2-40B4-BE49-F238E27FC236}">
                <a16:creationId xmlns:a16="http://schemas.microsoft.com/office/drawing/2014/main" id="{94158EA9-AEFC-451F-A11A-08EAC37BCABF}"/>
              </a:ext>
            </a:extLst>
          </p:cNvPr>
          <p:cNvGrpSpPr/>
          <p:nvPr/>
        </p:nvGrpSpPr>
        <p:grpSpPr>
          <a:xfrm>
            <a:off x="32549" y="805701"/>
            <a:ext cx="3875536" cy="3156699"/>
            <a:chOff x="201750" y="1092352"/>
            <a:chExt cx="3514703" cy="3156699"/>
          </a:xfrm>
        </p:grpSpPr>
        <p:sp>
          <p:nvSpPr>
            <p:cNvPr id="51" name="Rectangle: Rounded Corners 50">
              <a:extLst>
                <a:ext uri="{FF2B5EF4-FFF2-40B4-BE49-F238E27FC236}">
                  <a16:creationId xmlns:a16="http://schemas.microsoft.com/office/drawing/2014/main" id="{85C1AF67-482C-48C7-8F54-F7BE2BE8E9C6}"/>
                </a:ext>
              </a:extLst>
            </p:cNvPr>
            <p:cNvSpPr/>
            <p:nvPr/>
          </p:nvSpPr>
          <p:spPr>
            <a:xfrm>
              <a:off x="223248" y="1305365"/>
              <a:ext cx="3493205" cy="2943686"/>
            </a:xfrm>
            <a:prstGeom prst="roundRect">
              <a:avLst>
                <a:gd name="adj" fmla="val 9183"/>
              </a:avLst>
            </a:prstGeom>
            <a:solidFill>
              <a:sysClr val="window" lastClr="FFFFFF">
                <a:lumMod val="8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3" name="Picture 52">
              <a:extLst>
                <a:ext uri="{FF2B5EF4-FFF2-40B4-BE49-F238E27FC236}">
                  <a16:creationId xmlns:a16="http://schemas.microsoft.com/office/drawing/2014/main" id="{79218B48-FE01-4308-AE43-1C4CEBFC183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1750" y="1092352"/>
              <a:ext cx="578841" cy="578841"/>
            </a:xfrm>
            <a:prstGeom prst="rect">
              <a:avLst/>
            </a:prstGeom>
          </p:spPr>
        </p:pic>
        <p:sp>
          <p:nvSpPr>
            <p:cNvPr id="56" name="TextBox 55">
              <a:extLst>
                <a:ext uri="{FF2B5EF4-FFF2-40B4-BE49-F238E27FC236}">
                  <a16:creationId xmlns:a16="http://schemas.microsoft.com/office/drawing/2014/main" id="{127BA1E8-A52C-4CC9-BAAA-710748BBDEE4}"/>
                </a:ext>
              </a:extLst>
            </p:cNvPr>
            <p:cNvSpPr txBox="1"/>
            <p:nvPr/>
          </p:nvSpPr>
          <p:spPr>
            <a:xfrm>
              <a:off x="566671" y="1306347"/>
              <a:ext cx="3033496" cy="461665"/>
            </a:xfrm>
            <a:prstGeom prst="rect">
              <a:avLst/>
            </a:prstGeom>
            <a:noFill/>
          </p:spPr>
          <p:txBody>
            <a:bodyPr wrap="square" rtlCol="0">
              <a:spAutoFit/>
            </a:bodyPr>
            <a:lstStyle/>
            <a:p>
              <a:pPr marL="0" marR="0" lvl="0" indent="0" defTabSz="914286" eaLnBrk="1" fontAlgn="ctr"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cs typeface="Calibri" panose="020F0502020204030204" pitchFamily="34" charset="0"/>
                </a:rPr>
                <a:t>Additional Resources</a:t>
              </a:r>
            </a:p>
          </p:txBody>
        </p:sp>
      </p:grpSp>
      <p:pic>
        <p:nvPicPr>
          <p:cNvPr id="57" name="Picture 56">
            <a:extLst>
              <a:ext uri="{FF2B5EF4-FFF2-40B4-BE49-F238E27FC236}">
                <a16:creationId xmlns:a16="http://schemas.microsoft.com/office/drawing/2014/main" id="{4F596E90-8908-49E5-8CBD-D4AF6F5A377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8960" y="5129944"/>
            <a:ext cx="898601" cy="898601"/>
          </a:xfrm>
          <a:prstGeom prst="rect">
            <a:avLst/>
          </a:prstGeom>
        </p:spPr>
      </p:pic>
      <p:sp>
        <p:nvSpPr>
          <p:cNvPr id="58" name="TextBox 57">
            <a:extLst>
              <a:ext uri="{FF2B5EF4-FFF2-40B4-BE49-F238E27FC236}">
                <a16:creationId xmlns:a16="http://schemas.microsoft.com/office/drawing/2014/main" id="{88FEB467-08D7-4DA8-AF9D-99EB0D8DB696}"/>
              </a:ext>
            </a:extLst>
          </p:cNvPr>
          <p:cNvSpPr txBox="1"/>
          <p:nvPr/>
        </p:nvSpPr>
        <p:spPr>
          <a:xfrm>
            <a:off x="5082052" y="5330522"/>
            <a:ext cx="3945399" cy="646331"/>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would I plan to future proof my team members? </a:t>
            </a:r>
          </a:p>
        </p:txBody>
      </p:sp>
      <p:graphicFrame>
        <p:nvGraphicFramePr>
          <p:cNvPr id="60" name="Table 59">
            <a:extLst>
              <a:ext uri="{FF2B5EF4-FFF2-40B4-BE49-F238E27FC236}">
                <a16:creationId xmlns:a16="http://schemas.microsoft.com/office/drawing/2014/main" id="{AFCE439E-28B5-4EBA-8AB2-B276A6F2710C}"/>
              </a:ext>
            </a:extLst>
          </p:cNvPr>
          <p:cNvGraphicFramePr>
            <a:graphicFrameLocks noGrp="1"/>
          </p:cNvGraphicFramePr>
          <p:nvPr>
            <p:extLst>
              <p:ext uri="{D42A27DB-BD31-4B8C-83A1-F6EECF244321}">
                <p14:modId xmlns:p14="http://schemas.microsoft.com/office/powerpoint/2010/main" val="778787654"/>
              </p:ext>
            </p:extLst>
          </p:nvPr>
        </p:nvGraphicFramePr>
        <p:xfrm>
          <a:off x="69641" y="1524198"/>
          <a:ext cx="3851831" cy="1950720"/>
        </p:xfrm>
        <a:graphic>
          <a:graphicData uri="http://schemas.openxmlformats.org/drawingml/2006/table">
            <a:tbl>
              <a:tblPr/>
              <a:tblGrid>
                <a:gridCol w="542046">
                  <a:extLst>
                    <a:ext uri="{9D8B030D-6E8A-4147-A177-3AD203B41FA5}">
                      <a16:colId xmlns:a16="http://schemas.microsoft.com/office/drawing/2014/main" val="2292092926"/>
                    </a:ext>
                  </a:extLst>
                </a:gridCol>
                <a:gridCol w="3309785">
                  <a:extLst>
                    <a:ext uri="{9D8B030D-6E8A-4147-A177-3AD203B41FA5}">
                      <a16:colId xmlns:a16="http://schemas.microsoft.com/office/drawing/2014/main" val="3333233995"/>
                    </a:ext>
                  </a:extLst>
                </a:gridCol>
              </a:tblGrid>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1</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8"/>
                        </a:rPr>
                        <a:t>Forbes-How To Future-Proof Your Organization</a:t>
                      </a:r>
                      <a:endParaRPr lang="en-US" sz="1400" u="sng" strike="noStrike" dirty="0">
                        <a:effectLst/>
                      </a:endParaRPr>
                    </a:p>
                    <a:p>
                      <a:pPr algn="l" fontAlgn="b"/>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48742838"/>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2</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err="1">
                          <a:effectLst/>
                          <a:hlinkClick r:id="rId9"/>
                        </a:rPr>
                        <a:t>MichaelPage</a:t>
                      </a:r>
                      <a:r>
                        <a:rPr lang="en-US" sz="1400" u="sng" strike="noStrike" dirty="0">
                          <a:effectLst/>
                          <a:hlinkClick r:id="rId9"/>
                        </a:rPr>
                        <a:t>-Future of Leadership</a:t>
                      </a:r>
                      <a:endParaRPr lang="en-US" sz="1400" u="sng" strike="noStrike" dirty="0">
                        <a:effectLst/>
                      </a:endParaRPr>
                    </a:p>
                    <a:p>
                      <a:pPr algn="l" fontAlgn="b"/>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92654841"/>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3</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10"/>
                        </a:rPr>
                        <a:t>McKinsey-Getting Ready for the Future of Work</a:t>
                      </a:r>
                      <a:endParaRPr lang="en-US" sz="1400" u="sng" strike="noStrike" dirty="0">
                        <a:effectLst/>
                      </a:endParaRPr>
                    </a:p>
                    <a:p>
                      <a:pPr algn="l" fontAlgn="b"/>
                      <a:endParaRPr lang="en-US" sz="1400" b="0" i="0" u="sng" strike="noStrike" dirty="0">
                        <a:solidFill>
                          <a:srgbClr val="0563C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39569084"/>
                  </a:ext>
                </a:extLst>
              </a:tr>
              <a:tr h="19050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4</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l" fontAlgn="b"/>
                      <a:r>
                        <a:rPr lang="en-US" sz="1400" b="0" i="0" u="sng" strike="noStrike" dirty="0">
                          <a:solidFill>
                            <a:srgbClr val="0563C1"/>
                          </a:solidFill>
                          <a:effectLst/>
                          <a:latin typeface="Calibri" panose="020F0502020204030204" pitchFamily="34" charset="0"/>
                          <a:hlinkClick r:id="rId11"/>
                        </a:rPr>
                        <a:t>The Future of Sales and Marketing is here</a:t>
                      </a:r>
                      <a:endParaRPr lang="en-US" sz="1400" b="0" i="0" u="sng" strike="noStrike" dirty="0">
                        <a:solidFill>
                          <a:srgbClr val="0563C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400111781"/>
                  </a:ext>
                </a:extLst>
              </a:tr>
            </a:tbl>
          </a:graphicData>
        </a:graphic>
      </p:graphicFrame>
      <p:pic>
        <p:nvPicPr>
          <p:cNvPr id="22" name="Picture 21">
            <a:extLst>
              <a:ext uri="{FF2B5EF4-FFF2-40B4-BE49-F238E27FC236}">
                <a16:creationId xmlns:a16="http://schemas.microsoft.com/office/drawing/2014/main" id="{4A85D31E-E841-44E1-85CB-860CDA1F57AE}"/>
              </a:ext>
            </a:extLst>
          </p:cNvPr>
          <p:cNvPicPr>
            <a:picLocks noChangeAspect="1"/>
          </p:cNvPicPr>
          <p:nvPr/>
        </p:nvPicPr>
        <p:blipFill rotWithShape="1">
          <a:blip r:embed="rId12">
            <a:extLst>
              <a:ext uri="{28A0092B-C50C-407E-A947-70E740481C1C}">
                <a14:useLocalDpi xmlns:a14="http://schemas.microsoft.com/office/drawing/2010/main" val="0"/>
              </a:ext>
            </a:extLst>
          </a:blip>
          <a:srcRect t="8503" b="1"/>
          <a:stretch/>
        </p:blipFill>
        <p:spPr>
          <a:xfrm>
            <a:off x="71774" y="4155885"/>
            <a:ext cx="3900672" cy="2377440"/>
          </a:xfrm>
          <a:prstGeom prst="rect">
            <a:avLst/>
          </a:prstGeom>
        </p:spPr>
      </p:pic>
      <p:graphicFrame>
        <p:nvGraphicFramePr>
          <p:cNvPr id="19" name="Diagram 18">
            <a:extLst>
              <a:ext uri="{FF2B5EF4-FFF2-40B4-BE49-F238E27FC236}">
                <a16:creationId xmlns:a16="http://schemas.microsoft.com/office/drawing/2014/main" id="{6091FE59-C925-4340-A009-52805F892176}"/>
              </a:ext>
            </a:extLst>
          </p:cNvPr>
          <p:cNvGraphicFramePr/>
          <p:nvPr>
            <p:extLst>
              <p:ext uri="{D42A27DB-BD31-4B8C-83A1-F6EECF244321}">
                <p14:modId xmlns:p14="http://schemas.microsoft.com/office/powerpoint/2010/main" val="2250126940"/>
              </p:ext>
            </p:extLst>
          </p:nvPr>
        </p:nvGraphicFramePr>
        <p:xfrm>
          <a:off x="0" y="-9525"/>
          <a:ext cx="792480" cy="84638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6213709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B4FA0-CECE-410A-A1FE-EB3E349E4D91}"/>
              </a:ext>
            </a:extLst>
          </p:cNvPr>
          <p:cNvSpPr txBox="1"/>
          <p:nvPr/>
        </p:nvSpPr>
        <p:spPr>
          <a:xfrm>
            <a:off x="-13010" y="831616"/>
            <a:ext cx="9067800" cy="1200329"/>
          </a:xfrm>
          <a:prstGeom prst="rect">
            <a:avLst/>
          </a:prstGeom>
          <a:noFill/>
        </p:spPr>
        <p:txBody>
          <a:bodyPr wrap="square">
            <a:spAutoFit/>
          </a:bodyPr>
          <a:lstStyle/>
          <a:p>
            <a:r>
              <a:rPr lang="en-US" dirty="0"/>
              <a:t>Anticipate and lead change: adapt actions, accordingly, demonstrate tolerance for ambiguity; has comfort with uncertainty. Shows flexibility in adjusting own views and objectives in order to achieve a shared goal</a:t>
            </a:r>
          </a:p>
          <a:p>
            <a:r>
              <a:rPr lang="en-US" dirty="0"/>
              <a:t> </a:t>
            </a:r>
          </a:p>
        </p:txBody>
      </p:sp>
      <p:sp>
        <p:nvSpPr>
          <p:cNvPr id="4" name="TextBox 3">
            <a:extLst>
              <a:ext uri="{FF2B5EF4-FFF2-40B4-BE49-F238E27FC236}">
                <a16:creationId xmlns:a16="http://schemas.microsoft.com/office/drawing/2014/main" id="{ED48C7C0-1B84-40C9-9838-E52637D934EF}"/>
              </a:ext>
            </a:extLst>
          </p:cNvPr>
          <p:cNvSpPr txBox="1"/>
          <p:nvPr/>
        </p:nvSpPr>
        <p:spPr>
          <a:xfrm>
            <a:off x="3024599" y="198825"/>
            <a:ext cx="2384372" cy="584775"/>
          </a:xfrm>
          <a:prstGeom prst="rect">
            <a:avLst/>
          </a:prstGeom>
          <a:noFill/>
        </p:spPr>
        <p:txBody>
          <a:bodyPr wrap="none" rtlCol="0">
            <a:spAutoFit/>
          </a:bodyPr>
          <a:lstStyle/>
          <a:p>
            <a:pPr algn="ctr"/>
            <a:r>
              <a:rPr lang="en-US" sz="3200" b="1" dirty="0"/>
              <a:t>Change Agile</a:t>
            </a:r>
          </a:p>
        </p:txBody>
      </p:sp>
      <p:sp>
        <p:nvSpPr>
          <p:cNvPr id="5" name="Rectangle: Rounded Corners 4">
            <a:extLst>
              <a:ext uri="{FF2B5EF4-FFF2-40B4-BE49-F238E27FC236}">
                <a16:creationId xmlns:a16="http://schemas.microsoft.com/office/drawing/2014/main" id="{8551ECE5-EA68-462A-9929-A829AF965E98}"/>
              </a:ext>
            </a:extLst>
          </p:cNvPr>
          <p:cNvSpPr/>
          <p:nvPr/>
        </p:nvSpPr>
        <p:spPr>
          <a:xfrm>
            <a:off x="37886" y="2209800"/>
            <a:ext cx="2933914" cy="4449375"/>
          </a:xfrm>
          <a:prstGeom prst="roundRect">
            <a:avLst/>
          </a:prstGeom>
          <a:solidFill>
            <a:schemeClr val="accent4">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b="0" i="0" u="none" strike="noStrike" dirty="0">
                <a:solidFill>
                  <a:schemeClr val="bg1"/>
                </a:solidFill>
                <a:effectLst/>
                <a:latin typeface="Calibri" panose="020F0502020204030204" pitchFamily="34" charset="0"/>
              </a:rPr>
              <a:t>Demonstrates emotional and social awareness, managing self and enabling the team during change</a:t>
            </a:r>
          </a:p>
          <a:p>
            <a:pPr algn="l" fontAlgn="ctr"/>
            <a:endParaRPr lang="en-US" sz="1200" b="0" i="0" u="none" strike="noStrike" dirty="0">
              <a:solidFill>
                <a:schemeClr val="bg1"/>
              </a:solidFill>
              <a:effectLst/>
              <a:latin typeface="Calibri" panose="020F0502020204030204" pitchFamily="34" charset="0"/>
            </a:endParaRPr>
          </a:p>
          <a:p>
            <a:pPr algn="l" fontAlgn="ctr"/>
            <a:r>
              <a:rPr lang="en-US" sz="1200" b="0" i="0" u="none" strike="noStrike" dirty="0">
                <a:solidFill>
                  <a:schemeClr val="bg1"/>
                </a:solidFill>
                <a:effectLst/>
                <a:latin typeface="Calibri" panose="020F0502020204030204" pitchFamily="34" charset="0"/>
              </a:rPr>
              <a:t>Demonstrates adaptability and resilience to evolving changing situations</a:t>
            </a:r>
          </a:p>
          <a:p>
            <a:pPr algn="l" fontAlgn="ctr"/>
            <a:endParaRPr lang="en-US" sz="1200" b="0" i="0" u="none" strike="noStrike" dirty="0">
              <a:solidFill>
                <a:schemeClr val="bg1"/>
              </a:solidFill>
              <a:effectLst/>
              <a:latin typeface="Calibri" panose="020F0502020204030204" pitchFamily="34" charset="0"/>
            </a:endParaRPr>
          </a:p>
          <a:p>
            <a:pPr algn="l" fontAlgn="ctr"/>
            <a:r>
              <a:rPr lang="en-US" sz="1200" b="0" i="0" u="none" strike="noStrike" dirty="0">
                <a:solidFill>
                  <a:schemeClr val="bg1"/>
                </a:solidFill>
                <a:effectLst/>
                <a:latin typeface="Calibri" panose="020F0502020204030204" pitchFamily="34" charset="0"/>
              </a:rPr>
              <a:t>Executes required changes due to evolving business requirements</a:t>
            </a:r>
          </a:p>
        </p:txBody>
      </p:sp>
      <p:sp>
        <p:nvSpPr>
          <p:cNvPr id="15" name="Rectangle: Rounded Corners 14">
            <a:extLst>
              <a:ext uri="{FF2B5EF4-FFF2-40B4-BE49-F238E27FC236}">
                <a16:creationId xmlns:a16="http://schemas.microsoft.com/office/drawing/2014/main" id="{6FC54FCF-D174-4422-AF02-A0E4D075AA5D}"/>
              </a:ext>
            </a:extLst>
          </p:cNvPr>
          <p:cNvSpPr/>
          <p:nvPr/>
        </p:nvSpPr>
        <p:spPr>
          <a:xfrm>
            <a:off x="2786433" y="2206816"/>
            <a:ext cx="3113031" cy="4449375"/>
          </a:xfrm>
          <a:prstGeom prst="roundRect">
            <a:avLst/>
          </a:prstGeom>
          <a:solidFill>
            <a:schemeClr val="accent2">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Understands the need for change and enables plans to ensure execution</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Acts as an advocate &amp; role model for change</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Leverages social and emotional intelligence to support teammates and colleagues through change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Identifies &amp; communicates wins, milestones and achievements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Effectively integrates change into in the processes &amp; systems to sustain the change.</a:t>
            </a:r>
          </a:p>
          <a:p>
            <a:pPr algn="l" fontAlgn="ctr"/>
            <a:endParaRPr lang="en-US" sz="1200" dirty="0">
              <a:solidFill>
                <a:schemeClr val="bg1"/>
              </a:solidFill>
              <a:latin typeface="Calibri" panose="020F0502020204030204" pitchFamily="34" charset="0"/>
            </a:endParaRPr>
          </a:p>
          <a:p>
            <a:pPr algn="l" fontAlgn="ctr"/>
            <a:r>
              <a:rPr lang="en-US" sz="1200" dirty="0">
                <a:effectLst/>
              </a:rPr>
              <a:t>Demonstrates an open mind and flexibility to course adjust and the business needs change.</a:t>
            </a:r>
            <a:endParaRPr lang="en-US" sz="1200" dirty="0">
              <a:solidFill>
                <a:schemeClr val="bg1"/>
              </a:solidFill>
            </a:endParaRPr>
          </a:p>
        </p:txBody>
      </p:sp>
      <p:sp>
        <p:nvSpPr>
          <p:cNvPr id="16" name="Rectangle: Rounded Corners 15">
            <a:extLst>
              <a:ext uri="{FF2B5EF4-FFF2-40B4-BE49-F238E27FC236}">
                <a16:creationId xmlns:a16="http://schemas.microsoft.com/office/drawing/2014/main" id="{940B7297-2D4C-4213-A50D-E4A168DCB0A3}"/>
              </a:ext>
            </a:extLst>
          </p:cNvPr>
          <p:cNvSpPr/>
          <p:nvPr/>
        </p:nvSpPr>
        <p:spPr>
          <a:xfrm>
            <a:off x="5723772" y="2203831"/>
            <a:ext cx="3267828" cy="4466291"/>
          </a:xfrm>
          <a:prstGeom prst="roundRect">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Calibrates and applies emerging trends to proactively anticipate change, while seeking to address future desired state.</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Sets the burning platform for change and drives from the front.</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Thinks holistic about change</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Creates a space for experimenting, failing fast, to be able to recover and reset.</a:t>
            </a:r>
          </a:p>
        </p:txBody>
      </p:sp>
      <p:sp>
        <p:nvSpPr>
          <p:cNvPr id="7" name="TextBox 6">
            <a:extLst>
              <a:ext uri="{FF2B5EF4-FFF2-40B4-BE49-F238E27FC236}">
                <a16:creationId xmlns:a16="http://schemas.microsoft.com/office/drawing/2014/main" id="{245AF605-1469-4C89-9959-55611E5A9208}"/>
              </a:ext>
            </a:extLst>
          </p:cNvPr>
          <p:cNvSpPr txBox="1"/>
          <p:nvPr/>
        </p:nvSpPr>
        <p:spPr>
          <a:xfrm>
            <a:off x="265357" y="1711347"/>
            <a:ext cx="2140779" cy="461665"/>
          </a:xfrm>
          <a:prstGeom prst="rect">
            <a:avLst/>
          </a:prstGeom>
          <a:noFill/>
        </p:spPr>
        <p:txBody>
          <a:bodyPr wrap="none" rtlCol="0">
            <a:spAutoFit/>
          </a:bodyPr>
          <a:lstStyle/>
          <a:p>
            <a:r>
              <a:rPr lang="en-US" sz="2400" b="1" dirty="0"/>
              <a:t>Level 1 (G &amp; H )</a:t>
            </a:r>
          </a:p>
        </p:txBody>
      </p:sp>
      <p:sp>
        <p:nvSpPr>
          <p:cNvPr id="18" name="TextBox 17">
            <a:extLst>
              <a:ext uri="{FF2B5EF4-FFF2-40B4-BE49-F238E27FC236}">
                <a16:creationId xmlns:a16="http://schemas.microsoft.com/office/drawing/2014/main" id="{2F923E22-1B1D-4345-9D18-5A2A98CA08A9}"/>
              </a:ext>
            </a:extLst>
          </p:cNvPr>
          <p:cNvSpPr txBox="1"/>
          <p:nvPr/>
        </p:nvSpPr>
        <p:spPr>
          <a:xfrm>
            <a:off x="3199040" y="1656223"/>
            <a:ext cx="2004523" cy="461665"/>
          </a:xfrm>
          <a:prstGeom prst="rect">
            <a:avLst/>
          </a:prstGeom>
          <a:noFill/>
        </p:spPr>
        <p:txBody>
          <a:bodyPr wrap="none" rtlCol="0">
            <a:spAutoFit/>
          </a:bodyPr>
          <a:lstStyle/>
          <a:p>
            <a:r>
              <a:rPr lang="en-US" sz="2400" b="1" dirty="0"/>
              <a:t>Level 2 ( I &amp; J )</a:t>
            </a:r>
          </a:p>
        </p:txBody>
      </p:sp>
      <p:sp>
        <p:nvSpPr>
          <p:cNvPr id="19" name="TextBox 18">
            <a:extLst>
              <a:ext uri="{FF2B5EF4-FFF2-40B4-BE49-F238E27FC236}">
                <a16:creationId xmlns:a16="http://schemas.microsoft.com/office/drawing/2014/main" id="{DDF57A31-24EC-478C-8CE5-B68FCCE1700B}"/>
              </a:ext>
            </a:extLst>
          </p:cNvPr>
          <p:cNvSpPr txBox="1"/>
          <p:nvPr/>
        </p:nvSpPr>
        <p:spPr>
          <a:xfrm>
            <a:off x="6055140" y="1638344"/>
            <a:ext cx="2118337" cy="461665"/>
          </a:xfrm>
          <a:prstGeom prst="rect">
            <a:avLst/>
          </a:prstGeom>
          <a:noFill/>
        </p:spPr>
        <p:txBody>
          <a:bodyPr wrap="none" rtlCol="0">
            <a:spAutoFit/>
          </a:bodyPr>
          <a:lstStyle/>
          <a:p>
            <a:r>
              <a:rPr lang="en-US" sz="2400" b="1" dirty="0"/>
              <a:t>Level 3 ( K &amp; L )</a:t>
            </a:r>
          </a:p>
        </p:txBody>
      </p:sp>
      <p:graphicFrame>
        <p:nvGraphicFramePr>
          <p:cNvPr id="11" name="Diagram 10">
            <a:extLst>
              <a:ext uri="{FF2B5EF4-FFF2-40B4-BE49-F238E27FC236}">
                <a16:creationId xmlns:a16="http://schemas.microsoft.com/office/drawing/2014/main" id="{47D63A71-465D-49F9-B65E-3F2B1F2BAE87}"/>
              </a:ext>
            </a:extLst>
          </p:cNvPr>
          <p:cNvGraphicFramePr/>
          <p:nvPr>
            <p:extLst>
              <p:ext uri="{D42A27DB-BD31-4B8C-83A1-F6EECF244321}">
                <p14:modId xmlns:p14="http://schemas.microsoft.com/office/powerpoint/2010/main" val="2250126940"/>
              </p:ext>
            </p:extLst>
          </p:nvPr>
        </p:nvGraphicFramePr>
        <p:xfrm>
          <a:off x="0" y="-9525"/>
          <a:ext cx="792480" cy="8463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0141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48C7C0-1B84-40C9-9838-E52637D934EF}"/>
              </a:ext>
            </a:extLst>
          </p:cNvPr>
          <p:cNvSpPr txBox="1"/>
          <p:nvPr/>
        </p:nvSpPr>
        <p:spPr>
          <a:xfrm>
            <a:off x="2018292" y="201361"/>
            <a:ext cx="3889463" cy="523220"/>
          </a:xfrm>
          <a:prstGeom prst="rect">
            <a:avLst/>
          </a:prstGeom>
          <a:noFill/>
        </p:spPr>
        <p:txBody>
          <a:bodyPr wrap="none" rtlCol="0">
            <a:spAutoFit/>
          </a:bodyPr>
          <a:lstStyle/>
          <a:p>
            <a:pPr algn="ctr"/>
            <a:r>
              <a:rPr lang="en-US" sz="2800" b="1" dirty="0"/>
              <a:t>Change Agile - Resources</a:t>
            </a:r>
          </a:p>
        </p:txBody>
      </p:sp>
      <p:sp>
        <p:nvSpPr>
          <p:cNvPr id="42" name="TextBox 41">
            <a:extLst>
              <a:ext uri="{FF2B5EF4-FFF2-40B4-BE49-F238E27FC236}">
                <a16:creationId xmlns:a16="http://schemas.microsoft.com/office/drawing/2014/main" id="{550A49C3-D316-45F7-9BF2-10C3DDD00FE8}"/>
              </a:ext>
            </a:extLst>
          </p:cNvPr>
          <p:cNvSpPr txBox="1"/>
          <p:nvPr/>
        </p:nvSpPr>
        <p:spPr>
          <a:xfrm>
            <a:off x="5040603" y="1258734"/>
            <a:ext cx="3609753" cy="923330"/>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can I use the Change Agile Leadership Behaviors  to drive the business agenda?</a:t>
            </a:r>
          </a:p>
        </p:txBody>
      </p:sp>
      <p:cxnSp>
        <p:nvCxnSpPr>
          <p:cNvPr id="43" name="Straight Connector 42">
            <a:extLst>
              <a:ext uri="{FF2B5EF4-FFF2-40B4-BE49-F238E27FC236}">
                <a16:creationId xmlns:a16="http://schemas.microsoft.com/office/drawing/2014/main" id="{76A36D67-5B66-445F-86F8-2E5D94D3AEF3}"/>
              </a:ext>
            </a:extLst>
          </p:cNvPr>
          <p:cNvCxnSpPr/>
          <p:nvPr/>
        </p:nvCxnSpPr>
        <p:spPr>
          <a:xfrm>
            <a:off x="0" y="777811"/>
            <a:ext cx="4607794" cy="0"/>
          </a:xfrm>
          <a:prstGeom prst="line">
            <a:avLst/>
          </a:prstGeom>
          <a:noFill/>
          <a:ln w="6350" cap="flat" cmpd="sng" algn="ctr">
            <a:solidFill>
              <a:srgbClr val="4472C4"/>
            </a:solidFill>
            <a:prstDash val="solid"/>
            <a:miter lim="800000"/>
          </a:ln>
          <a:effectLst/>
        </p:spPr>
      </p:cxnSp>
      <p:sp>
        <p:nvSpPr>
          <p:cNvPr id="45" name="TextBox 44">
            <a:extLst>
              <a:ext uri="{FF2B5EF4-FFF2-40B4-BE49-F238E27FC236}">
                <a16:creationId xmlns:a16="http://schemas.microsoft.com/office/drawing/2014/main" id="{EBBBCA0A-EED7-4622-9AAE-709549716A4B}"/>
              </a:ext>
            </a:extLst>
          </p:cNvPr>
          <p:cNvSpPr txBox="1"/>
          <p:nvPr/>
        </p:nvSpPr>
        <p:spPr>
          <a:xfrm>
            <a:off x="5040603" y="2450495"/>
            <a:ext cx="3609753" cy="923330"/>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What are those workplace actions that I can reset with the help of the change agile behaviors?</a:t>
            </a:r>
          </a:p>
        </p:txBody>
      </p:sp>
      <p:sp>
        <p:nvSpPr>
          <p:cNvPr id="46" name="TextBox 45">
            <a:extLst>
              <a:ext uri="{FF2B5EF4-FFF2-40B4-BE49-F238E27FC236}">
                <a16:creationId xmlns:a16="http://schemas.microsoft.com/office/drawing/2014/main" id="{B1DAF3C7-F5F6-4BD3-9785-F3299423D2D7}"/>
              </a:ext>
            </a:extLst>
          </p:cNvPr>
          <p:cNvSpPr txBox="1"/>
          <p:nvPr/>
        </p:nvSpPr>
        <p:spPr>
          <a:xfrm>
            <a:off x="5040602" y="3740125"/>
            <a:ext cx="3778219" cy="923330"/>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How can I accelerate some of my business outcomes by being more change agile? </a:t>
            </a:r>
          </a:p>
        </p:txBody>
      </p:sp>
      <p:pic>
        <p:nvPicPr>
          <p:cNvPr id="47" name="Picture 46">
            <a:extLst>
              <a:ext uri="{FF2B5EF4-FFF2-40B4-BE49-F238E27FC236}">
                <a16:creationId xmlns:a16="http://schemas.microsoft.com/office/drawing/2014/main" id="{6E7985B9-460F-4E7D-A536-BFD93361DE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08085" y="3796750"/>
            <a:ext cx="898601" cy="898601"/>
          </a:xfrm>
          <a:prstGeom prst="rect">
            <a:avLst/>
          </a:prstGeom>
        </p:spPr>
      </p:pic>
      <p:pic>
        <p:nvPicPr>
          <p:cNvPr id="48" name="Picture 47">
            <a:extLst>
              <a:ext uri="{FF2B5EF4-FFF2-40B4-BE49-F238E27FC236}">
                <a16:creationId xmlns:a16="http://schemas.microsoft.com/office/drawing/2014/main" id="{012439CA-004B-485B-9D78-EE3B2D2204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99034" y="1353146"/>
            <a:ext cx="828918" cy="828918"/>
          </a:xfrm>
          <a:prstGeom prst="rect">
            <a:avLst/>
          </a:prstGeom>
        </p:spPr>
      </p:pic>
      <p:pic>
        <p:nvPicPr>
          <p:cNvPr id="49" name="Picture 48">
            <a:extLst>
              <a:ext uri="{FF2B5EF4-FFF2-40B4-BE49-F238E27FC236}">
                <a16:creationId xmlns:a16="http://schemas.microsoft.com/office/drawing/2014/main" id="{F1F036CF-0C10-4796-A2AF-438F6506D7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48960" y="2449462"/>
            <a:ext cx="898602" cy="898602"/>
          </a:xfrm>
          <a:prstGeom prst="rect">
            <a:avLst/>
          </a:prstGeom>
        </p:spPr>
      </p:pic>
      <p:grpSp>
        <p:nvGrpSpPr>
          <p:cNvPr id="50" name="Group 49">
            <a:extLst>
              <a:ext uri="{FF2B5EF4-FFF2-40B4-BE49-F238E27FC236}">
                <a16:creationId xmlns:a16="http://schemas.microsoft.com/office/drawing/2014/main" id="{94158EA9-AEFC-451F-A11A-08EAC37BCABF}"/>
              </a:ext>
            </a:extLst>
          </p:cNvPr>
          <p:cNvGrpSpPr/>
          <p:nvPr/>
        </p:nvGrpSpPr>
        <p:grpSpPr>
          <a:xfrm>
            <a:off x="32549" y="805701"/>
            <a:ext cx="3875536" cy="3156699"/>
            <a:chOff x="201750" y="1092352"/>
            <a:chExt cx="3514703" cy="3156699"/>
          </a:xfrm>
        </p:grpSpPr>
        <p:sp>
          <p:nvSpPr>
            <p:cNvPr id="51" name="Rectangle: Rounded Corners 50">
              <a:extLst>
                <a:ext uri="{FF2B5EF4-FFF2-40B4-BE49-F238E27FC236}">
                  <a16:creationId xmlns:a16="http://schemas.microsoft.com/office/drawing/2014/main" id="{85C1AF67-482C-48C7-8F54-F7BE2BE8E9C6}"/>
                </a:ext>
              </a:extLst>
            </p:cNvPr>
            <p:cNvSpPr/>
            <p:nvPr/>
          </p:nvSpPr>
          <p:spPr>
            <a:xfrm>
              <a:off x="223248" y="1305365"/>
              <a:ext cx="3493205" cy="2943686"/>
            </a:xfrm>
            <a:prstGeom prst="roundRect">
              <a:avLst>
                <a:gd name="adj" fmla="val 9183"/>
              </a:avLst>
            </a:prstGeom>
            <a:solidFill>
              <a:sysClr val="window" lastClr="FFFFFF">
                <a:lumMod val="8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3" name="Picture 52">
              <a:extLst>
                <a:ext uri="{FF2B5EF4-FFF2-40B4-BE49-F238E27FC236}">
                  <a16:creationId xmlns:a16="http://schemas.microsoft.com/office/drawing/2014/main" id="{79218B48-FE01-4308-AE43-1C4CEBFC183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1750" y="1092352"/>
              <a:ext cx="578841" cy="578841"/>
            </a:xfrm>
            <a:prstGeom prst="rect">
              <a:avLst/>
            </a:prstGeom>
          </p:spPr>
        </p:pic>
        <p:sp>
          <p:nvSpPr>
            <p:cNvPr id="56" name="TextBox 55">
              <a:extLst>
                <a:ext uri="{FF2B5EF4-FFF2-40B4-BE49-F238E27FC236}">
                  <a16:creationId xmlns:a16="http://schemas.microsoft.com/office/drawing/2014/main" id="{127BA1E8-A52C-4CC9-BAAA-710748BBDEE4}"/>
                </a:ext>
              </a:extLst>
            </p:cNvPr>
            <p:cNvSpPr txBox="1"/>
            <p:nvPr/>
          </p:nvSpPr>
          <p:spPr>
            <a:xfrm>
              <a:off x="566671" y="1306347"/>
              <a:ext cx="3033496" cy="461665"/>
            </a:xfrm>
            <a:prstGeom prst="rect">
              <a:avLst/>
            </a:prstGeom>
            <a:noFill/>
          </p:spPr>
          <p:txBody>
            <a:bodyPr wrap="square" rtlCol="0">
              <a:spAutoFit/>
            </a:bodyPr>
            <a:lstStyle/>
            <a:p>
              <a:pPr marL="0" marR="0" lvl="0" indent="0" defTabSz="914286" eaLnBrk="1" fontAlgn="ctr"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cs typeface="Calibri" panose="020F0502020204030204" pitchFamily="34" charset="0"/>
                </a:rPr>
                <a:t>Additional Resources</a:t>
              </a:r>
            </a:p>
          </p:txBody>
        </p:sp>
      </p:grpSp>
      <p:pic>
        <p:nvPicPr>
          <p:cNvPr id="57" name="Picture 56">
            <a:extLst>
              <a:ext uri="{FF2B5EF4-FFF2-40B4-BE49-F238E27FC236}">
                <a16:creationId xmlns:a16="http://schemas.microsoft.com/office/drawing/2014/main" id="{4F596E90-8908-49E5-8CBD-D4AF6F5A377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8960" y="5129944"/>
            <a:ext cx="898601" cy="898601"/>
          </a:xfrm>
          <a:prstGeom prst="rect">
            <a:avLst/>
          </a:prstGeom>
        </p:spPr>
      </p:pic>
      <p:sp>
        <p:nvSpPr>
          <p:cNvPr id="58" name="TextBox 57">
            <a:extLst>
              <a:ext uri="{FF2B5EF4-FFF2-40B4-BE49-F238E27FC236}">
                <a16:creationId xmlns:a16="http://schemas.microsoft.com/office/drawing/2014/main" id="{88FEB467-08D7-4DA8-AF9D-99EB0D8DB696}"/>
              </a:ext>
            </a:extLst>
          </p:cNvPr>
          <p:cNvSpPr txBox="1"/>
          <p:nvPr/>
        </p:nvSpPr>
        <p:spPr>
          <a:xfrm>
            <a:off x="5082052" y="5330522"/>
            <a:ext cx="3945399" cy="923330"/>
          </a:xfrm>
          <a:prstGeom prst="rect">
            <a:avLst/>
          </a:prstGeom>
          <a:noFill/>
        </p:spPr>
        <p:txBody>
          <a:bodyPr wrap="square" rtlCol="0">
            <a:spAutoFit/>
          </a:bodyPr>
          <a:lstStyle/>
          <a:p>
            <a:pPr defTabSz="914286" fontAlgn="ctr">
              <a:defRPr/>
            </a:pPr>
            <a:r>
              <a:rPr lang="en-US" dirty="0">
                <a:solidFill>
                  <a:prstClr val="black"/>
                </a:solidFill>
                <a:cs typeface="Calibri" panose="020F0502020204030204" pitchFamily="34" charset="0"/>
              </a:rPr>
              <a:t>What could you be doing more of to support your team be more change agile? </a:t>
            </a:r>
          </a:p>
        </p:txBody>
      </p:sp>
      <p:graphicFrame>
        <p:nvGraphicFramePr>
          <p:cNvPr id="60" name="Table 59">
            <a:extLst>
              <a:ext uri="{FF2B5EF4-FFF2-40B4-BE49-F238E27FC236}">
                <a16:creationId xmlns:a16="http://schemas.microsoft.com/office/drawing/2014/main" id="{AFCE439E-28B5-4EBA-8AB2-B276A6F2710C}"/>
              </a:ext>
            </a:extLst>
          </p:cNvPr>
          <p:cNvGraphicFramePr>
            <a:graphicFrameLocks noGrp="1"/>
          </p:cNvGraphicFramePr>
          <p:nvPr>
            <p:extLst>
              <p:ext uri="{D42A27DB-BD31-4B8C-83A1-F6EECF244321}">
                <p14:modId xmlns:p14="http://schemas.microsoft.com/office/powerpoint/2010/main" val="39936652"/>
              </p:ext>
            </p:extLst>
          </p:nvPr>
        </p:nvGraphicFramePr>
        <p:xfrm>
          <a:off x="69641" y="1524198"/>
          <a:ext cx="3851831" cy="2377440"/>
        </p:xfrm>
        <a:graphic>
          <a:graphicData uri="http://schemas.openxmlformats.org/drawingml/2006/table">
            <a:tbl>
              <a:tblPr/>
              <a:tblGrid>
                <a:gridCol w="542046">
                  <a:extLst>
                    <a:ext uri="{9D8B030D-6E8A-4147-A177-3AD203B41FA5}">
                      <a16:colId xmlns:a16="http://schemas.microsoft.com/office/drawing/2014/main" val="2292092926"/>
                    </a:ext>
                  </a:extLst>
                </a:gridCol>
                <a:gridCol w="3309785">
                  <a:extLst>
                    <a:ext uri="{9D8B030D-6E8A-4147-A177-3AD203B41FA5}">
                      <a16:colId xmlns:a16="http://schemas.microsoft.com/office/drawing/2014/main" val="3333233995"/>
                    </a:ext>
                  </a:extLst>
                </a:gridCol>
              </a:tblGrid>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1</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8"/>
                        </a:rPr>
                        <a:t>McKinsey-Leading Agile Transformation-The new capabilities leaders need to build 21st-century organizations</a:t>
                      </a:r>
                      <a:endParaRPr lang="en-US" sz="1400" u="sng" strike="noStrike" dirty="0">
                        <a:effectLst/>
                      </a:endParaRPr>
                    </a:p>
                    <a:p>
                      <a:pPr algn="l" fontAlgn="b"/>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48742838"/>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2</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9"/>
                        </a:rPr>
                        <a:t>BCG-Do You Have the Courage to Be an Agile Leader?</a:t>
                      </a:r>
                      <a:endParaRPr lang="en-US" sz="1400" u="sng" strike="noStrike" dirty="0">
                        <a:effectLst/>
                      </a:endParaRPr>
                    </a:p>
                    <a:p>
                      <a:pPr algn="l" fontAlgn="b"/>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92654841"/>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3</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10"/>
                        </a:rPr>
                        <a:t>The Leadership Agility Factor </a:t>
                      </a:r>
                      <a:endParaRPr lang="en-US" sz="1400" u="sng" strike="noStrike" dirty="0">
                        <a:effectLst/>
                      </a:endParaRPr>
                    </a:p>
                    <a:p>
                      <a:pPr algn="l" fontAlgn="b"/>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39569084"/>
                  </a:ext>
                </a:extLst>
              </a:tr>
              <a:tr h="19050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4</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l" fontAlgn="b"/>
                      <a:r>
                        <a:rPr lang="en-US" sz="1400" b="0" i="0" u="sng" strike="noStrike" dirty="0">
                          <a:solidFill>
                            <a:srgbClr val="0563C1"/>
                          </a:solidFill>
                          <a:effectLst/>
                          <a:latin typeface="Calibri" panose="020F0502020204030204" pitchFamily="34" charset="0"/>
                          <a:hlinkClick r:id="rId11"/>
                        </a:rPr>
                        <a:t>How to build Change capability with structure and intent?</a:t>
                      </a:r>
                      <a:endParaRPr lang="en-US" sz="1400" b="0" i="0" u="sng" strike="noStrike" dirty="0">
                        <a:solidFill>
                          <a:srgbClr val="0563C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400111781"/>
                  </a:ext>
                </a:extLst>
              </a:tr>
            </a:tbl>
          </a:graphicData>
        </a:graphic>
      </p:graphicFrame>
      <p:pic>
        <p:nvPicPr>
          <p:cNvPr id="19" name="Picture 18">
            <a:extLst>
              <a:ext uri="{FF2B5EF4-FFF2-40B4-BE49-F238E27FC236}">
                <a16:creationId xmlns:a16="http://schemas.microsoft.com/office/drawing/2014/main" id="{D8040274-B690-4ED5-9CEE-7C7A78BBBB6D}"/>
              </a:ext>
            </a:extLst>
          </p:cNvPr>
          <p:cNvPicPr>
            <a:picLocks noChangeAspect="1"/>
          </p:cNvPicPr>
          <p:nvPr/>
        </p:nvPicPr>
        <p:blipFill rotWithShape="1">
          <a:blip r:embed="rId12">
            <a:extLst>
              <a:ext uri="{28A0092B-C50C-407E-A947-70E740481C1C}">
                <a14:useLocalDpi xmlns:a14="http://schemas.microsoft.com/office/drawing/2010/main" val="0"/>
              </a:ext>
            </a:extLst>
          </a:blip>
          <a:srcRect t="25494"/>
          <a:stretch/>
        </p:blipFill>
        <p:spPr>
          <a:xfrm>
            <a:off x="59678" y="4309716"/>
            <a:ext cx="3861793" cy="2091084"/>
          </a:xfrm>
          <a:prstGeom prst="rect">
            <a:avLst/>
          </a:prstGeom>
        </p:spPr>
      </p:pic>
      <p:graphicFrame>
        <p:nvGraphicFramePr>
          <p:cNvPr id="20" name="Diagram 19">
            <a:extLst>
              <a:ext uri="{FF2B5EF4-FFF2-40B4-BE49-F238E27FC236}">
                <a16:creationId xmlns:a16="http://schemas.microsoft.com/office/drawing/2014/main" id="{619D1871-1097-489A-8385-E841046A1409}"/>
              </a:ext>
            </a:extLst>
          </p:cNvPr>
          <p:cNvGraphicFramePr/>
          <p:nvPr>
            <p:extLst>
              <p:ext uri="{D42A27DB-BD31-4B8C-83A1-F6EECF244321}">
                <p14:modId xmlns:p14="http://schemas.microsoft.com/office/powerpoint/2010/main" val="2250126940"/>
              </p:ext>
            </p:extLst>
          </p:nvPr>
        </p:nvGraphicFramePr>
        <p:xfrm>
          <a:off x="0" y="-9525"/>
          <a:ext cx="792480" cy="84638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113577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1918B5-8AA7-4EE8-A112-BC365ACC5239}"/>
              </a:ext>
            </a:extLst>
          </p:cNvPr>
          <p:cNvSpPr txBox="1"/>
          <p:nvPr/>
        </p:nvSpPr>
        <p:spPr>
          <a:xfrm>
            <a:off x="335117" y="52743"/>
            <a:ext cx="3938487" cy="180730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latin typeface="+mj-lt"/>
                <a:ea typeface="+mj-ea"/>
                <a:cs typeface="+mj-cs"/>
              </a:rPr>
              <a:t>Inspire our People</a:t>
            </a:r>
          </a:p>
        </p:txBody>
      </p:sp>
      <p:sp>
        <p:nvSpPr>
          <p:cNvPr id="5" name="TextBox 4">
            <a:extLst>
              <a:ext uri="{FF2B5EF4-FFF2-40B4-BE49-F238E27FC236}">
                <a16:creationId xmlns:a16="http://schemas.microsoft.com/office/drawing/2014/main" id="{418DD51E-0D04-44A2-90EA-53DB519F0611}"/>
              </a:ext>
            </a:extLst>
          </p:cNvPr>
          <p:cNvSpPr txBox="1"/>
          <p:nvPr/>
        </p:nvSpPr>
        <p:spPr>
          <a:xfrm>
            <a:off x="243154" y="1860048"/>
            <a:ext cx="3464715" cy="3843666"/>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b="1" dirty="0"/>
              <a:t>Engaging Leadership</a:t>
            </a:r>
          </a:p>
          <a:p>
            <a:pPr marL="285750" indent="-228600">
              <a:lnSpc>
                <a:spcPct val="90000"/>
              </a:lnSpc>
              <a:spcAft>
                <a:spcPts val="600"/>
              </a:spcAft>
              <a:buFont typeface="Arial" panose="020B0604020202020204" pitchFamily="34" charset="0"/>
              <a:buChar char="•"/>
            </a:pPr>
            <a:r>
              <a:rPr lang="en-US" b="1" dirty="0"/>
              <a:t>Influence and Challenge</a:t>
            </a:r>
          </a:p>
          <a:p>
            <a:pPr marL="285750" indent="-228600">
              <a:lnSpc>
                <a:spcPct val="90000"/>
              </a:lnSpc>
              <a:spcAft>
                <a:spcPts val="600"/>
              </a:spcAft>
              <a:buFont typeface="Arial" panose="020B0604020202020204" pitchFamily="34" charset="0"/>
              <a:buChar char="•"/>
            </a:pPr>
            <a:endParaRPr lang="en-US" b="1" dirty="0"/>
          </a:p>
        </p:txBody>
      </p:sp>
      <p:graphicFrame>
        <p:nvGraphicFramePr>
          <p:cNvPr id="10" name="Diagram 9">
            <a:extLst>
              <a:ext uri="{FF2B5EF4-FFF2-40B4-BE49-F238E27FC236}">
                <a16:creationId xmlns:a16="http://schemas.microsoft.com/office/drawing/2014/main" id="{E28191FD-03E5-4AFA-8EE0-25285DA3B31D}"/>
              </a:ext>
            </a:extLst>
          </p:cNvPr>
          <p:cNvGraphicFramePr/>
          <p:nvPr>
            <p:extLst>
              <p:ext uri="{D42A27DB-BD31-4B8C-83A1-F6EECF244321}">
                <p14:modId xmlns:p14="http://schemas.microsoft.com/office/powerpoint/2010/main" val="3062928972"/>
              </p:ext>
            </p:extLst>
          </p:nvPr>
        </p:nvGraphicFramePr>
        <p:xfrm>
          <a:off x="-304800" y="2821374"/>
          <a:ext cx="5562600" cy="3983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descr="Free illustrations of Arrows">
            <a:extLst>
              <a:ext uri="{FF2B5EF4-FFF2-40B4-BE49-F238E27FC236}">
                <a16:creationId xmlns:a16="http://schemas.microsoft.com/office/drawing/2014/main" id="{21943B62-0FBE-4B7F-B1C0-A1ABE5FAAC2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8307" r="16743"/>
          <a:stretch/>
        </p:blipFill>
        <p:spPr bwMode="auto">
          <a:xfrm flipH="1">
            <a:off x="4466091" y="1981200"/>
            <a:ext cx="4677907" cy="4745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277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B4FA0-CECE-410A-A1FE-EB3E349E4D91}"/>
              </a:ext>
            </a:extLst>
          </p:cNvPr>
          <p:cNvSpPr txBox="1"/>
          <p:nvPr/>
        </p:nvSpPr>
        <p:spPr>
          <a:xfrm>
            <a:off x="-13010" y="831616"/>
            <a:ext cx="9067800" cy="923330"/>
          </a:xfrm>
          <a:prstGeom prst="rect">
            <a:avLst/>
          </a:prstGeom>
          <a:noFill/>
        </p:spPr>
        <p:txBody>
          <a:bodyPr wrap="square">
            <a:spAutoFit/>
          </a:bodyPr>
          <a:lstStyle/>
          <a:p>
            <a:r>
              <a:rPr lang="en-US" dirty="0"/>
              <a:t>Inspire people through a compelling vision fueled by a culture of support, enablement and empathy. Building a safe environment for employees to be at their best, feel included and valued.  </a:t>
            </a:r>
          </a:p>
        </p:txBody>
      </p:sp>
      <p:sp>
        <p:nvSpPr>
          <p:cNvPr id="4" name="TextBox 3">
            <a:extLst>
              <a:ext uri="{FF2B5EF4-FFF2-40B4-BE49-F238E27FC236}">
                <a16:creationId xmlns:a16="http://schemas.microsoft.com/office/drawing/2014/main" id="{ED48C7C0-1B84-40C9-9838-E52637D934EF}"/>
              </a:ext>
            </a:extLst>
          </p:cNvPr>
          <p:cNvSpPr txBox="1"/>
          <p:nvPr/>
        </p:nvSpPr>
        <p:spPr>
          <a:xfrm>
            <a:off x="2392796" y="198825"/>
            <a:ext cx="3647986" cy="584775"/>
          </a:xfrm>
          <a:prstGeom prst="rect">
            <a:avLst/>
          </a:prstGeom>
          <a:noFill/>
        </p:spPr>
        <p:txBody>
          <a:bodyPr wrap="none" rtlCol="0">
            <a:spAutoFit/>
          </a:bodyPr>
          <a:lstStyle/>
          <a:p>
            <a:pPr algn="ctr"/>
            <a:r>
              <a:rPr lang="en-US" sz="3200" b="1" dirty="0"/>
              <a:t>Engaging Leadership</a:t>
            </a:r>
          </a:p>
        </p:txBody>
      </p:sp>
      <p:sp>
        <p:nvSpPr>
          <p:cNvPr id="5" name="Rectangle: Rounded Corners 4">
            <a:extLst>
              <a:ext uri="{FF2B5EF4-FFF2-40B4-BE49-F238E27FC236}">
                <a16:creationId xmlns:a16="http://schemas.microsoft.com/office/drawing/2014/main" id="{8551ECE5-EA68-462A-9929-A829AF965E98}"/>
              </a:ext>
            </a:extLst>
          </p:cNvPr>
          <p:cNvSpPr/>
          <p:nvPr/>
        </p:nvSpPr>
        <p:spPr>
          <a:xfrm>
            <a:off x="37886" y="2037572"/>
            <a:ext cx="2933914" cy="4621604"/>
          </a:xfrm>
          <a:prstGeom prst="roundRect">
            <a:avLst/>
          </a:prstGeom>
          <a:solidFill>
            <a:schemeClr val="bg1">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b="0" i="0" u="none" strike="noStrike" dirty="0">
                <a:solidFill>
                  <a:schemeClr val="tx1"/>
                </a:solidFill>
                <a:effectLst/>
                <a:latin typeface="Calibri" panose="020F0502020204030204" pitchFamily="34" charset="0"/>
              </a:rPr>
              <a:t>Fosters a  sense of team spirit, alignment and purpose</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Treats people fairly and considerately at work</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Engages and enables, team members to grow</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Adapts behavioral style to different personality styles.</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Listens &amp; empathizes before responding to situations.</a:t>
            </a:r>
          </a:p>
          <a:p>
            <a:pPr algn="l" fontAlgn="ctr"/>
            <a:endParaRPr lang="en-US" sz="1200" b="0" i="0" u="none" strike="noStrike" dirty="0">
              <a:solidFill>
                <a:schemeClr val="tx1"/>
              </a:solidFill>
              <a:effectLst/>
              <a:latin typeface="Calibri" panose="020F0502020204030204" pitchFamily="34" charset="0"/>
            </a:endParaRPr>
          </a:p>
          <a:p>
            <a:pPr algn="l" fontAlgn="ctr"/>
            <a:r>
              <a:rPr lang="en-US" sz="1200" b="0" i="0" u="none" strike="noStrike" dirty="0">
                <a:solidFill>
                  <a:schemeClr val="tx1"/>
                </a:solidFill>
                <a:effectLst/>
                <a:latin typeface="Calibri" panose="020F0502020204030204" pitchFamily="34" charset="0"/>
              </a:rPr>
              <a:t>Demonstrates understanding of their own impact on others</a:t>
            </a:r>
          </a:p>
        </p:txBody>
      </p:sp>
      <p:sp>
        <p:nvSpPr>
          <p:cNvPr id="15" name="Rectangle: Rounded Corners 14">
            <a:extLst>
              <a:ext uri="{FF2B5EF4-FFF2-40B4-BE49-F238E27FC236}">
                <a16:creationId xmlns:a16="http://schemas.microsoft.com/office/drawing/2014/main" id="{6FC54FCF-D174-4422-AF02-A0E4D075AA5D}"/>
              </a:ext>
            </a:extLst>
          </p:cNvPr>
          <p:cNvSpPr/>
          <p:nvPr/>
        </p:nvSpPr>
        <p:spPr>
          <a:xfrm>
            <a:off x="2863155" y="2034589"/>
            <a:ext cx="3156645" cy="4641431"/>
          </a:xfrm>
          <a:prstGeom prst="roundRect">
            <a:avLst/>
          </a:prstGeom>
          <a:solidFill>
            <a:schemeClr val="bg2">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Leverages emotional intelligence, while building trust and alignment with team members, stakeholder&amp; customers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Empowers others &amp; shows a genuine interest in seeing the team members grow and flourish</a:t>
            </a:r>
          </a:p>
          <a:p>
            <a:pPr algn="l" fontAlgn="ctr"/>
            <a:endParaRPr lang="en-US" sz="1200" dirty="0">
              <a:solidFill>
                <a:schemeClr val="bg1"/>
              </a:solidFill>
              <a:latin typeface="Calibri" panose="020F0502020204030204" pitchFamily="34" charset="0"/>
            </a:endParaRPr>
          </a:p>
          <a:p>
            <a:pPr fontAlgn="ctr"/>
            <a:r>
              <a:rPr lang="en-US" sz="1200" dirty="0">
                <a:solidFill>
                  <a:schemeClr val="bg1"/>
                </a:solidFill>
                <a:latin typeface="Calibri" panose="020F0502020204030204" pitchFamily="34" charset="0"/>
              </a:rPr>
              <a:t>Leads with empathy &amp; consideration during difficult situations, while advocating for healthy conflict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Promotes a collaborative work environment</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Facilitates the connection between people's motivators and organizational goals</a:t>
            </a:r>
          </a:p>
          <a:p>
            <a:pPr algn="l" fontAlgn="ctr"/>
            <a:r>
              <a:rPr lang="en-US" sz="1200" dirty="0">
                <a:solidFill>
                  <a:schemeClr val="bg1"/>
                </a:solidFill>
                <a:latin typeface="Calibri" panose="020F0502020204030204" pitchFamily="34" charset="0"/>
              </a:rPr>
              <a:t> </a:t>
            </a:r>
          </a:p>
          <a:p>
            <a:pPr algn="l" fontAlgn="ctr"/>
            <a:r>
              <a:rPr lang="en-US" sz="1200" dirty="0">
                <a:solidFill>
                  <a:schemeClr val="bg1"/>
                </a:solidFill>
                <a:latin typeface="Calibri" panose="020F0502020204030204" pitchFamily="34" charset="0"/>
              </a:rPr>
              <a:t>Recognizes &amp; encourages contributions of others.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Is able to bring learning out of all situations, including mistakes and failure</a:t>
            </a:r>
          </a:p>
          <a:p>
            <a:pPr algn="l" fontAlgn="ctr"/>
            <a:endParaRPr lang="en-US" sz="1200" dirty="0">
              <a:solidFill>
                <a:schemeClr val="bg1"/>
              </a:solidFill>
              <a:latin typeface="Calibri" panose="020F0502020204030204" pitchFamily="34" charset="0"/>
            </a:endParaRPr>
          </a:p>
        </p:txBody>
      </p:sp>
      <p:sp>
        <p:nvSpPr>
          <p:cNvPr id="16" name="Rectangle: Rounded Corners 15">
            <a:extLst>
              <a:ext uri="{FF2B5EF4-FFF2-40B4-BE49-F238E27FC236}">
                <a16:creationId xmlns:a16="http://schemas.microsoft.com/office/drawing/2014/main" id="{940B7297-2D4C-4213-A50D-E4A168DCB0A3}"/>
              </a:ext>
            </a:extLst>
          </p:cNvPr>
          <p:cNvSpPr/>
          <p:nvPr/>
        </p:nvSpPr>
        <p:spPr>
          <a:xfrm>
            <a:off x="5834954" y="2034589"/>
            <a:ext cx="3156645" cy="4635534"/>
          </a:xfrm>
          <a:prstGeom prst="roundRect">
            <a:avLst/>
          </a:prstGeom>
          <a:solidFill>
            <a:schemeClr val="tx1">
              <a:lumMod val="85000"/>
              <a:lumOff val="1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Passionately communicates the vision and gains alignment and acceptance.</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Creates a compelling environment that enables managers and leaders to support others to be their best at work.</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Inspires &amp; role models engagement inclusion and empathy.</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Drives an open communication 'speak-up' culture.</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Champions a learning culture, where reflection on wins and misses are capitalized on, in all that we do.</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Role models and demands trustworthy behavior from others.</a:t>
            </a:r>
          </a:p>
          <a:p>
            <a:pPr algn="l" fontAlgn="ctr"/>
            <a:endParaRPr lang="en-US" sz="1200" dirty="0">
              <a:solidFill>
                <a:schemeClr val="bg1"/>
              </a:solidFill>
              <a:latin typeface="Calibri" panose="020F0502020204030204" pitchFamily="34" charset="0"/>
            </a:endParaRPr>
          </a:p>
        </p:txBody>
      </p:sp>
      <p:sp>
        <p:nvSpPr>
          <p:cNvPr id="7" name="TextBox 6">
            <a:extLst>
              <a:ext uri="{FF2B5EF4-FFF2-40B4-BE49-F238E27FC236}">
                <a16:creationId xmlns:a16="http://schemas.microsoft.com/office/drawing/2014/main" id="{245AF605-1469-4C89-9959-55611E5A9208}"/>
              </a:ext>
            </a:extLst>
          </p:cNvPr>
          <p:cNvSpPr txBox="1"/>
          <p:nvPr/>
        </p:nvSpPr>
        <p:spPr>
          <a:xfrm>
            <a:off x="323743" y="1588045"/>
            <a:ext cx="2140779" cy="461665"/>
          </a:xfrm>
          <a:prstGeom prst="rect">
            <a:avLst/>
          </a:prstGeom>
          <a:noFill/>
        </p:spPr>
        <p:txBody>
          <a:bodyPr wrap="none" rtlCol="0">
            <a:spAutoFit/>
          </a:bodyPr>
          <a:lstStyle/>
          <a:p>
            <a:r>
              <a:rPr lang="en-US" sz="2400" b="1" dirty="0"/>
              <a:t>Level 1 (G &amp; H )</a:t>
            </a:r>
          </a:p>
        </p:txBody>
      </p:sp>
      <p:sp>
        <p:nvSpPr>
          <p:cNvPr id="18" name="TextBox 17">
            <a:extLst>
              <a:ext uri="{FF2B5EF4-FFF2-40B4-BE49-F238E27FC236}">
                <a16:creationId xmlns:a16="http://schemas.microsoft.com/office/drawing/2014/main" id="{2F923E22-1B1D-4345-9D18-5A2A98CA08A9}"/>
              </a:ext>
            </a:extLst>
          </p:cNvPr>
          <p:cNvSpPr txBox="1"/>
          <p:nvPr/>
        </p:nvSpPr>
        <p:spPr>
          <a:xfrm>
            <a:off x="3169304" y="1525606"/>
            <a:ext cx="2004523" cy="461665"/>
          </a:xfrm>
          <a:prstGeom prst="rect">
            <a:avLst/>
          </a:prstGeom>
          <a:noFill/>
        </p:spPr>
        <p:txBody>
          <a:bodyPr wrap="none" rtlCol="0">
            <a:spAutoFit/>
          </a:bodyPr>
          <a:lstStyle/>
          <a:p>
            <a:r>
              <a:rPr lang="en-US" sz="2400" b="1" dirty="0"/>
              <a:t>Level 2 ( I &amp; J )</a:t>
            </a:r>
          </a:p>
        </p:txBody>
      </p:sp>
      <p:sp>
        <p:nvSpPr>
          <p:cNvPr id="19" name="TextBox 18">
            <a:extLst>
              <a:ext uri="{FF2B5EF4-FFF2-40B4-BE49-F238E27FC236}">
                <a16:creationId xmlns:a16="http://schemas.microsoft.com/office/drawing/2014/main" id="{DDF57A31-24EC-478C-8CE5-B68FCCE1700B}"/>
              </a:ext>
            </a:extLst>
          </p:cNvPr>
          <p:cNvSpPr txBox="1"/>
          <p:nvPr/>
        </p:nvSpPr>
        <p:spPr>
          <a:xfrm>
            <a:off x="6075584" y="1525606"/>
            <a:ext cx="2118337" cy="461665"/>
          </a:xfrm>
          <a:prstGeom prst="rect">
            <a:avLst/>
          </a:prstGeom>
          <a:noFill/>
        </p:spPr>
        <p:txBody>
          <a:bodyPr wrap="none" rtlCol="0">
            <a:spAutoFit/>
          </a:bodyPr>
          <a:lstStyle/>
          <a:p>
            <a:r>
              <a:rPr lang="en-US" sz="2400" b="1" dirty="0"/>
              <a:t>Level 3 ( K &amp; L )</a:t>
            </a:r>
          </a:p>
        </p:txBody>
      </p:sp>
      <p:graphicFrame>
        <p:nvGraphicFramePr>
          <p:cNvPr id="12" name="Diagram 11">
            <a:extLst>
              <a:ext uri="{FF2B5EF4-FFF2-40B4-BE49-F238E27FC236}">
                <a16:creationId xmlns:a16="http://schemas.microsoft.com/office/drawing/2014/main" id="{F7526CB6-CCE2-484B-91F6-DE0F071F4FCE}"/>
              </a:ext>
            </a:extLst>
          </p:cNvPr>
          <p:cNvGraphicFramePr/>
          <p:nvPr>
            <p:extLst>
              <p:ext uri="{D42A27DB-BD31-4B8C-83A1-F6EECF244321}">
                <p14:modId xmlns:p14="http://schemas.microsoft.com/office/powerpoint/2010/main" val="27611823"/>
              </p:ext>
            </p:extLst>
          </p:nvPr>
        </p:nvGraphicFramePr>
        <p:xfrm>
          <a:off x="-152400" y="42502"/>
          <a:ext cx="1158240" cy="765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6478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48C7C0-1B84-40C9-9838-E52637D934EF}"/>
              </a:ext>
            </a:extLst>
          </p:cNvPr>
          <p:cNvSpPr txBox="1"/>
          <p:nvPr/>
        </p:nvSpPr>
        <p:spPr>
          <a:xfrm>
            <a:off x="1464584" y="201361"/>
            <a:ext cx="4996882" cy="523220"/>
          </a:xfrm>
          <a:prstGeom prst="rect">
            <a:avLst/>
          </a:prstGeom>
          <a:noFill/>
        </p:spPr>
        <p:txBody>
          <a:bodyPr wrap="none" rtlCol="0">
            <a:spAutoFit/>
          </a:bodyPr>
          <a:lstStyle/>
          <a:p>
            <a:pPr algn="ctr"/>
            <a:r>
              <a:rPr lang="en-US" sz="2800" b="1" dirty="0"/>
              <a:t>Engaging Leadership - Resources</a:t>
            </a:r>
          </a:p>
        </p:txBody>
      </p:sp>
      <p:sp>
        <p:nvSpPr>
          <p:cNvPr id="42" name="TextBox 41">
            <a:extLst>
              <a:ext uri="{FF2B5EF4-FFF2-40B4-BE49-F238E27FC236}">
                <a16:creationId xmlns:a16="http://schemas.microsoft.com/office/drawing/2014/main" id="{550A49C3-D316-45F7-9BF2-10C3DDD00FE8}"/>
              </a:ext>
            </a:extLst>
          </p:cNvPr>
          <p:cNvSpPr txBox="1"/>
          <p:nvPr/>
        </p:nvSpPr>
        <p:spPr>
          <a:xfrm>
            <a:off x="5040603" y="1290631"/>
            <a:ext cx="4047143" cy="923330"/>
          </a:xfrm>
          <a:prstGeom prst="rect">
            <a:avLst/>
          </a:prstGeom>
          <a:noFill/>
        </p:spPr>
        <p:txBody>
          <a:bodyPr wrap="square" rtlCol="0">
            <a:spAutoFit/>
          </a:bodyPr>
          <a:lstStyle/>
          <a:p>
            <a:pPr marL="0" marR="0" lvl="0" indent="0" algn="l" defTabSz="914286" rtl="0" eaLnBrk="1" fontAlgn="ctr" latinLnBrk="0" hangingPunct="1">
              <a:lnSpc>
                <a:spcPct val="100000"/>
              </a:lnSpc>
              <a:spcBef>
                <a:spcPts val="0"/>
              </a:spcBef>
              <a:spcAft>
                <a:spcPts val="0"/>
              </a:spcAft>
              <a:buClrTx/>
              <a:buSzTx/>
              <a:buFontTx/>
              <a:buNone/>
              <a:tabLst/>
              <a:defRPr/>
            </a:pPr>
            <a:r>
              <a:rPr kumimoji="0" lang="en-US" b="0" u="none" strike="noStrike" kern="1200" cap="none" spc="0" normalizeH="0" baseline="0" noProof="0" dirty="0">
                <a:ln>
                  <a:noFill/>
                </a:ln>
                <a:effectLst/>
                <a:uLnTx/>
                <a:uFillTx/>
                <a:cs typeface="Calibri" panose="020F0502020204030204" pitchFamily="34" charset="0"/>
              </a:rPr>
              <a:t>In which situations should I be leveraging the Engaging Leadership style to achieve a better outcome?</a:t>
            </a:r>
          </a:p>
        </p:txBody>
      </p:sp>
      <p:cxnSp>
        <p:nvCxnSpPr>
          <p:cNvPr id="43" name="Straight Connector 42">
            <a:extLst>
              <a:ext uri="{FF2B5EF4-FFF2-40B4-BE49-F238E27FC236}">
                <a16:creationId xmlns:a16="http://schemas.microsoft.com/office/drawing/2014/main" id="{76A36D67-5B66-445F-86F8-2E5D94D3AEF3}"/>
              </a:ext>
            </a:extLst>
          </p:cNvPr>
          <p:cNvCxnSpPr/>
          <p:nvPr/>
        </p:nvCxnSpPr>
        <p:spPr>
          <a:xfrm>
            <a:off x="0" y="777811"/>
            <a:ext cx="4607794" cy="0"/>
          </a:xfrm>
          <a:prstGeom prst="line">
            <a:avLst/>
          </a:prstGeom>
          <a:noFill/>
          <a:ln w="6350" cap="flat" cmpd="sng" algn="ctr">
            <a:solidFill>
              <a:srgbClr val="4472C4"/>
            </a:solidFill>
            <a:prstDash val="solid"/>
            <a:miter lim="800000"/>
          </a:ln>
          <a:effectLst/>
        </p:spPr>
      </p:cxnSp>
      <p:sp>
        <p:nvSpPr>
          <p:cNvPr id="45" name="TextBox 44">
            <a:extLst>
              <a:ext uri="{FF2B5EF4-FFF2-40B4-BE49-F238E27FC236}">
                <a16:creationId xmlns:a16="http://schemas.microsoft.com/office/drawing/2014/main" id="{EBBBCA0A-EED7-4622-9AAE-709549716A4B}"/>
              </a:ext>
            </a:extLst>
          </p:cNvPr>
          <p:cNvSpPr txBox="1"/>
          <p:nvPr/>
        </p:nvSpPr>
        <p:spPr>
          <a:xfrm>
            <a:off x="5048552" y="2748054"/>
            <a:ext cx="4103397" cy="923330"/>
          </a:xfrm>
          <a:prstGeom prst="rect">
            <a:avLst/>
          </a:prstGeom>
          <a:noFill/>
        </p:spPr>
        <p:txBody>
          <a:bodyPr wrap="square" rtlCol="0">
            <a:spAutoFit/>
          </a:bodyPr>
          <a:lstStyle/>
          <a:p>
            <a:pPr lvl="0" defTabSz="914286" fontAlgn="ctr">
              <a:defRPr/>
            </a:pPr>
            <a:r>
              <a:rPr kumimoji="0" lang="en-US" b="0" u="none" strike="noStrike" kern="1200" cap="none" spc="0" normalizeH="0" baseline="0" noProof="0" dirty="0">
                <a:ln>
                  <a:noFill/>
                </a:ln>
                <a:effectLst/>
                <a:uLnTx/>
                <a:uFillTx/>
                <a:cs typeface="Calibri" panose="020F0502020204030204" pitchFamily="34" charset="0"/>
              </a:rPr>
              <a:t>What actions and behaviors can I focus on strengthening in my working style to be more Engaging?</a:t>
            </a:r>
          </a:p>
        </p:txBody>
      </p:sp>
      <p:sp>
        <p:nvSpPr>
          <p:cNvPr id="46" name="TextBox 45">
            <a:extLst>
              <a:ext uri="{FF2B5EF4-FFF2-40B4-BE49-F238E27FC236}">
                <a16:creationId xmlns:a16="http://schemas.microsoft.com/office/drawing/2014/main" id="{B1DAF3C7-F5F6-4BD3-9785-F3299423D2D7}"/>
              </a:ext>
            </a:extLst>
          </p:cNvPr>
          <p:cNvSpPr txBox="1"/>
          <p:nvPr/>
        </p:nvSpPr>
        <p:spPr>
          <a:xfrm>
            <a:off x="5151064" y="3926634"/>
            <a:ext cx="4047144" cy="923330"/>
          </a:xfrm>
          <a:prstGeom prst="rect">
            <a:avLst/>
          </a:prstGeom>
          <a:noFill/>
        </p:spPr>
        <p:txBody>
          <a:bodyPr wrap="square" rtlCol="0">
            <a:spAutoFit/>
          </a:bodyPr>
          <a:lstStyle/>
          <a:p>
            <a:pPr lvl="0" defTabSz="914286" fontAlgn="ctr">
              <a:defRPr/>
            </a:pPr>
            <a:r>
              <a:rPr kumimoji="0" lang="en-US" b="0" u="none" strike="noStrike" kern="1200" cap="none" spc="0" normalizeH="0" baseline="0" noProof="0" dirty="0">
                <a:ln>
                  <a:noFill/>
                </a:ln>
                <a:effectLst/>
                <a:uLnTx/>
                <a:uFillTx/>
                <a:cs typeface="Calibri" panose="020F0502020204030204" pitchFamily="34" charset="0"/>
              </a:rPr>
              <a:t>What impact (on my team/ my customer base/ the business) am I hoping for, if I lead with a more Engaging style</a:t>
            </a:r>
            <a:r>
              <a:rPr lang="en-US" dirty="0">
                <a:cs typeface="Calibri" panose="020F0502020204030204" pitchFamily="34" charset="0"/>
              </a:rPr>
              <a:t>?</a:t>
            </a:r>
            <a:endParaRPr kumimoji="0" lang="en-US" b="0" u="none" strike="noStrike" kern="1200" cap="none" spc="0" normalizeH="0" baseline="0" noProof="0" dirty="0">
              <a:ln>
                <a:noFill/>
              </a:ln>
              <a:effectLst/>
              <a:uLnTx/>
              <a:uFillTx/>
              <a:cs typeface="Calibri" panose="020F0502020204030204" pitchFamily="34" charset="0"/>
            </a:endParaRPr>
          </a:p>
        </p:txBody>
      </p:sp>
      <p:pic>
        <p:nvPicPr>
          <p:cNvPr id="47" name="Picture 46">
            <a:extLst>
              <a:ext uri="{FF2B5EF4-FFF2-40B4-BE49-F238E27FC236}">
                <a16:creationId xmlns:a16="http://schemas.microsoft.com/office/drawing/2014/main" id="{6E7985B9-460F-4E7D-A536-BFD93361DE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54399" y="4038600"/>
            <a:ext cx="898601" cy="898601"/>
          </a:xfrm>
          <a:prstGeom prst="rect">
            <a:avLst/>
          </a:prstGeom>
        </p:spPr>
      </p:pic>
      <p:pic>
        <p:nvPicPr>
          <p:cNvPr id="48" name="Picture 47">
            <a:extLst>
              <a:ext uri="{FF2B5EF4-FFF2-40B4-BE49-F238E27FC236}">
                <a16:creationId xmlns:a16="http://schemas.microsoft.com/office/drawing/2014/main" id="{012439CA-004B-485B-9D78-EE3B2D2204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47882" y="1219200"/>
            <a:ext cx="828918" cy="828918"/>
          </a:xfrm>
          <a:prstGeom prst="rect">
            <a:avLst/>
          </a:prstGeom>
        </p:spPr>
      </p:pic>
      <p:pic>
        <p:nvPicPr>
          <p:cNvPr id="49" name="Picture 48">
            <a:extLst>
              <a:ext uri="{FF2B5EF4-FFF2-40B4-BE49-F238E27FC236}">
                <a16:creationId xmlns:a16="http://schemas.microsoft.com/office/drawing/2014/main" id="{F1F036CF-0C10-4796-A2AF-438F6506D7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86374" y="2748054"/>
            <a:ext cx="898602" cy="898602"/>
          </a:xfrm>
          <a:prstGeom prst="rect">
            <a:avLst/>
          </a:prstGeom>
        </p:spPr>
      </p:pic>
      <p:grpSp>
        <p:nvGrpSpPr>
          <p:cNvPr id="50" name="Group 49">
            <a:extLst>
              <a:ext uri="{FF2B5EF4-FFF2-40B4-BE49-F238E27FC236}">
                <a16:creationId xmlns:a16="http://schemas.microsoft.com/office/drawing/2014/main" id="{94158EA9-AEFC-451F-A11A-08EAC37BCABF}"/>
              </a:ext>
            </a:extLst>
          </p:cNvPr>
          <p:cNvGrpSpPr/>
          <p:nvPr/>
        </p:nvGrpSpPr>
        <p:grpSpPr>
          <a:xfrm>
            <a:off x="32549" y="805702"/>
            <a:ext cx="3875536" cy="2991048"/>
            <a:chOff x="201750" y="1092352"/>
            <a:chExt cx="3514703" cy="3156699"/>
          </a:xfrm>
        </p:grpSpPr>
        <p:sp>
          <p:nvSpPr>
            <p:cNvPr id="51" name="Rectangle: Rounded Corners 50">
              <a:extLst>
                <a:ext uri="{FF2B5EF4-FFF2-40B4-BE49-F238E27FC236}">
                  <a16:creationId xmlns:a16="http://schemas.microsoft.com/office/drawing/2014/main" id="{85C1AF67-482C-48C7-8F54-F7BE2BE8E9C6}"/>
                </a:ext>
              </a:extLst>
            </p:cNvPr>
            <p:cNvSpPr/>
            <p:nvPr/>
          </p:nvSpPr>
          <p:spPr>
            <a:xfrm>
              <a:off x="223248" y="1305365"/>
              <a:ext cx="3493205" cy="2943686"/>
            </a:xfrm>
            <a:prstGeom prst="roundRect">
              <a:avLst>
                <a:gd name="adj" fmla="val 9183"/>
              </a:avLst>
            </a:prstGeom>
            <a:solidFill>
              <a:sysClr val="window" lastClr="FFFFFF">
                <a:lumMod val="8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3" name="Picture 52">
              <a:extLst>
                <a:ext uri="{FF2B5EF4-FFF2-40B4-BE49-F238E27FC236}">
                  <a16:creationId xmlns:a16="http://schemas.microsoft.com/office/drawing/2014/main" id="{79218B48-FE01-4308-AE43-1C4CEBFC183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1750" y="1092352"/>
              <a:ext cx="578841" cy="578841"/>
            </a:xfrm>
            <a:prstGeom prst="rect">
              <a:avLst/>
            </a:prstGeom>
          </p:spPr>
        </p:pic>
        <p:sp>
          <p:nvSpPr>
            <p:cNvPr id="56" name="TextBox 55">
              <a:extLst>
                <a:ext uri="{FF2B5EF4-FFF2-40B4-BE49-F238E27FC236}">
                  <a16:creationId xmlns:a16="http://schemas.microsoft.com/office/drawing/2014/main" id="{127BA1E8-A52C-4CC9-BAAA-710748BBDEE4}"/>
                </a:ext>
              </a:extLst>
            </p:cNvPr>
            <p:cNvSpPr txBox="1"/>
            <p:nvPr/>
          </p:nvSpPr>
          <p:spPr>
            <a:xfrm>
              <a:off x="566671" y="1306347"/>
              <a:ext cx="3033496" cy="461665"/>
            </a:xfrm>
            <a:prstGeom prst="rect">
              <a:avLst/>
            </a:prstGeom>
            <a:noFill/>
          </p:spPr>
          <p:txBody>
            <a:bodyPr wrap="square" rtlCol="0">
              <a:spAutoFit/>
            </a:bodyPr>
            <a:lstStyle/>
            <a:p>
              <a:pPr marL="0" marR="0" lvl="0" indent="0" defTabSz="914286" eaLnBrk="1" fontAlgn="ctr"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cs typeface="Calibri" panose="020F0502020204030204" pitchFamily="34" charset="0"/>
                </a:rPr>
                <a:t>Additional Resources</a:t>
              </a:r>
            </a:p>
          </p:txBody>
        </p:sp>
      </p:grpSp>
      <p:pic>
        <p:nvPicPr>
          <p:cNvPr id="57" name="Picture 56">
            <a:extLst>
              <a:ext uri="{FF2B5EF4-FFF2-40B4-BE49-F238E27FC236}">
                <a16:creationId xmlns:a16="http://schemas.microsoft.com/office/drawing/2014/main" id="{4F596E90-8908-49E5-8CBD-D4AF6F5A377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54399" y="5129944"/>
            <a:ext cx="898601" cy="898601"/>
          </a:xfrm>
          <a:prstGeom prst="rect">
            <a:avLst/>
          </a:prstGeom>
        </p:spPr>
      </p:pic>
      <p:sp>
        <p:nvSpPr>
          <p:cNvPr id="58" name="TextBox 57">
            <a:extLst>
              <a:ext uri="{FF2B5EF4-FFF2-40B4-BE49-F238E27FC236}">
                <a16:creationId xmlns:a16="http://schemas.microsoft.com/office/drawing/2014/main" id="{88FEB467-08D7-4DA8-AF9D-99EB0D8DB696}"/>
              </a:ext>
            </a:extLst>
          </p:cNvPr>
          <p:cNvSpPr txBox="1"/>
          <p:nvPr/>
        </p:nvSpPr>
        <p:spPr>
          <a:xfrm>
            <a:off x="5117364" y="5105215"/>
            <a:ext cx="3945399" cy="923330"/>
          </a:xfrm>
          <a:prstGeom prst="rect">
            <a:avLst/>
          </a:prstGeom>
          <a:noFill/>
        </p:spPr>
        <p:txBody>
          <a:bodyPr wrap="square" rtlCol="0">
            <a:spAutoFit/>
          </a:bodyPr>
          <a:lstStyle/>
          <a:p>
            <a:pPr lvl="0" defTabSz="914286" fontAlgn="ctr">
              <a:defRPr/>
            </a:pPr>
            <a:r>
              <a:rPr kumimoji="0" lang="en-US" b="0" u="none" strike="noStrike" kern="1200" cap="none" spc="0" normalizeH="0" baseline="0" noProof="0" dirty="0">
                <a:ln>
                  <a:noFill/>
                </a:ln>
                <a:effectLst/>
                <a:uLnTx/>
                <a:uFillTx/>
                <a:cs typeface="Calibri" panose="020F0502020204030204" pitchFamily="34" charset="0"/>
              </a:rPr>
              <a:t>What’s the one thing you can do differently today, to be a more engaging leader to your team?</a:t>
            </a:r>
          </a:p>
        </p:txBody>
      </p:sp>
      <p:graphicFrame>
        <p:nvGraphicFramePr>
          <p:cNvPr id="60" name="Table 59">
            <a:extLst>
              <a:ext uri="{FF2B5EF4-FFF2-40B4-BE49-F238E27FC236}">
                <a16:creationId xmlns:a16="http://schemas.microsoft.com/office/drawing/2014/main" id="{AFCE439E-28B5-4EBA-8AB2-B276A6F2710C}"/>
              </a:ext>
            </a:extLst>
          </p:cNvPr>
          <p:cNvGraphicFramePr>
            <a:graphicFrameLocks noGrp="1"/>
          </p:cNvGraphicFramePr>
          <p:nvPr>
            <p:extLst>
              <p:ext uri="{D42A27DB-BD31-4B8C-83A1-F6EECF244321}">
                <p14:modId xmlns:p14="http://schemas.microsoft.com/office/powerpoint/2010/main" val="855719115"/>
              </p:ext>
            </p:extLst>
          </p:nvPr>
        </p:nvGraphicFramePr>
        <p:xfrm>
          <a:off x="69641" y="1524198"/>
          <a:ext cx="3851831" cy="1516380"/>
        </p:xfrm>
        <a:graphic>
          <a:graphicData uri="http://schemas.openxmlformats.org/drawingml/2006/table">
            <a:tbl>
              <a:tblPr/>
              <a:tblGrid>
                <a:gridCol w="542046">
                  <a:extLst>
                    <a:ext uri="{9D8B030D-6E8A-4147-A177-3AD203B41FA5}">
                      <a16:colId xmlns:a16="http://schemas.microsoft.com/office/drawing/2014/main" val="2292092926"/>
                    </a:ext>
                  </a:extLst>
                </a:gridCol>
                <a:gridCol w="3309785">
                  <a:extLst>
                    <a:ext uri="{9D8B030D-6E8A-4147-A177-3AD203B41FA5}">
                      <a16:colId xmlns:a16="http://schemas.microsoft.com/office/drawing/2014/main" val="3333233995"/>
                    </a:ext>
                  </a:extLst>
                </a:gridCol>
              </a:tblGrid>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1</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8"/>
                        </a:rPr>
                        <a:t>Adapt your leadership style to your situation</a:t>
                      </a:r>
                      <a:endParaRPr lang="en-US" sz="1400" u="sng" strike="noStrike" dirty="0">
                        <a:effectLst/>
                      </a:endParaRPr>
                    </a:p>
                    <a:p>
                      <a:pPr algn="l" fontAlgn="b"/>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48742838"/>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2</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dirty="0">
                          <a:hlinkClick r:id="rId9"/>
                        </a:rPr>
                        <a:t>15 Ways To Promote Psychological Safety At Work (forbes.com)</a:t>
                      </a:r>
                      <a:endParaRPr lang="en-US" sz="1400" dirty="0"/>
                    </a:p>
                    <a:p>
                      <a:pPr algn="l" fontAlgn="b"/>
                      <a:endParaRPr lang="en-US" sz="1400" u="none"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92654841"/>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3</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b="0" i="0" u="sng" strike="noStrike" dirty="0">
                          <a:solidFill>
                            <a:srgbClr val="0563C1"/>
                          </a:solidFill>
                          <a:effectLst/>
                          <a:latin typeface="Calibri" panose="020F0502020204030204" pitchFamily="34" charset="0"/>
                          <a:hlinkClick r:id="rId10"/>
                        </a:rPr>
                        <a:t>How the most successful leaders will thrive in an exponential world</a:t>
                      </a:r>
                      <a:endParaRPr lang="en-US" sz="1400" b="0" i="0" u="sng" strike="noStrike" dirty="0">
                        <a:solidFill>
                          <a:srgbClr val="0563C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39569084"/>
                  </a:ext>
                </a:extLst>
              </a:tr>
            </a:tbl>
          </a:graphicData>
        </a:graphic>
      </p:graphicFrame>
      <p:pic>
        <p:nvPicPr>
          <p:cNvPr id="9218" name="Picture 2" descr="Free illustrations of Chess">
            <a:extLst>
              <a:ext uri="{FF2B5EF4-FFF2-40B4-BE49-F238E27FC236}">
                <a16:creationId xmlns:a16="http://schemas.microsoft.com/office/drawing/2014/main" id="{1AB1197B-CF92-44B3-86DF-EFDA761BDEE5}"/>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1138"/>
          <a:stretch/>
        </p:blipFill>
        <p:spPr bwMode="auto">
          <a:xfrm>
            <a:off x="116549" y="4162605"/>
            <a:ext cx="3882485" cy="249403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 name="Diagram 19">
            <a:extLst>
              <a:ext uri="{FF2B5EF4-FFF2-40B4-BE49-F238E27FC236}">
                <a16:creationId xmlns:a16="http://schemas.microsoft.com/office/drawing/2014/main" id="{B2AE9A20-C02C-4FC8-8949-B8B28D4D4A5D}"/>
              </a:ext>
            </a:extLst>
          </p:cNvPr>
          <p:cNvGraphicFramePr/>
          <p:nvPr>
            <p:extLst>
              <p:ext uri="{D42A27DB-BD31-4B8C-83A1-F6EECF244321}">
                <p14:modId xmlns:p14="http://schemas.microsoft.com/office/powerpoint/2010/main" val="856149921"/>
              </p:ext>
            </p:extLst>
          </p:nvPr>
        </p:nvGraphicFramePr>
        <p:xfrm>
          <a:off x="-144186" y="-24710"/>
          <a:ext cx="1158240" cy="76510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444622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B4FA0-CECE-410A-A1FE-EB3E349E4D91}"/>
              </a:ext>
            </a:extLst>
          </p:cNvPr>
          <p:cNvSpPr txBox="1"/>
          <p:nvPr/>
        </p:nvSpPr>
        <p:spPr>
          <a:xfrm>
            <a:off x="-13010" y="831616"/>
            <a:ext cx="9067800" cy="646331"/>
          </a:xfrm>
          <a:prstGeom prst="rect">
            <a:avLst/>
          </a:prstGeom>
          <a:noFill/>
        </p:spPr>
        <p:txBody>
          <a:bodyPr wrap="square">
            <a:spAutoFit/>
          </a:bodyPr>
          <a:lstStyle/>
          <a:p>
            <a:pPr defTabSz="685715" fontAlgn="ctr">
              <a:buSzPts val="1000"/>
              <a:tabLst>
                <a:tab pos="342900" algn="l"/>
              </a:tabLst>
              <a:defRPr/>
            </a:pPr>
            <a:r>
              <a:rPr lang="en-US" sz="1800" dirty="0">
                <a:solidFill>
                  <a:prstClr val="black"/>
                </a:solidFill>
                <a:latin typeface="Calibri" panose="020F0502020204030204" pitchFamily="34" charset="0"/>
                <a:cs typeface="Calibri" panose="020F0502020204030204" pitchFamily="34" charset="0"/>
              </a:rPr>
              <a:t>Create positive momentum by persuading the organization, demonstrating personal courage, and an ability to durably align different opinions</a:t>
            </a:r>
          </a:p>
        </p:txBody>
      </p:sp>
      <p:sp>
        <p:nvSpPr>
          <p:cNvPr id="4" name="TextBox 3">
            <a:extLst>
              <a:ext uri="{FF2B5EF4-FFF2-40B4-BE49-F238E27FC236}">
                <a16:creationId xmlns:a16="http://schemas.microsoft.com/office/drawing/2014/main" id="{ED48C7C0-1B84-40C9-9838-E52637D934EF}"/>
              </a:ext>
            </a:extLst>
          </p:cNvPr>
          <p:cNvSpPr txBox="1"/>
          <p:nvPr/>
        </p:nvSpPr>
        <p:spPr>
          <a:xfrm>
            <a:off x="2087942" y="198825"/>
            <a:ext cx="4257705" cy="584775"/>
          </a:xfrm>
          <a:prstGeom prst="rect">
            <a:avLst/>
          </a:prstGeom>
          <a:noFill/>
        </p:spPr>
        <p:txBody>
          <a:bodyPr wrap="none" rtlCol="0">
            <a:spAutoFit/>
          </a:bodyPr>
          <a:lstStyle/>
          <a:p>
            <a:pPr algn="ctr"/>
            <a:r>
              <a:rPr lang="en-US" sz="3200" b="1" dirty="0"/>
              <a:t>Influence and Challenge</a:t>
            </a:r>
          </a:p>
        </p:txBody>
      </p:sp>
      <p:sp>
        <p:nvSpPr>
          <p:cNvPr id="5" name="Rectangle: Rounded Corners 4">
            <a:extLst>
              <a:ext uri="{FF2B5EF4-FFF2-40B4-BE49-F238E27FC236}">
                <a16:creationId xmlns:a16="http://schemas.microsoft.com/office/drawing/2014/main" id="{8551ECE5-EA68-462A-9929-A829AF965E98}"/>
              </a:ext>
            </a:extLst>
          </p:cNvPr>
          <p:cNvSpPr/>
          <p:nvPr/>
        </p:nvSpPr>
        <p:spPr>
          <a:xfrm>
            <a:off x="37886" y="2034589"/>
            <a:ext cx="2933914" cy="4624587"/>
          </a:xfrm>
          <a:prstGeom prst="roundRect">
            <a:avLst/>
          </a:prstGeom>
          <a:solidFill>
            <a:schemeClr val="bg1">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b="0" i="0" u="none" strike="noStrike" dirty="0">
                <a:solidFill>
                  <a:schemeClr val="bg1"/>
                </a:solidFill>
                <a:effectLst/>
                <a:latin typeface="Calibri" panose="020F0502020204030204" pitchFamily="34" charset="0"/>
              </a:rPr>
              <a:t>Articulates opinions and is willing to question the status quo in a compelling manner that gains buy in from stakeholders. </a:t>
            </a:r>
          </a:p>
          <a:p>
            <a:pPr algn="l" fontAlgn="ctr"/>
            <a:endParaRPr lang="en-US" sz="1200" b="0" i="0" u="none" strike="noStrike" dirty="0">
              <a:solidFill>
                <a:schemeClr val="bg1"/>
              </a:solidFill>
              <a:effectLst/>
              <a:latin typeface="Calibri" panose="020F0502020204030204" pitchFamily="34" charset="0"/>
            </a:endParaRPr>
          </a:p>
          <a:p>
            <a:pPr algn="l" fontAlgn="ctr"/>
            <a:r>
              <a:rPr lang="en-US" sz="1200" b="0" i="0" u="none" strike="noStrike" dirty="0">
                <a:solidFill>
                  <a:schemeClr val="bg1"/>
                </a:solidFill>
                <a:effectLst/>
                <a:latin typeface="Calibri" panose="020F0502020204030204" pitchFamily="34" charset="0"/>
              </a:rPr>
              <a:t>Demonstrates clear self awareness of their impact while communicating</a:t>
            </a:r>
          </a:p>
          <a:p>
            <a:pPr algn="l" fontAlgn="ctr"/>
            <a:endParaRPr lang="en-US" sz="1200" b="0" i="0" u="none" strike="noStrike" dirty="0">
              <a:solidFill>
                <a:schemeClr val="bg1"/>
              </a:solidFill>
              <a:effectLst/>
              <a:latin typeface="Calibri" panose="020F0502020204030204" pitchFamily="34" charset="0"/>
            </a:endParaRPr>
          </a:p>
          <a:p>
            <a:pPr algn="l" fontAlgn="ctr"/>
            <a:r>
              <a:rPr lang="en-US" sz="1200" b="0" i="0" u="none" strike="noStrike" dirty="0">
                <a:solidFill>
                  <a:schemeClr val="bg1"/>
                </a:solidFill>
                <a:effectLst/>
                <a:latin typeface="Calibri" panose="020F0502020204030204" pitchFamily="34" charset="0"/>
              </a:rPr>
              <a:t>Develops credibility with peers, leaders and juniors. </a:t>
            </a:r>
          </a:p>
        </p:txBody>
      </p:sp>
      <p:sp>
        <p:nvSpPr>
          <p:cNvPr id="15" name="Rectangle: Rounded Corners 14">
            <a:extLst>
              <a:ext uri="{FF2B5EF4-FFF2-40B4-BE49-F238E27FC236}">
                <a16:creationId xmlns:a16="http://schemas.microsoft.com/office/drawing/2014/main" id="{6FC54FCF-D174-4422-AF02-A0E4D075AA5D}"/>
              </a:ext>
            </a:extLst>
          </p:cNvPr>
          <p:cNvSpPr/>
          <p:nvPr/>
        </p:nvSpPr>
        <p:spPr>
          <a:xfrm>
            <a:off x="2786433" y="2037572"/>
            <a:ext cx="3113031" cy="4618620"/>
          </a:xfrm>
          <a:prstGeom prst="roundRect">
            <a:avLst/>
          </a:prstGeom>
          <a:solidFill>
            <a:schemeClr val="bg2">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Demonstrates gravitas, emotional intelligence &amp; credibility to impact decisions.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Balances and effectively aligns the interests of multiple stakeholders, ensuring that the right projects are given priority and focus.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Influences other to take action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Negotiates skillfully in tough situations, wins concessions without damaging relationships.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Intentionally develops and leverages  own internal and external network.</a:t>
            </a:r>
            <a:endParaRPr lang="en-US" sz="1200" strike="sngStrike" dirty="0">
              <a:solidFill>
                <a:schemeClr val="bg1"/>
              </a:solidFill>
              <a:latin typeface="Calibri" panose="020F0502020204030204" pitchFamily="34" charset="0"/>
            </a:endParaRPr>
          </a:p>
        </p:txBody>
      </p:sp>
      <p:sp>
        <p:nvSpPr>
          <p:cNvPr id="16" name="Rectangle: Rounded Corners 15">
            <a:extLst>
              <a:ext uri="{FF2B5EF4-FFF2-40B4-BE49-F238E27FC236}">
                <a16:creationId xmlns:a16="http://schemas.microsoft.com/office/drawing/2014/main" id="{940B7297-2D4C-4213-A50D-E4A168DCB0A3}"/>
              </a:ext>
            </a:extLst>
          </p:cNvPr>
          <p:cNvSpPr/>
          <p:nvPr/>
        </p:nvSpPr>
        <p:spPr>
          <a:xfrm>
            <a:off x="5723772" y="2034589"/>
            <a:ext cx="3267828" cy="4635534"/>
          </a:xfrm>
          <a:prstGeom prst="roundRect">
            <a:avLst/>
          </a:prstGeom>
          <a:solidFill>
            <a:schemeClr val="tx1">
              <a:lumMod val="85000"/>
              <a:lumOff val="1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fontAlgn="ctr"/>
            <a:r>
              <a:rPr lang="en-US" sz="1200" dirty="0">
                <a:solidFill>
                  <a:schemeClr val="bg1"/>
                </a:solidFill>
                <a:latin typeface="Calibri" panose="020F0502020204030204" pitchFamily="34" charset="0"/>
              </a:rPr>
              <a:t>Demonstrates political savviness while dealing and considering interests of different stake holders.</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Maintains frequent interactions with a broad stakeholder network and takes a proactive approach to shape and influence stakeholder expectations, both upwards and downwards. </a:t>
            </a:r>
          </a:p>
          <a:p>
            <a:pPr algn="l" fontAlgn="ctr"/>
            <a:endParaRPr lang="en-US" sz="1200" dirty="0">
              <a:solidFill>
                <a:schemeClr val="bg1"/>
              </a:solidFill>
              <a:latin typeface="Calibri" panose="020F0502020204030204" pitchFamily="34" charset="0"/>
            </a:endParaRPr>
          </a:p>
          <a:p>
            <a:pPr algn="l" fontAlgn="ctr"/>
            <a:r>
              <a:rPr lang="en-US" sz="1200" dirty="0">
                <a:solidFill>
                  <a:schemeClr val="bg1"/>
                </a:solidFill>
                <a:latin typeface="Calibri" panose="020F0502020204030204" pitchFamily="34" charset="0"/>
              </a:rPr>
              <a:t>Ability to bring consensus amongst teams &amp; departments to move the agenda forward.</a:t>
            </a:r>
          </a:p>
        </p:txBody>
      </p:sp>
      <p:sp>
        <p:nvSpPr>
          <p:cNvPr id="7" name="TextBox 6">
            <a:extLst>
              <a:ext uri="{FF2B5EF4-FFF2-40B4-BE49-F238E27FC236}">
                <a16:creationId xmlns:a16="http://schemas.microsoft.com/office/drawing/2014/main" id="{245AF605-1469-4C89-9959-55611E5A9208}"/>
              </a:ext>
            </a:extLst>
          </p:cNvPr>
          <p:cNvSpPr txBox="1"/>
          <p:nvPr/>
        </p:nvSpPr>
        <p:spPr>
          <a:xfrm>
            <a:off x="323743" y="1588045"/>
            <a:ext cx="2140779" cy="461665"/>
          </a:xfrm>
          <a:prstGeom prst="rect">
            <a:avLst/>
          </a:prstGeom>
          <a:noFill/>
        </p:spPr>
        <p:txBody>
          <a:bodyPr wrap="none" rtlCol="0">
            <a:spAutoFit/>
          </a:bodyPr>
          <a:lstStyle/>
          <a:p>
            <a:r>
              <a:rPr lang="en-US" sz="2400" b="1" dirty="0"/>
              <a:t>Level 1 (G &amp; H )</a:t>
            </a:r>
          </a:p>
        </p:txBody>
      </p:sp>
      <p:sp>
        <p:nvSpPr>
          <p:cNvPr id="18" name="TextBox 17">
            <a:extLst>
              <a:ext uri="{FF2B5EF4-FFF2-40B4-BE49-F238E27FC236}">
                <a16:creationId xmlns:a16="http://schemas.microsoft.com/office/drawing/2014/main" id="{2F923E22-1B1D-4345-9D18-5A2A98CA08A9}"/>
              </a:ext>
            </a:extLst>
          </p:cNvPr>
          <p:cNvSpPr txBox="1"/>
          <p:nvPr/>
        </p:nvSpPr>
        <p:spPr>
          <a:xfrm>
            <a:off x="3169304" y="1525606"/>
            <a:ext cx="2004523" cy="461665"/>
          </a:xfrm>
          <a:prstGeom prst="rect">
            <a:avLst/>
          </a:prstGeom>
          <a:noFill/>
        </p:spPr>
        <p:txBody>
          <a:bodyPr wrap="none" rtlCol="0">
            <a:spAutoFit/>
          </a:bodyPr>
          <a:lstStyle/>
          <a:p>
            <a:r>
              <a:rPr lang="en-US" sz="2400" b="1" dirty="0"/>
              <a:t>Level 2 ( I &amp; J )</a:t>
            </a:r>
          </a:p>
        </p:txBody>
      </p:sp>
      <p:sp>
        <p:nvSpPr>
          <p:cNvPr id="19" name="TextBox 18">
            <a:extLst>
              <a:ext uri="{FF2B5EF4-FFF2-40B4-BE49-F238E27FC236}">
                <a16:creationId xmlns:a16="http://schemas.microsoft.com/office/drawing/2014/main" id="{DDF57A31-24EC-478C-8CE5-B68FCCE1700B}"/>
              </a:ext>
            </a:extLst>
          </p:cNvPr>
          <p:cNvSpPr txBox="1"/>
          <p:nvPr/>
        </p:nvSpPr>
        <p:spPr>
          <a:xfrm>
            <a:off x="6075584" y="1525606"/>
            <a:ext cx="2118337" cy="461665"/>
          </a:xfrm>
          <a:prstGeom prst="rect">
            <a:avLst/>
          </a:prstGeom>
          <a:noFill/>
        </p:spPr>
        <p:txBody>
          <a:bodyPr wrap="none" rtlCol="0">
            <a:spAutoFit/>
          </a:bodyPr>
          <a:lstStyle/>
          <a:p>
            <a:r>
              <a:rPr lang="en-US" sz="2400" b="1" dirty="0"/>
              <a:t>Level 3 ( K &amp; L )</a:t>
            </a:r>
          </a:p>
        </p:txBody>
      </p:sp>
      <p:graphicFrame>
        <p:nvGraphicFramePr>
          <p:cNvPr id="12" name="Diagram 11">
            <a:extLst>
              <a:ext uri="{FF2B5EF4-FFF2-40B4-BE49-F238E27FC236}">
                <a16:creationId xmlns:a16="http://schemas.microsoft.com/office/drawing/2014/main" id="{10257389-840F-495A-83C5-0A71E7B6C90C}"/>
              </a:ext>
            </a:extLst>
          </p:cNvPr>
          <p:cNvGraphicFramePr/>
          <p:nvPr>
            <p:extLst>
              <p:ext uri="{D42A27DB-BD31-4B8C-83A1-F6EECF244321}">
                <p14:modId xmlns:p14="http://schemas.microsoft.com/office/powerpoint/2010/main" val="2621834288"/>
              </p:ext>
            </p:extLst>
          </p:nvPr>
        </p:nvGraphicFramePr>
        <p:xfrm>
          <a:off x="-144186" y="-24710"/>
          <a:ext cx="1158240" cy="765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85700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48C7C0-1B84-40C9-9838-E52637D934EF}"/>
              </a:ext>
            </a:extLst>
          </p:cNvPr>
          <p:cNvSpPr txBox="1"/>
          <p:nvPr/>
        </p:nvSpPr>
        <p:spPr>
          <a:xfrm>
            <a:off x="1156042" y="201361"/>
            <a:ext cx="5613973" cy="523220"/>
          </a:xfrm>
          <a:prstGeom prst="rect">
            <a:avLst/>
          </a:prstGeom>
          <a:noFill/>
        </p:spPr>
        <p:txBody>
          <a:bodyPr wrap="none" rtlCol="0">
            <a:spAutoFit/>
          </a:bodyPr>
          <a:lstStyle/>
          <a:p>
            <a:pPr algn="ctr"/>
            <a:r>
              <a:rPr lang="en-US" sz="2800" b="1" dirty="0"/>
              <a:t>Influence and Challenge  - Resources</a:t>
            </a:r>
          </a:p>
        </p:txBody>
      </p:sp>
      <p:sp>
        <p:nvSpPr>
          <p:cNvPr id="42" name="TextBox 41">
            <a:extLst>
              <a:ext uri="{FF2B5EF4-FFF2-40B4-BE49-F238E27FC236}">
                <a16:creationId xmlns:a16="http://schemas.microsoft.com/office/drawing/2014/main" id="{550A49C3-D316-45F7-9BF2-10C3DDD00FE8}"/>
              </a:ext>
            </a:extLst>
          </p:cNvPr>
          <p:cNvSpPr txBox="1"/>
          <p:nvPr/>
        </p:nvSpPr>
        <p:spPr>
          <a:xfrm>
            <a:off x="5040603" y="1290631"/>
            <a:ext cx="4047143" cy="1200329"/>
          </a:xfrm>
          <a:prstGeom prst="rect">
            <a:avLst/>
          </a:prstGeom>
          <a:noFill/>
        </p:spPr>
        <p:txBody>
          <a:bodyPr wrap="square" rtlCol="0">
            <a:spAutoFit/>
          </a:bodyPr>
          <a:lstStyle/>
          <a:p>
            <a:pPr marL="0" marR="0" lvl="0" indent="0" algn="l" defTabSz="914286" rtl="0" eaLnBrk="1" fontAlgn="ctr" latinLnBrk="0" hangingPunct="1">
              <a:lnSpc>
                <a:spcPct val="100000"/>
              </a:lnSpc>
              <a:spcBef>
                <a:spcPts val="0"/>
              </a:spcBef>
              <a:spcAft>
                <a:spcPts val="0"/>
              </a:spcAft>
              <a:buClrTx/>
              <a:buSzTx/>
              <a:buFontTx/>
              <a:buNone/>
              <a:tabLst/>
              <a:defRPr/>
            </a:pPr>
            <a:r>
              <a:rPr kumimoji="0" lang="en-US" b="0" u="none" strike="noStrike" kern="1200" cap="none" spc="0" normalizeH="0" baseline="0" noProof="0" dirty="0">
                <a:ln>
                  <a:noFill/>
                </a:ln>
                <a:effectLst/>
                <a:uLnTx/>
                <a:uFillTx/>
                <a:cs typeface="Calibri" panose="020F0502020204030204" pitchFamily="34" charset="0"/>
              </a:rPr>
              <a:t>What behaviors can I leverage </a:t>
            </a:r>
            <a:r>
              <a:rPr lang="en-US" dirty="0">
                <a:cs typeface="Calibri" panose="020F0502020204030204" pitchFamily="34" charset="0"/>
              </a:rPr>
              <a:t>in my own management style that can inspire and influence people while tackling </a:t>
            </a:r>
            <a:r>
              <a:rPr kumimoji="0" lang="en-US" b="0" u="none" strike="noStrike" kern="1200" cap="none" spc="0" normalizeH="0" baseline="0" noProof="0" dirty="0">
                <a:ln>
                  <a:noFill/>
                </a:ln>
                <a:effectLst/>
                <a:uLnTx/>
                <a:uFillTx/>
                <a:cs typeface="Calibri" panose="020F0502020204030204" pitchFamily="34" charset="0"/>
              </a:rPr>
              <a:t>business challenges?</a:t>
            </a:r>
          </a:p>
        </p:txBody>
      </p:sp>
      <p:cxnSp>
        <p:nvCxnSpPr>
          <p:cNvPr id="43" name="Straight Connector 42">
            <a:extLst>
              <a:ext uri="{FF2B5EF4-FFF2-40B4-BE49-F238E27FC236}">
                <a16:creationId xmlns:a16="http://schemas.microsoft.com/office/drawing/2014/main" id="{76A36D67-5B66-445F-86F8-2E5D94D3AEF3}"/>
              </a:ext>
            </a:extLst>
          </p:cNvPr>
          <p:cNvCxnSpPr/>
          <p:nvPr/>
        </p:nvCxnSpPr>
        <p:spPr>
          <a:xfrm>
            <a:off x="0" y="777811"/>
            <a:ext cx="4607794" cy="0"/>
          </a:xfrm>
          <a:prstGeom prst="line">
            <a:avLst/>
          </a:prstGeom>
          <a:noFill/>
          <a:ln w="6350" cap="flat" cmpd="sng" algn="ctr">
            <a:solidFill>
              <a:srgbClr val="4472C4"/>
            </a:solidFill>
            <a:prstDash val="solid"/>
            <a:miter lim="800000"/>
          </a:ln>
          <a:effectLst/>
        </p:spPr>
      </p:cxnSp>
      <p:sp>
        <p:nvSpPr>
          <p:cNvPr id="45" name="TextBox 44">
            <a:extLst>
              <a:ext uri="{FF2B5EF4-FFF2-40B4-BE49-F238E27FC236}">
                <a16:creationId xmlns:a16="http://schemas.microsoft.com/office/drawing/2014/main" id="{EBBBCA0A-EED7-4622-9AAE-709549716A4B}"/>
              </a:ext>
            </a:extLst>
          </p:cNvPr>
          <p:cNvSpPr txBox="1"/>
          <p:nvPr/>
        </p:nvSpPr>
        <p:spPr>
          <a:xfrm>
            <a:off x="5038364" y="2595345"/>
            <a:ext cx="4103397" cy="1200329"/>
          </a:xfrm>
          <a:prstGeom prst="rect">
            <a:avLst/>
          </a:prstGeom>
          <a:noFill/>
        </p:spPr>
        <p:txBody>
          <a:bodyPr wrap="square" rtlCol="0">
            <a:spAutoFit/>
          </a:bodyPr>
          <a:lstStyle/>
          <a:p>
            <a:pPr lvl="0" defTabSz="914286" fontAlgn="ctr">
              <a:defRPr/>
            </a:pPr>
            <a:r>
              <a:rPr kumimoji="0" lang="en-US" b="0" u="none" strike="noStrike" kern="1200" cap="none" spc="0" normalizeH="0" baseline="0" noProof="0" dirty="0">
                <a:ln>
                  <a:noFill/>
                </a:ln>
                <a:effectLst/>
                <a:uLnTx/>
                <a:uFillTx/>
                <a:cs typeface="Calibri" panose="020F0502020204030204" pitchFamily="34" charset="0"/>
              </a:rPr>
              <a:t>What actions and behaviors should I embed in my daily operating style to support my ability to inspire and influence others?</a:t>
            </a:r>
          </a:p>
        </p:txBody>
      </p:sp>
      <p:sp>
        <p:nvSpPr>
          <p:cNvPr id="46" name="TextBox 45">
            <a:extLst>
              <a:ext uri="{FF2B5EF4-FFF2-40B4-BE49-F238E27FC236}">
                <a16:creationId xmlns:a16="http://schemas.microsoft.com/office/drawing/2014/main" id="{B1DAF3C7-F5F6-4BD3-9785-F3299423D2D7}"/>
              </a:ext>
            </a:extLst>
          </p:cNvPr>
          <p:cNvSpPr txBox="1"/>
          <p:nvPr/>
        </p:nvSpPr>
        <p:spPr>
          <a:xfrm>
            <a:off x="5091238" y="3937070"/>
            <a:ext cx="4047144" cy="923330"/>
          </a:xfrm>
          <a:prstGeom prst="rect">
            <a:avLst/>
          </a:prstGeom>
          <a:noFill/>
        </p:spPr>
        <p:txBody>
          <a:bodyPr wrap="square" rtlCol="0">
            <a:spAutoFit/>
          </a:bodyPr>
          <a:lstStyle/>
          <a:p>
            <a:pPr lvl="0" defTabSz="914286" fontAlgn="ctr">
              <a:defRPr/>
            </a:pPr>
            <a:r>
              <a:rPr kumimoji="0" lang="en-US" b="0" u="none" strike="noStrike" kern="1200" cap="none" spc="0" normalizeH="0" baseline="0" noProof="0" dirty="0">
                <a:ln>
                  <a:noFill/>
                </a:ln>
                <a:effectLst/>
                <a:uLnTx/>
                <a:uFillTx/>
                <a:cs typeface="Calibri" panose="020F0502020204030204" pitchFamily="34" charset="0"/>
              </a:rPr>
              <a:t>How intentional am I being in building my network for today, tomorrow and the day </a:t>
            </a:r>
            <a:r>
              <a:rPr kumimoji="0" lang="en-US" b="0" u="none" strike="noStrike" kern="1200" cap="none" spc="0" normalizeH="0" baseline="0" noProof="0">
                <a:ln>
                  <a:noFill/>
                </a:ln>
                <a:effectLst/>
                <a:uLnTx/>
                <a:uFillTx/>
                <a:cs typeface="Calibri" panose="020F0502020204030204" pitchFamily="34" charset="0"/>
              </a:rPr>
              <a:t>after tomorrow?</a:t>
            </a:r>
            <a:r>
              <a:rPr lang="en-US" dirty="0">
                <a:cs typeface="Calibri" panose="020F0502020204030204" pitchFamily="34" charset="0"/>
              </a:rPr>
              <a:t> </a:t>
            </a:r>
            <a:endParaRPr kumimoji="0" lang="en-US" b="0" u="none" strike="noStrike" kern="1200" cap="none" spc="0" normalizeH="0" baseline="0" noProof="0" dirty="0">
              <a:ln>
                <a:noFill/>
              </a:ln>
              <a:effectLst/>
              <a:uLnTx/>
              <a:uFillTx/>
              <a:cs typeface="Calibri" panose="020F0502020204030204" pitchFamily="34" charset="0"/>
            </a:endParaRPr>
          </a:p>
        </p:txBody>
      </p:sp>
      <p:pic>
        <p:nvPicPr>
          <p:cNvPr id="47" name="Picture 46">
            <a:extLst>
              <a:ext uri="{FF2B5EF4-FFF2-40B4-BE49-F238E27FC236}">
                <a16:creationId xmlns:a16="http://schemas.microsoft.com/office/drawing/2014/main" id="{6E7985B9-460F-4E7D-A536-BFD93361DE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8600" y="3796750"/>
            <a:ext cx="898601" cy="898601"/>
          </a:xfrm>
          <a:prstGeom prst="rect">
            <a:avLst/>
          </a:prstGeom>
        </p:spPr>
      </p:pic>
      <p:pic>
        <p:nvPicPr>
          <p:cNvPr id="48" name="Picture 47">
            <a:extLst>
              <a:ext uri="{FF2B5EF4-FFF2-40B4-BE49-F238E27FC236}">
                <a16:creationId xmlns:a16="http://schemas.microsoft.com/office/drawing/2014/main" id="{012439CA-004B-485B-9D78-EE3B2D2204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47882" y="1219200"/>
            <a:ext cx="828918" cy="828918"/>
          </a:xfrm>
          <a:prstGeom prst="rect">
            <a:avLst/>
          </a:prstGeom>
        </p:spPr>
      </p:pic>
      <p:pic>
        <p:nvPicPr>
          <p:cNvPr id="49" name="Picture 48">
            <a:extLst>
              <a:ext uri="{FF2B5EF4-FFF2-40B4-BE49-F238E27FC236}">
                <a16:creationId xmlns:a16="http://schemas.microsoft.com/office/drawing/2014/main" id="{F1F036CF-0C10-4796-A2AF-438F6506D7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14800" y="2449462"/>
            <a:ext cx="898602" cy="898602"/>
          </a:xfrm>
          <a:prstGeom prst="rect">
            <a:avLst/>
          </a:prstGeom>
        </p:spPr>
      </p:pic>
      <p:grpSp>
        <p:nvGrpSpPr>
          <p:cNvPr id="50" name="Group 49">
            <a:extLst>
              <a:ext uri="{FF2B5EF4-FFF2-40B4-BE49-F238E27FC236}">
                <a16:creationId xmlns:a16="http://schemas.microsoft.com/office/drawing/2014/main" id="{94158EA9-AEFC-451F-A11A-08EAC37BCABF}"/>
              </a:ext>
            </a:extLst>
          </p:cNvPr>
          <p:cNvGrpSpPr/>
          <p:nvPr/>
        </p:nvGrpSpPr>
        <p:grpSpPr>
          <a:xfrm>
            <a:off x="32549" y="805702"/>
            <a:ext cx="3875536" cy="2991048"/>
            <a:chOff x="201750" y="1092352"/>
            <a:chExt cx="3514703" cy="3156699"/>
          </a:xfrm>
        </p:grpSpPr>
        <p:sp>
          <p:nvSpPr>
            <p:cNvPr id="51" name="Rectangle: Rounded Corners 50">
              <a:extLst>
                <a:ext uri="{FF2B5EF4-FFF2-40B4-BE49-F238E27FC236}">
                  <a16:creationId xmlns:a16="http://schemas.microsoft.com/office/drawing/2014/main" id="{85C1AF67-482C-48C7-8F54-F7BE2BE8E9C6}"/>
                </a:ext>
              </a:extLst>
            </p:cNvPr>
            <p:cNvSpPr/>
            <p:nvPr/>
          </p:nvSpPr>
          <p:spPr>
            <a:xfrm>
              <a:off x="223248" y="1305365"/>
              <a:ext cx="3493205" cy="2943686"/>
            </a:xfrm>
            <a:prstGeom prst="roundRect">
              <a:avLst>
                <a:gd name="adj" fmla="val 9183"/>
              </a:avLst>
            </a:prstGeom>
            <a:solidFill>
              <a:sysClr val="window" lastClr="FFFFFF">
                <a:lumMod val="8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3" name="Picture 52">
              <a:extLst>
                <a:ext uri="{FF2B5EF4-FFF2-40B4-BE49-F238E27FC236}">
                  <a16:creationId xmlns:a16="http://schemas.microsoft.com/office/drawing/2014/main" id="{79218B48-FE01-4308-AE43-1C4CEBFC183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1750" y="1092352"/>
              <a:ext cx="578841" cy="578841"/>
            </a:xfrm>
            <a:prstGeom prst="rect">
              <a:avLst/>
            </a:prstGeom>
          </p:spPr>
        </p:pic>
        <p:sp>
          <p:nvSpPr>
            <p:cNvPr id="56" name="TextBox 55">
              <a:extLst>
                <a:ext uri="{FF2B5EF4-FFF2-40B4-BE49-F238E27FC236}">
                  <a16:creationId xmlns:a16="http://schemas.microsoft.com/office/drawing/2014/main" id="{127BA1E8-A52C-4CC9-BAAA-710748BBDEE4}"/>
                </a:ext>
              </a:extLst>
            </p:cNvPr>
            <p:cNvSpPr txBox="1"/>
            <p:nvPr/>
          </p:nvSpPr>
          <p:spPr>
            <a:xfrm>
              <a:off x="566671" y="1306347"/>
              <a:ext cx="3033496" cy="461665"/>
            </a:xfrm>
            <a:prstGeom prst="rect">
              <a:avLst/>
            </a:prstGeom>
            <a:noFill/>
          </p:spPr>
          <p:txBody>
            <a:bodyPr wrap="square" rtlCol="0">
              <a:spAutoFit/>
            </a:bodyPr>
            <a:lstStyle/>
            <a:p>
              <a:pPr marL="0" marR="0" lvl="0" indent="0" defTabSz="914286" eaLnBrk="1" fontAlgn="ctr"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cs typeface="Calibri" panose="020F0502020204030204" pitchFamily="34" charset="0"/>
                </a:rPr>
                <a:t>Additional Resources</a:t>
              </a:r>
            </a:p>
          </p:txBody>
        </p:sp>
      </p:grpSp>
      <p:pic>
        <p:nvPicPr>
          <p:cNvPr id="57" name="Picture 56">
            <a:extLst>
              <a:ext uri="{FF2B5EF4-FFF2-40B4-BE49-F238E27FC236}">
                <a16:creationId xmlns:a16="http://schemas.microsoft.com/office/drawing/2014/main" id="{4F596E90-8908-49E5-8CBD-D4AF6F5A377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54399" y="5129944"/>
            <a:ext cx="898601" cy="898601"/>
          </a:xfrm>
          <a:prstGeom prst="rect">
            <a:avLst/>
          </a:prstGeom>
        </p:spPr>
      </p:pic>
      <p:sp>
        <p:nvSpPr>
          <p:cNvPr id="58" name="TextBox 57">
            <a:extLst>
              <a:ext uri="{FF2B5EF4-FFF2-40B4-BE49-F238E27FC236}">
                <a16:creationId xmlns:a16="http://schemas.microsoft.com/office/drawing/2014/main" id="{88FEB467-08D7-4DA8-AF9D-99EB0D8DB696}"/>
              </a:ext>
            </a:extLst>
          </p:cNvPr>
          <p:cNvSpPr txBox="1"/>
          <p:nvPr/>
        </p:nvSpPr>
        <p:spPr>
          <a:xfrm>
            <a:off x="5008365" y="5139248"/>
            <a:ext cx="3945399" cy="923330"/>
          </a:xfrm>
          <a:prstGeom prst="rect">
            <a:avLst/>
          </a:prstGeom>
          <a:noFill/>
        </p:spPr>
        <p:txBody>
          <a:bodyPr wrap="square" rtlCol="0">
            <a:spAutoFit/>
          </a:bodyPr>
          <a:lstStyle/>
          <a:p>
            <a:pPr lvl="0" defTabSz="914286" fontAlgn="ctr">
              <a:defRPr/>
            </a:pPr>
            <a:r>
              <a:rPr lang="en-US" dirty="0">
                <a:cs typeface="Calibri" panose="020F0502020204030204" pitchFamily="34" charset="0"/>
              </a:rPr>
              <a:t>What else should I know about my team members, to influence and inspire them further.</a:t>
            </a:r>
            <a:endParaRPr kumimoji="0" lang="en-US" b="0" u="none" strike="noStrike" kern="1200" cap="none" spc="0" normalizeH="0" baseline="0" noProof="0" dirty="0">
              <a:ln>
                <a:noFill/>
              </a:ln>
              <a:effectLst/>
              <a:uLnTx/>
              <a:uFillTx/>
              <a:cs typeface="Calibri" panose="020F0502020204030204" pitchFamily="34" charset="0"/>
            </a:endParaRPr>
          </a:p>
        </p:txBody>
      </p:sp>
      <p:graphicFrame>
        <p:nvGraphicFramePr>
          <p:cNvPr id="60" name="Table 59">
            <a:extLst>
              <a:ext uri="{FF2B5EF4-FFF2-40B4-BE49-F238E27FC236}">
                <a16:creationId xmlns:a16="http://schemas.microsoft.com/office/drawing/2014/main" id="{AFCE439E-28B5-4EBA-8AB2-B276A6F2710C}"/>
              </a:ext>
            </a:extLst>
          </p:cNvPr>
          <p:cNvGraphicFramePr>
            <a:graphicFrameLocks noGrp="1"/>
          </p:cNvGraphicFramePr>
          <p:nvPr>
            <p:extLst>
              <p:ext uri="{D42A27DB-BD31-4B8C-83A1-F6EECF244321}">
                <p14:modId xmlns:p14="http://schemas.microsoft.com/office/powerpoint/2010/main" val="3200603139"/>
              </p:ext>
            </p:extLst>
          </p:nvPr>
        </p:nvGraphicFramePr>
        <p:xfrm>
          <a:off x="69641" y="1524198"/>
          <a:ext cx="3851831" cy="2164080"/>
        </p:xfrm>
        <a:graphic>
          <a:graphicData uri="http://schemas.openxmlformats.org/drawingml/2006/table">
            <a:tbl>
              <a:tblPr/>
              <a:tblGrid>
                <a:gridCol w="542046">
                  <a:extLst>
                    <a:ext uri="{9D8B030D-6E8A-4147-A177-3AD203B41FA5}">
                      <a16:colId xmlns:a16="http://schemas.microsoft.com/office/drawing/2014/main" val="2292092926"/>
                    </a:ext>
                  </a:extLst>
                </a:gridCol>
                <a:gridCol w="3309785">
                  <a:extLst>
                    <a:ext uri="{9D8B030D-6E8A-4147-A177-3AD203B41FA5}">
                      <a16:colId xmlns:a16="http://schemas.microsoft.com/office/drawing/2014/main" val="3333233995"/>
                    </a:ext>
                  </a:extLst>
                </a:gridCol>
              </a:tblGrid>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1</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8"/>
                        </a:rPr>
                        <a:t>The 5 key traits of persuasive leaders</a:t>
                      </a:r>
                      <a:endParaRPr lang="en-US" sz="1400" u="sng" strike="noStrike" dirty="0">
                        <a:effectLst/>
                      </a:endParaRPr>
                    </a:p>
                    <a:p>
                      <a:pPr algn="l" fontAlgn="b"/>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48742838"/>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2</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u="sng" strike="noStrike" dirty="0">
                          <a:effectLst/>
                          <a:hlinkClick r:id="rId9"/>
                        </a:rPr>
                        <a:t>How to develop and master executive presence?</a:t>
                      </a:r>
                      <a:endParaRPr lang="en-US" sz="1400" u="sng" strike="noStrike" dirty="0">
                        <a:effectLst/>
                      </a:endParaRPr>
                    </a:p>
                    <a:p>
                      <a:pPr algn="l" fontAlgn="b"/>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92654841"/>
                  </a:ext>
                </a:extLst>
              </a:tr>
              <a:tr h="182880">
                <a:tc>
                  <a:txBody>
                    <a:bodyPr/>
                    <a:lstStyle>
                      <a:lvl1pPr marL="0" algn="l" defTabSz="685800" rtl="0" eaLnBrk="1" latinLnBrk="0" hangingPunct="1">
                        <a:defRPr sz="1350" kern="1200">
                          <a:solidFill>
                            <a:schemeClr val="tx1"/>
                          </a:solidFill>
                          <a:latin typeface="Calibri" panose="020F0502020204030204"/>
                        </a:defRPr>
                      </a:lvl1pPr>
                      <a:lvl2pPr marL="342900" algn="l" defTabSz="685800" rtl="0" eaLnBrk="1" latinLnBrk="0" hangingPunct="1">
                        <a:defRPr sz="1350" kern="1200">
                          <a:solidFill>
                            <a:schemeClr val="tx1"/>
                          </a:solidFill>
                          <a:latin typeface="Calibri" panose="020F0502020204030204"/>
                        </a:defRPr>
                      </a:lvl2pPr>
                      <a:lvl3pPr marL="685800" algn="l" defTabSz="685800" rtl="0" eaLnBrk="1" latinLnBrk="0" hangingPunct="1">
                        <a:defRPr sz="1350" kern="1200">
                          <a:solidFill>
                            <a:schemeClr val="tx1"/>
                          </a:solidFill>
                          <a:latin typeface="Calibri" panose="020F0502020204030204"/>
                        </a:defRPr>
                      </a:lvl3pPr>
                      <a:lvl4pPr marL="1028700" algn="l" defTabSz="685800" rtl="0" eaLnBrk="1" latinLnBrk="0" hangingPunct="1">
                        <a:defRPr sz="1350" kern="1200">
                          <a:solidFill>
                            <a:schemeClr val="tx1"/>
                          </a:solidFill>
                          <a:latin typeface="Calibri" panose="020F0502020204030204"/>
                        </a:defRPr>
                      </a:lvl4pPr>
                      <a:lvl5pPr marL="1371600" algn="l" defTabSz="685800" rtl="0" eaLnBrk="1" latinLnBrk="0" hangingPunct="1">
                        <a:defRPr sz="1350" kern="1200">
                          <a:solidFill>
                            <a:schemeClr val="tx1"/>
                          </a:solidFill>
                          <a:latin typeface="Calibri" panose="020F0502020204030204"/>
                        </a:defRPr>
                      </a:lvl5pPr>
                      <a:lvl6pPr marL="1714500" algn="l" defTabSz="685800" rtl="0" eaLnBrk="1" latinLnBrk="0" hangingPunct="1">
                        <a:defRPr sz="1350" kern="1200">
                          <a:solidFill>
                            <a:schemeClr val="tx1"/>
                          </a:solidFill>
                          <a:latin typeface="Calibri" panose="020F0502020204030204"/>
                        </a:defRPr>
                      </a:lvl6pPr>
                      <a:lvl7pPr marL="2057400" algn="l" defTabSz="685800" rtl="0" eaLnBrk="1" latinLnBrk="0" hangingPunct="1">
                        <a:defRPr sz="1350" kern="1200">
                          <a:solidFill>
                            <a:schemeClr val="tx1"/>
                          </a:solidFill>
                          <a:latin typeface="Calibri" panose="020F0502020204030204"/>
                        </a:defRPr>
                      </a:lvl7pPr>
                      <a:lvl8pPr marL="2400300" algn="l" defTabSz="685800" rtl="0" eaLnBrk="1" latinLnBrk="0" hangingPunct="1">
                        <a:defRPr sz="1350" kern="1200">
                          <a:solidFill>
                            <a:schemeClr val="tx1"/>
                          </a:solidFill>
                          <a:latin typeface="Calibri" panose="020F0502020204030204"/>
                        </a:defRPr>
                      </a:lvl8pPr>
                      <a:lvl9pPr marL="2743200" algn="l" defTabSz="685800" rtl="0" eaLnBrk="1" latinLnBrk="0" hangingPunct="1">
                        <a:defRPr sz="1350" kern="1200">
                          <a:solidFill>
                            <a:schemeClr val="tx1"/>
                          </a:solidFill>
                          <a:latin typeface="Calibri" panose="020F0502020204030204"/>
                        </a:defRPr>
                      </a:lvl9pPr>
                    </a:lstStyle>
                    <a:p>
                      <a:pPr algn="ctr" fontAlgn="b"/>
                      <a:r>
                        <a:rPr lang="en-US" sz="1400" b="1" i="0" u="none" strike="noStrike" dirty="0">
                          <a:solidFill>
                            <a:schemeClr val="tx1"/>
                          </a:solidFill>
                          <a:effectLst/>
                          <a:latin typeface="Calibri" panose="020F0502020204030204" pitchFamily="34" charset="0"/>
                        </a:rPr>
                        <a:t>3</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algn="l" fontAlgn="b"/>
                      <a:r>
                        <a:rPr lang="en-US" sz="1400" b="0" i="0" u="sng" strike="noStrike" dirty="0">
                          <a:solidFill>
                            <a:srgbClr val="0563C1"/>
                          </a:solidFill>
                          <a:effectLst/>
                          <a:latin typeface="Calibri" panose="020F0502020204030204" pitchFamily="34" charset="0"/>
                          <a:hlinkClick r:id="rId10"/>
                        </a:rPr>
                        <a:t>Mentorship as a tool to inspire the next generation</a:t>
                      </a:r>
                      <a:br>
                        <a:rPr lang="en-US" sz="1400" b="0" i="0" u="sng" strike="noStrike" dirty="0">
                          <a:solidFill>
                            <a:srgbClr val="0563C1"/>
                          </a:solidFill>
                          <a:effectLst/>
                          <a:latin typeface="Calibri" panose="020F0502020204030204" pitchFamily="34" charset="0"/>
                        </a:rPr>
                      </a:br>
                      <a:endParaRPr lang="en-US" sz="1400" b="0" i="0" u="sng" strike="noStrike" dirty="0">
                        <a:solidFill>
                          <a:srgbClr val="0563C1"/>
                        </a:solidFill>
                        <a:effectLst/>
                        <a:latin typeface="Calibri" panose="020F0502020204030204" pitchFamily="34" charset="0"/>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39569084"/>
                  </a:ext>
                </a:extLst>
              </a:tr>
              <a:tr h="182880">
                <a:tc>
                  <a:txBody>
                    <a:bodyPr/>
                    <a:lstStyle/>
                    <a:p>
                      <a:pPr algn="ctr" fontAlgn="b"/>
                      <a:r>
                        <a:rPr lang="en-US" sz="1400" b="1" i="0" u="none" strike="noStrike" dirty="0">
                          <a:solidFill>
                            <a:schemeClr val="tx1"/>
                          </a:solidFill>
                          <a:effectLst/>
                          <a:latin typeface="Calibri" panose="020F0502020204030204" pitchFamily="34" charset="0"/>
                        </a:rPr>
                        <a:t>4</a:t>
                      </a:r>
                    </a:p>
                  </a:txBody>
                  <a:tcPr marL="7620" marR="7620" marT="7620" marB="0">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1400" dirty="0">
                          <a:hlinkClick r:id="rId11"/>
                        </a:rPr>
                        <a:t>How To Establish Credibility: 4 Strategies Leaders Always Use (forbes.com)</a:t>
                      </a:r>
                      <a:endParaRPr lang="en-US" sz="1400" u="sng" strike="noStrike" dirty="0">
                        <a:effectLst/>
                      </a:endParaRPr>
                    </a:p>
                  </a:txBody>
                  <a:tcPr marL="7620" marR="7620" marT="7620" marB="0" anchor="b">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825940219"/>
                  </a:ext>
                </a:extLst>
              </a:tr>
            </a:tbl>
          </a:graphicData>
        </a:graphic>
      </p:graphicFrame>
      <p:pic>
        <p:nvPicPr>
          <p:cNvPr id="9218" name="Picture 2" descr="Free illustrations of Chess">
            <a:extLst>
              <a:ext uri="{FF2B5EF4-FFF2-40B4-BE49-F238E27FC236}">
                <a16:creationId xmlns:a16="http://schemas.microsoft.com/office/drawing/2014/main" id="{1AB1197B-CF92-44B3-86DF-EFDA761BDEE5}"/>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1138"/>
          <a:stretch/>
        </p:blipFill>
        <p:spPr bwMode="auto">
          <a:xfrm>
            <a:off x="116549" y="4162605"/>
            <a:ext cx="3882485" cy="249403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9" name="Diagram 18">
            <a:extLst>
              <a:ext uri="{FF2B5EF4-FFF2-40B4-BE49-F238E27FC236}">
                <a16:creationId xmlns:a16="http://schemas.microsoft.com/office/drawing/2014/main" id="{714AA0E7-21A8-47D4-B186-AFBD67F6E841}"/>
              </a:ext>
            </a:extLst>
          </p:cNvPr>
          <p:cNvGraphicFramePr/>
          <p:nvPr>
            <p:extLst>
              <p:ext uri="{D42A27DB-BD31-4B8C-83A1-F6EECF244321}">
                <p14:modId xmlns:p14="http://schemas.microsoft.com/office/powerpoint/2010/main" val="2621834288"/>
              </p:ext>
            </p:extLst>
          </p:nvPr>
        </p:nvGraphicFramePr>
        <p:xfrm>
          <a:off x="-144186" y="-24710"/>
          <a:ext cx="1158240" cy="76510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212626489"/>
      </p:ext>
    </p:extLst>
  </p:cSld>
  <p:clrMapOvr>
    <a:masterClrMapping/>
  </p:clrMapOvr>
</p:sld>
</file>

<file path=ppt/theme/theme1.xml><?xml version="1.0" encoding="utf-8"?>
<a:theme xmlns:a="http://schemas.openxmlformats.org/drawingml/2006/main" name="Template PresentationGO Dark">
  <a:themeElements>
    <a:clrScheme name="PGO2">
      <a:dk1>
        <a:sysClr val="windowText" lastClr="000000"/>
      </a:dk1>
      <a:lt1>
        <a:sysClr val="window" lastClr="FFFFFF"/>
      </a:lt1>
      <a:dk2>
        <a:srgbClr val="063951"/>
      </a:dk2>
      <a:lt2>
        <a:srgbClr val="D3D3D3"/>
      </a:lt2>
      <a:accent1>
        <a:srgbClr val="3A5C84"/>
      </a:accent1>
      <a:accent2>
        <a:srgbClr val="F7931F"/>
      </a:accent2>
      <a:accent3>
        <a:srgbClr val="4CC1EF"/>
      </a:accent3>
      <a:accent4>
        <a:srgbClr val="FFCC4C"/>
      </a:accent4>
      <a:accent5>
        <a:srgbClr val="C13018"/>
      </a:accent5>
      <a:accent6>
        <a:srgbClr val="A2B969"/>
      </a:accent6>
      <a:hlink>
        <a:srgbClr val="6C2B43"/>
      </a:hlink>
      <a:folHlink>
        <a:srgbClr val="6C2B43"/>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Template PresentationGO Dark">
  <a:themeElements>
    <a:clrScheme name="PGO2">
      <a:dk1>
        <a:sysClr val="windowText" lastClr="000000"/>
      </a:dk1>
      <a:lt1>
        <a:sysClr val="window" lastClr="FFFFFF"/>
      </a:lt1>
      <a:dk2>
        <a:srgbClr val="063951"/>
      </a:dk2>
      <a:lt2>
        <a:srgbClr val="D3D3D3"/>
      </a:lt2>
      <a:accent1>
        <a:srgbClr val="3A5C84"/>
      </a:accent1>
      <a:accent2>
        <a:srgbClr val="F7931F"/>
      </a:accent2>
      <a:accent3>
        <a:srgbClr val="4CC1EF"/>
      </a:accent3>
      <a:accent4>
        <a:srgbClr val="FFCC4C"/>
      </a:accent4>
      <a:accent5>
        <a:srgbClr val="C13018"/>
      </a:accent5>
      <a:accent6>
        <a:srgbClr val="A2B969"/>
      </a:accent6>
      <a:hlink>
        <a:srgbClr val="6C2B43"/>
      </a:hlink>
      <a:folHlink>
        <a:srgbClr val="6C2B43"/>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20764</TotalTime>
  <Words>4100</Words>
  <Application>Microsoft Office PowerPoint</Application>
  <PresentationFormat>On-screen Show (4:3)</PresentationFormat>
  <Paragraphs>646</Paragraphs>
  <Slides>29</Slides>
  <Notes>29</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29</vt:i4>
      </vt:variant>
    </vt:vector>
  </HeadingPairs>
  <TitlesOfParts>
    <vt:vector size="39" baseType="lpstr">
      <vt:lpstr>Arial</vt:lpstr>
      <vt:lpstr>Calibri</vt:lpstr>
      <vt:lpstr>Calibri Light</vt:lpstr>
      <vt:lpstr>Century Gothic</vt:lpstr>
      <vt:lpstr>Helvetica</vt:lpstr>
      <vt:lpstr>Open Sans</vt:lpstr>
      <vt:lpstr>Wingdings</vt:lpstr>
      <vt:lpstr>Template PresentationGO Dark</vt:lpstr>
      <vt:lpstr>4_Template PresentationGO Dark</vt:lpstr>
      <vt:lpstr>Office Theme</vt:lpstr>
      <vt:lpstr> Leadership   Development Architecture </vt:lpstr>
      <vt:lpstr>PowerPoint Presentation</vt:lpstr>
      <vt:lpstr>PowerPoint Presentation</vt:lpstr>
      <vt:lpstr>PowerPoint Presentation</vt:lpstr>
      <vt:lpstr>Our Leadership Model</vt:lpstr>
      <vt:lpstr>PowerPoint Presentation</vt:lpstr>
      <vt:lpstr>PowerPoint Presentation</vt:lpstr>
      <vt:lpstr>PowerPoint Presentation</vt:lpstr>
      <vt:lpstr>Leadership Development Architecture : Toolkit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Alfuttaim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Wael Bakhaty</dc:creator>
  <cp:lastModifiedBy>Fatma Alsagaf</cp:lastModifiedBy>
  <cp:revision>1025</cp:revision>
  <cp:lastPrinted>2022-03-02T08:15:47Z</cp:lastPrinted>
  <dcterms:created xsi:type="dcterms:W3CDTF">2014-08-28T04:43:04Z</dcterms:created>
  <dcterms:modified xsi:type="dcterms:W3CDTF">2023-03-27T08:34:48Z</dcterms:modified>
</cp:coreProperties>
</file>